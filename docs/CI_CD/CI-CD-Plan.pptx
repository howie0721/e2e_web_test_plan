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Alice" pitchFamily="2" charset="0"/>
      <p:regular r:id="rId18"/>
    </p:embeddedFont>
    <p:embeddedFont>
      <p:font typeface="Lora" pitchFamily="2" charset="0"/>
      <p:regular r:id="rId19"/>
      <p:bold r:id="rId20"/>
      <p:italic r:id="rId21"/>
      <p:boldItalic r:id="rId22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89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Dogcatstar E2E CI/CD 整合計畫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建立多層次自動化測試與品質關卡，確保程式碼品質與系統穩定性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45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CI/CD 核心目標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86940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60080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程式碼品質管控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81142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RD 提交前必須通過測試驗證，確保每一行程式碼都符合品質標準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186940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260080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持續回歸測試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81142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每日自動化回歸測試，全面覆蓋系統功能，確保穩定運行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990862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40472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壓力測試驗證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61535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MTBF 壓力測試機制，驗證系統長時間高負載穩定性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990862"/>
            <a:ext cx="6408063" cy="2214205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40472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版本追蹤機制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61535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程式碼變更自動偵測與通知，防止繞過測試流程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90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三階段驗證流程架構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CI-1: 快速驗證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31517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15-30 分鐘快速檢查，RD 提交前的第一道防線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CI-MTBF: 壓力測試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67606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50-100 輪穩定性測試，確保長時間運行無虞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CI-0: 全面回歸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03694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每日 10 輪完整測試，100% 覆蓋率保證品質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248" y="515422"/>
            <a:ext cx="4673679" cy="58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CI-0: 內部驗證機制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4248" y="1566863"/>
            <a:ext cx="23368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執行策略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4248" y="2045851"/>
            <a:ext cx="7810738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每日凌晨 02:00 自動觸發，執行 10 輪完整回歸測試，確保系統整體穩定性。涵蓋購物車、登入、API 認證等所有核心功能，通過率需達 95% 以上。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4248" y="2830949"/>
            <a:ext cx="23368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測試範圍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4248" y="3309938"/>
            <a:ext cx="781073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購物車功能 5 個測試案例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4248" y="3674388"/>
            <a:ext cx="781073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登入功能 9 個測試案例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4248" y="4038838"/>
            <a:ext cx="781073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 API 8 個測試案例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4248" y="4403288"/>
            <a:ext cx="781073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認證 API 4 個測試案例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28616" y="1683663"/>
            <a:ext cx="5055156" cy="61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100%</a:t>
            </a:r>
            <a:endParaRPr lang="en-US" sz="4850" dirty="0"/>
          </a:p>
        </p:txBody>
      </p:sp>
      <p:sp>
        <p:nvSpPr>
          <p:cNvPr id="11" name="Text 9"/>
          <p:cNvSpPr/>
          <p:nvPr/>
        </p:nvSpPr>
        <p:spPr>
          <a:xfrm>
            <a:off x="10287714" y="2534126"/>
            <a:ext cx="23368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測試覆蓋率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28616" y="3013115"/>
            <a:ext cx="5055156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所有核心功能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928616" y="3779520"/>
            <a:ext cx="5055156" cy="61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</a:t>
            </a:r>
            <a:endParaRPr lang="en-US" sz="4850" dirty="0"/>
          </a:p>
        </p:txBody>
      </p:sp>
      <p:sp>
        <p:nvSpPr>
          <p:cNvPr id="14" name="Text 12"/>
          <p:cNvSpPr/>
          <p:nvPr/>
        </p:nvSpPr>
        <p:spPr>
          <a:xfrm>
            <a:off x="10287714" y="4629983"/>
            <a:ext cx="23368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測試輪數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28616" y="5108972"/>
            <a:ext cx="5055156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連續執行驗證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928616" y="5875377"/>
            <a:ext cx="5055156" cy="61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95%</a:t>
            </a:r>
            <a:endParaRPr lang="en-US" sz="4850" dirty="0"/>
          </a:p>
        </p:txBody>
      </p:sp>
      <p:sp>
        <p:nvSpPr>
          <p:cNvPr id="17" name="Text 15"/>
          <p:cNvSpPr/>
          <p:nvPr/>
        </p:nvSpPr>
        <p:spPr>
          <a:xfrm>
            <a:off x="10287714" y="6725841"/>
            <a:ext cx="23368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通過門檻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28616" y="7204829"/>
            <a:ext cx="5055156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品質保證標準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CI-0 執行流程與監控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環境準備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拉取最新程式碼、安裝依賴套件、設定測試環境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程式碼檢查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執行 Lint 檢查，確保程式碼符合團隊規範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 輪測試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連續執行測試，記錄每輪通過率與失敗案例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結果分析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產生測試報告、趨勢分析、失敗案例統計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通知發送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Email 與 Slack 通知團隊，歸檔報告供查閱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CI-1: 提交前快速驗證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設計理念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RD 建立 Pull Request 時自動觸發，僅執行標記為 @smoke 或 @critical 的重要測項，15-30 分鐘內快速完成驗證。通過後獲得 72 小時提交資格，讓 RD 可以選擇最佳提交時機。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450788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核心優勢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21638" y="397906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快速回饋，及早發現問題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438114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阻擋有問題的程式碼合併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1638" y="478321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提供彈性的提交時間窗口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27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CI-1 測試範圍與策略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55300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CFBF8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32482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30151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318527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922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購物車核心功能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412694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測試案例 TC-CART-0001, 0002, 0005，驗證加入購物車、數量調整、結帳流程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355300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CFB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332482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30151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318527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922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登入核心功能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441269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測試案例 TC-LOGIN-0001, 0004，確保使用者認證機制正常運作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355300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CFB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332482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30151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318527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922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API 認證測試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441269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測試案例 TC-API-AUTH-001, 002，驗證 API Token 機制與權限控管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93790" y="60138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--workers=2 加速執行，預計 15-30 分鐘內完成所有重要測項驗證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6285"/>
            <a:ext cx="560355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CI-MTBF: 壓力測試機制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51578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長時間穩定性驗證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93790" y="2175510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Mean Time Between Failures 測試確保程式碼在高負載、長時間運行下不會出現問題。必須通過 CI-1 後才能進入 MTBF 階段，執行 50-100 輪連續測試，監控記憶體使用、資源消耗與系統穩定性。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552575" y="4508063"/>
            <a:ext cx="2650331" cy="538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98%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05" y="3161348"/>
            <a:ext cx="3232190" cy="3232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1025" y="666273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通過率要求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93790" y="7128510"/>
            <a:ext cx="41680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嚴格品質標準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989915" y="4508063"/>
            <a:ext cx="2650331" cy="538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50-100</a:t>
            </a:r>
            <a:endParaRPr lang="en-US" sz="4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046" y="3161348"/>
            <a:ext cx="3232190" cy="3232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68365" y="666273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測試輪數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231130" y="7128510"/>
            <a:ext cx="41680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連續執行驗證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0427256" y="4508063"/>
            <a:ext cx="2650331" cy="538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72</a:t>
            </a:r>
            <a:endParaRPr lang="en-US" sz="4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386" y="3161348"/>
            <a:ext cx="3232190" cy="32321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05705" y="666273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有效時數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9668470" y="7128510"/>
            <a:ext cx="41681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Merge Ticket 效期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68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MTBF 監控與驗證項目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629263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38205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記憶體洩漏偵測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4311015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監控每輪測試前後的記憶體使用量，單輪增長超過 100MB 視為異常，累計超過 10 次將阻擋提交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629263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823" y="38205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資源使用率監控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199823" y="4311015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追蹤 CPU、記憶體、磁碟 I/O 使用情況，確保系統在高負載下依然穩定運行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629263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41925" y="38205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資料庫連線壓力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641925" y="4311015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模擬高併發情境，測試資料庫連線池管理與查詢效能，避免連線洩漏問題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17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版控變更偵測機制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87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防護機制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68692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確保 RD 提交的程式碼與通過測試時的版本完全一致。透過 Git Pre-Merge Hook 與 Jenkins Pipeline 雙重檢查，比對 Commit Hash 與 Merge Ticket 記錄，偵測到變更立即阻擋提交並通知相關人員。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842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檢查項目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765358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Merge Ticket 有效性驗證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07556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Commit Hash 一致性比對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49754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72 小時有效期限確認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091952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變更通知自動發送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279249" y="2315885"/>
            <a:ext cx="5564862" cy="1397675"/>
          </a:xfrm>
          <a:prstGeom prst="roundRect">
            <a:avLst>
              <a:gd name="adj" fmla="val 2434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8506063" y="2542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即時偵測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6063" y="3123843"/>
            <a:ext cx="51112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Hook 即時攔截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279249" y="3940373"/>
            <a:ext cx="5564862" cy="1397675"/>
          </a:xfrm>
          <a:prstGeom prst="roundRect">
            <a:avLst>
              <a:gd name="adj" fmla="val 2434"/>
            </a:avLst>
          </a:prstGeom>
          <a:solidFill>
            <a:srgbClr val="F0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8506063" y="4167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雙重驗證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6063" y="4748332"/>
            <a:ext cx="51112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Jenkins 再次確認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279249" y="5564862"/>
            <a:ext cx="5564862" cy="1397675"/>
          </a:xfrm>
          <a:prstGeom prst="roundRect">
            <a:avLst>
              <a:gd name="adj" fmla="val 2434"/>
            </a:avLst>
          </a:prstGeom>
          <a:solidFill>
            <a:srgbClr val="F0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8506063" y="5791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通知機制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6063" y="6372820"/>
            <a:ext cx="51112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RD 與主管同步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120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完整測試報告機制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1239"/>
            <a:ext cx="28821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Playwright HTML 報告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69165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測試執行結果、失敗截圖、錯誤訊息與執行時間統計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35893" y="42012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每日趨勢報告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35893" y="469165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通過率趨勢圖、失敗案例統計、執行時間分析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77995" y="42012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失敗分析報告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77995" y="469165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高頻失敗案例、錯誤分類、修復建議與優先級排序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39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通知機制與團隊協作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386977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4" name="Shape 2"/>
          <p:cNvSpPr/>
          <p:nvPr/>
        </p:nvSpPr>
        <p:spPr>
          <a:xfrm>
            <a:off x="3301960" y="3706535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5" name="Shape 3"/>
          <p:cNvSpPr/>
          <p:nvPr/>
        </p:nvSpPr>
        <p:spPr>
          <a:xfrm>
            <a:off x="3062049" y="41318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3147120" y="41743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899642" y="2626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測試執行中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3116818"/>
            <a:ext cx="45933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Jenkins 即時顯示測試進度與狀態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967293" y="4386977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0" name="Shape 8"/>
          <p:cNvSpPr/>
          <p:nvPr/>
        </p:nvSpPr>
        <p:spPr>
          <a:xfrm>
            <a:off x="5727382" y="41318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5812453" y="41743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4564856" y="5294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測試完成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85818" y="5784652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產生報告並歸檔至 Jenkins Artifacts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632508" y="3706535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2597" y="41318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667" y="41743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230070" y="2626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Email 通知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1032" y="3116818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發送詳細報告給 QA 與 RD 團隊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1297841" y="4386977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57930" y="41318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21" name="Text 19"/>
          <p:cNvSpPr/>
          <p:nvPr/>
        </p:nvSpPr>
        <p:spPr>
          <a:xfrm>
            <a:off x="11143000" y="41743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9895403" y="5294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Slack 通知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16365" y="5784652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推送測試結果摘要與報告連結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4027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所有通知包含 Build Number、通過率、失敗案例數量、報告連結，確保團隊即時掌握系統狀態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額外品質保證機制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效能監控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整合 Lighthouse CI 評估網頁效能，監控 API 回應時間與資源使用率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安全性掃描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npm audit 檢查依賴漏洞、OWASP ZAP 網站安全掃描、Snyk 程式碼分析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測試資料管理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55712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為不同 CI 階段準備獨立資料集，每次測試前自動重置確保一致性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並行測試優化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557123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Playwright Sharding 分散測試負載，智慧分配案例加速執行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1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預期效益與價值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1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品質提升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037761"/>
            <a:ext cx="3231118" cy="283488"/>
          </a:xfrm>
          <a:prstGeom prst="roundRect">
            <a:avLst>
              <a:gd name="adj" fmla="val 12002"/>
            </a:avLst>
          </a:prstGeom>
          <a:solidFill>
            <a:srgbClr val="F0EDE6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037761"/>
            <a:ext cx="969288" cy="283488"/>
          </a:xfrm>
          <a:prstGeom prst="roundRect">
            <a:avLst>
              <a:gd name="adj" fmla="val 12002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4194929" y="3037761"/>
            <a:ext cx="53220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604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程式碼品質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4525923"/>
            <a:ext cx="3231713" cy="283488"/>
          </a:xfrm>
          <a:prstGeom prst="roundRect">
            <a:avLst>
              <a:gd name="adj" fmla="val 12002"/>
            </a:avLst>
          </a:prstGeom>
          <a:solidFill>
            <a:srgbClr val="F0EDE6"/>
          </a:solidFill>
          <a:ln/>
        </p:spPr>
      </p:sp>
      <p:sp>
        <p:nvSpPr>
          <p:cNvPr id="9" name="Shape 7"/>
          <p:cNvSpPr/>
          <p:nvPr/>
        </p:nvSpPr>
        <p:spPr>
          <a:xfrm>
            <a:off x="793790" y="4525923"/>
            <a:ext cx="1615797" cy="283488"/>
          </a:xfrm>
          <a:prstGeom prst="roundRect">
            <a:avLst>
              <a:gd name="adj" fmla="val 12002"/>
            </a:avLst>
          </a:prstGeom>
          <a:solidFill>
            <a:srgbClr val="1B5F39"/>
          </a:solidFill>
          <a:ln/>
        </p:spPr>
      </p:sp>
      <p:sp>
        <p:nvSpPr>
          <p:cNvPr id="10" name="Text 8"/>
          <p:cNvSpPr/>
          <p:nvPr/>
        </p:nvSpPr>
        <p:spPr>
          <a:xfrm>
            <a:off x="4195524" y="4525923"/>
            <a:ext cx="5316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5092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線上問題減少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3790" y="6014085"/>
            <a:ext cx="3082052" cy="283488"/>
          </a:xfrm>
          <a:prstGeom prst="roundRect">
            <a:avLst>
              <a:gd name="adj" fmla="val 12002"/>
            </a:avLst>
          </a:prstGeom>
          <a:solidFill>
            <a:srgbClr val="F0EDE6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6014085"/>
            <a:ext cx="3082052" cy="283488"/>
          </a:xfrm>
          <a:prstGeom prst="roundRect">
            <a:avLst>
              <a:gd name="adj" fmla="val 12002"/>
            </a:avLst>
          </a:prstGeom>
          <a:solidFill>
            <a:srgbClr val="1B5F39"/>
          </a:solidFill>
          <a:ln/>
        </p:spPr>
      </p:sp>
      <p:sp>
        <p:nvSpPr>
          <p:cNvPr id="14" name="Text 12"/>
          <p:cNvSpPr/>
          <p:nvPr/>
        </p:nvSpPr>
        <p:spPr>
          <a:xfrm>
            <a:off x="4045863" y="6014085"/>
            <a:ext cx="68127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65809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測試覆蓋率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88161" y="231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效率提升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288161" y="3037761"/>
            <a:ext cx="3224808" cy="283488"/>
          </a:xfrm>
          <a:prstGeom prst="roundRect">
            <a:avLst>
              <a:gd name="adj" fmla="val 12002"/>
            </a:avLst>
          </a:prstGeom>
          <a:solidFill>
            <a:srgbClr val="F0EDE6"/>
          </a:solidFill>
          <a:ln/>
        </p:spPr>
      </p:sp>
      <p:sp>
        <p:nvSpPr>
          <p:cNvPr id="18" name="Shape 16"/>
          <p:cNvSpPr/>
          <p:nvPr/>
        </p:nvSpPr>
        <p:spPr>
          <a:xfrm>
            <a:off x="5288161" y="3037761"/>
            <a:ext cx="1934885" cy="283488"/>
          </a:xfrm>
          <a:prstGeom prst="roundRect">
            <a:avLst>
              <a:gd name="adj" fmla="val 12002"/>
            </a:avLst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8682990" y="3037761"/>
            <a:ext cx="53852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88161" y="3604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測試時間縮短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288161" y="4525923"/>
            <a:ext cx="3341846" cy="283488"/>
          </a:xfrm>
          <a:prstGeom prst="roundRect">
            <a:avLst>
              <a:gd name="adj" fmla="val 12002"/>
            </a:avLst>
          </a:prstGeom>
          <a:solidFill>
            <a:srgbClr val="F0EDE6"/>
          </a:solidFill>
          <a:ln/>
        </p:spPr>
      </p:sp>
      <p:sp>
        <p:nvSpPr>
          <p:cNvPr id="22" name="Shape 20"/>
          <p:cNvSpPr/>
          <p:nvPr/>
        </p:nvSpPr>
        <p:spPr>
          <a:xfrm>
            <a:off x="5288161" y="4525923"/>
            <a:ext cx="100251" cy="283488"/>
          </a:xfrm>
          <a:prstGeom prst="roundRect">
            <a:avLst>
              <a:gd name="adj" fmla="val 33939"/>
            </a:avLst>
          </a:prstGeom>
          <a:solidFill>
            <a:srgbClr val="1B5F39"/>
          </a:solidFill>
          <a:ln/>
        </p:spPr>
      </p:sp>
      <p:sp>
        <p:nvSpPr>
          <p:cNvPr id="23" name="Text 21"/>
          <p:cNvSpPr/>
          <p:nvPr/>
        </p:nvSpPr>
        <p:spPr>
          <a:xfrm>
            <a:off x="8800028" y="4525923"/>
            <a:ext cx="42148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88161" y="5092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部署頻率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782532" y="231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團隊協作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82532" y="2896076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責任歸屬明確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782532" y="3338274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溝通成本降低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782532" y="3780473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知識完整傳承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6169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實施檢查清單與後續行動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98577"/>
            <a:ext cx="13042821" cy="2976801"/>
          </a:xfrm>
          <a:prstGeom prst="roundRect">
            <a:avLst>
              <a:gd name="adj" fmla="val 1143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898577"/>
            <a:ext cx="4347567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環境準備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615809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Jenkins Server、Git 整合、Node.js 環境、測試資料庫、通知設定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1357" y="2898577"/>
            <a:ext cx="4347567" cy="166985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8" name="Shape 6"/>
          <p:cNvSpPr/>
          <p:nvPr/>
        </p:nvSpPr>
        <p:spPr>
          <a:xfrm>
            <a:off x="5141357" y="2898577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9" name="Text 7"/>
          <p:cNvSpPr/>
          <p:nvPr/>
        </p:nvSpPr>
        <p:spPr>
          <a:xfrm>
            <a:off x="5368171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CI-0 設定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3615809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定時任務、10 輪測試腳本、報告機制、通知流程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488924" y="2898577"/>
            <a:ext cx="4347567" cy="166985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2" name="Shape 10"/>
          <p:cNvSpPr/>
          <p:nvPr/>
        </p:nvSpPr>
        <p:spPr>
          <a:xfrm>
            <a:off x="9488924" y="2898577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738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CI-1 設定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715738" y="3615809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 Trigger、Smoke Test、Hash 記錄、有效期限追蹤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568428"/>
            <a:ext cx="6521291" cy="1306949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4568428"/>
            <a:ext cx="6521291" cy="30480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7" name="Text 15"/>
          <p:cNvSpPr/>
          <p:nvPr/>
        </p:nvSpPr>
        <p:spPr>
          <a:xfrm>
            <a:off x="1020604" y="479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CI-MTBF 設定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0604" y="5285661"/>
            <a:ext cx="60676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壓力測試腳本、記憶體監控、Merge Ticket 機制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315081" y="4568428"/>
            <a:ext cx="6521410" cy="1306949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081" y="4568428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081" y="4568428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22" name="Text 20"/>
          <p:cNvSpPr/>
          <p:nvPr/>
        </p:nvSpPr>
        <p:spPr>
          <a:xfrm>
            <a:off x="7541895" y="479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版控偵測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1895" y="528566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Hook、Hash 比對、通知機制、異常記錄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1305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專案負責人: Howie | 文件版本: 1.0 | 最後更新: 2025-10-29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Microsoft Office PowerPoint</Application>
  <PresentationFormat>自訂</PresentationFormat>
  <Paragraphs>176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Lora</vt:lpstr>
      <vt:lpstr>Alice Light</vt:lpstr>
      <vt:lpstr>Arial</vt:lpstr>
      <vt:lpstr>Alice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浩瑜 郝</cp:lastModifiedBy>
  <cp:revision>2</cp:revision>
  <dcterms:created xsi:type="dcterms:W3CDTF">2025-10-29T01:32:03Z</dcterms:created>
  <dcterms:modified xsi:type="dcterms:W3CDTF">2025-10-29T03:10:44Z</dcterms:modified>
</cp:coreProperties>
</file>