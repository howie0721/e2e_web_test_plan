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4630400" cy="8229600"/>
  <p:notesSz cx="8229600" cy="14630400"/>
  <p:embeddedFontLst>
    <p:embeddedFont>
      <p:font typeface="Alice"/>
      <p:regular r:id="rId27"/>
    </p:embeddedFont>
    <p:embeddedFont>
      <p:font typeface="Alice"/>
      <p:regular r:id="rId28"/>
    </p:embeddedFont>
    <p:embeddedFont>
      <p:font typeface="Lora"/>
      <p:regular r:id="rId29"/>
    </p:embeddedFont>
    <p:embeddedFont>
      <p:font typeface="Lora"/>
      <p:regular r:id="rId30"/>
    </p:embeddedFont>
    <p:embeddedFont>
      <p:font typeface="Lora"/>
      <p:regular r:id="rId31"/>
    </p:embeddedFont>
    <p:embeddedFont>
      <p:font typeface="Lora"/>
      <p:regular r:id="rId3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ogcatstar.com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slideLayout" Target="../slideLayouts/slideLayout16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87297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Dogcatstar 電商平台端對端測試文件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630698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完整的購物車與會員登入功能 E2E 測試規格，涵蓋自動化測試與手動測試案例，確保平台功能穩定可靠。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3474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測試概覽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897148"/>
            <a:ext cx="4196358" cy="3597593"/>
          </a:xfrm>
          <a:prstGeom prst="roundRect">
            <a:avLst>
              <a:gd name="adj" fmla="val 946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1020604" y="312396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770" y="3311009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403121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購物車測試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4521637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 個自動化測試案例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1020604" y="5020628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商品加入與管理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1020604" y="5462826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多商品處理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020604" y="5905024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持久化驗證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216962" y="2897148"/>
            <a:ext cx="4196358" cy="3597593"/>
          </a:xfrm>
          <a:prstGeom prst="roundRect">
            <a:avLst>
              <a:gd name="adj" fmla="val 946"/>
            </a:avLst>
          </a:prstGeom>
          <a:solidFill>
            <a:srgbClr val="F0EDE6"/>
          </a:solidFill>
          <a:ln/>
        </p:spPr>
      </p:sp>
      <p:sp>
        <p:nvSpPr>
          <p:cNvPr id="12" name="Shape 9"/>
          <p:cNvSpPr/>
          <p:nvPr/>
        </p:nvSpPr>
        <p:spPr>
          <a:xfrm>
            <a:off x="5443776" y="312396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942" y="3311009"/>
            <a:ext cx="306110" cy="3061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3776" y="403121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登入功能測試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5443776" y="4521637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4 個自動化 + 5 個手動測試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5443776" y="5020628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OTP 驗證</a:t>
            </a:r>
            <a:endParaRPr lang="en-US" sz="1750" dirty="0"/>
          </a:p>
        </p:txBody>
      </p:sp>
      <p:sp>
        <p:nvSpPr>
          <p:cNvPr id="17" name="Text 13"/>
          <p:cNvSpPr/>
          <p:nvPr/>
        </p:nvSpPr>
        <p:spPr>
          <a:xfrm>
            <a:off x="5443776" y="5462826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社群登入</a:t>
            </a:r>
            <a:endParaRPr lang="en-US" sz="1750" dirty="0"/>
          </a:p>
        </p:txBody>
      </p:sp>
      <p:sp>
        <p:nvSpPr>
          <p:cNvPr id="18" name="Text 14"/>
          <p:cNvSpPr/>
          <p:nvPr/>
        </p:nvSpPr>
        <p:spPr>
          <a:xfrm>
            <a:off x="5443776" y="5905024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Session 管理</a:t>
            </a:r>
            <a:endParaRPr lang="en-US" sz="1750" dirty="0"/>
          </a:p>
        </p:txBody>
      </p:sp>
      <p:sp>
        <p:nvSpPr>
          <p:cNvPr id="19" name="Shape 15"/>
          <p:cNvSpPr/>
          <p:nvPr/>
        </p:nvSpPr>
        <p:spPr>
          <a:xfrm>
            <a:off x="9640133" y="2897148"/>
            <a:ext cx="4196358" cy="3597593"/>
          </a:xfrm>
          <a:prstGeom prst="roundRect">
            <a:avLst>
              <a:gd name="adj" fmla="val 946"/>
            </a:avLst>
          </a:prstGeom>
          <a:solidFill>
            <a:srgbClr val="F0EDE6"/>
          </a:solidFill>
          <a:ln/>
        </p:spPr>
      </p:sp>
      <p:sp>
        <p:nvSpPr>
          <p:cNvPr id="20" name="Shape 16"/>
          <p:cNvSpPr/>
          <p:nvPr/>
        </p:nvSpPr>
        <p:spPr>
          <a:xfrm>
            <a:off x="9866948" y="312396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4114" y="3311009"/>
            <a:ext cx="306110" cy="30611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866948" y="403121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測試框架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9866948" y="4521637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Playwright + TypeScript</a:t>
            </a:r>
            <a:endParaRPr lang="en-US" sz="1750" dirty="0"/>
          </a:p>
        </p:txBody>
      </p:sp>
      <p:sp>
        <p:nvSpPr>
          <p:cNvPr id="24" name="Text 19"/>
          <p:cNvSpPr/>
          <p:nvPr/>
        </p:nvSpPr>
        <p:spPr>
          <a:xfrm>
            <a:off x="9866948" y="5020628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Chromium 瀏覽器</a:t>
            </a:r>
            <a:endParaRPr lang="en-US" sz="1750" dirty="0"/>
          </a:p>
        </p:txBody>
      </p:sp>
      <p:sp>
        <p:nvSpPr>
          <p:cNvPr id="25" name="Text 20"/>
          <p:cNvSpPr/>
          <p:nvPr/>
        </p:nvSpPr>
        <p:spPr>
          <a:xfrm>
            <a:off x="9866948" y="5462826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POM 架構設計</a:t>
            </a:r>
            <a:endParaRPr lang="en-US" sz="1750" dirty="0"/>
          </a:p>
        </p:txBody>
      </p:sp>
      <p:sp>
        <p:nvSpPr>
          <p:cNvPr id="26" name="Text 21"/>
          <p:cNvSpPr/>
          <p:nvPr/>
        </p:nvSpPr>
        <p:spPr>
          <a:xfrm>
            <a:off x="9866948" y="5905024"/>
            <a:ext cx="37427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CI/CD 整合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26647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測試環境配置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54222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技術堆疊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419433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測試框架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：Playwright (TypeScript)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3653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瀏覽器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：Chromium (預設)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07873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認證方式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：StorageState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52092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報告工具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：HTML Reporter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599521" y="354222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目標網站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7599521" y="419433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測試環境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</a:t>
            </a:r>
            <a:pPr algn="l" indent="0" marL="0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1B5F39"/>
                </a:solidFill>
                <a:latin typeface="Lora" pitchFamily="34" charset="0"/>
                <a:ea typeface="Lora" pitchFamily="34" charset="-122"/>
                <a:cs typeface="Lor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https://www.dogcatstar.com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599521" y="476130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認證檔案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：authStorageState.json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532828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測試資料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：test-accounts.json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45531"/>
            <a:ext cx="7556421" cy="2835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50"/>
              </a:lnSpc>
              <a:buNone/>
            </a:pPr>
            <a:r>
              <a:rPr lang="en-US" sz="8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 E2E 測試案例</a:t>
            </a:r>
            <a:endParaRPr lang="en-US" sz="8900" dirty="0"/>
          </a:p>
        </p:txBody>
      </p:sp>
      <p:sp>
        <p:nvSpPr>
          <p:cNvPr id="4" name="Text 1"/>
          <p:cNvSpPr/>
          <p:nvPr/>
        </p:nvSpPr>
        <p:spPr>
          <a:xfrm>
            <a:off x="793790" y="552104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全面驗證購物車功能，從商品加入到狀態持久化，確保購物流程順暢無誤。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7495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購物車測試案例總覽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737366"/>
            <a:ext cx="13042821" cy="3917156"/>
          </a:xfrm>
          <a:prstGeom prst="roundRect">
            <a:avLst>
              <a:gd name="adj" fmla="val 86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2744986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28462" y="2888694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測試編號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3637717" y="2888694"/>
            <a:ext cx="540115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測試名稱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9500116" y="2888694"/>
            <a:ext cx="214419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類型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2105561" y="2888694"/>
            <a:ext cx="14966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優先級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801410" y="3395305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28462" y="3539014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TC-CART-0001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3637717" y="3539014"/>
            <a:ext cx="540115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從商品頁加入購物車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9500116" y="3539014"/>
            <a:ext cx="214419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2105561" y="3539014"/>
            <a:ext cx="14966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1B5F3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P0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801410" y="4045625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28462" y="4189333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TC-CART-0002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3637717" y="4189333"/>
            <a:ext cx="540115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重複加入同一商品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9500116" y="4189333"/>
            <a:ext cx="214419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2105561" y="4189333"/>
            <a:ext cx="14966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1B5F3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P0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801410" y="4695944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028462" y="4839653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TC-CART-0003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3637717" y="4839653"/>
            <a:ext cx="540115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加入多個不同商品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9500116" y="4839653"/>
            <a:ext cx="214419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12105561" y="4839653"/>
            <a:ext cx="14966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P1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801410" y="5346263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028462" y="5489972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TC-CART-0004</a:t>
            </a:r>
            <a:endParaRPr lang="en-US" sz="1750" dirty="0"/>
          </a:p>
        </p:txBody>
      </p:sp>
      <p:sp>
        <p:nvSpPr>
          <p:cNvPr id="26" name="Text 24"/>
          <p:cNvSpPr/>
          <p:nvPr/>
        </p:nvSpPr>
        <p:spPr>
          <a:xfrm>
            <a:off x="3637717" y="5489972"/>
            <a:ext cx="540115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登入後購物車狀態保留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9500116" y="5489972"/>
            <a:ext cx="214419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12105561" y="5489972"/>
            <a:ext cx="14966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P1</a:t>
            </a:r>
            <a:endParaRPr lang="en-US" sz="1750" dirty="0"/>
          </a:p>
        </p:txBody>
      </p:sp>
      <p:sp>
        <p:nvSpPr>
          <p:cNvPr id="29" name="Shape 27"/>
          <p:cNvSpPr/>
          <p:nvPr/>
        </p:nvSpPr>
        <p:spPr>
          <a:xfrm>
            <a:off x="801410" y="5996583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028462" y="6140291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TC-CART-0005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3637717" y="6140291"/>
            <a:ext cx="540115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未登入加入購物車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9500116" y="6140291"/>
            <a:ext cx="214419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12105561" y="6140291"/>
            <a:ext cx="14966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P0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04486"/>
            <a:ext cx="93681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TC-CART-0001：從商品頁加入購物車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80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測試目標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461385"/>
            <a:ext cx="48850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驗證會員從商品頁選擇規格並成功加入購物車的完整流程。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41400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前置條件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4995148"/>
            <a:ext cx="4885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使用者已登入（storageState）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437346"/>
            <a:ext cx="4885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購物車為空狀態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5879544"/>
            <a:ext cx="4885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首頁至少有一個商品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239828" y="2880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驗證點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239828" y="3461385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1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 icon 正確顯示商品數量為 1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239828" y="3903583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2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點擊購物車後商品列表出現該商品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239828" y="4345781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3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商品名稱、規格、價格顯示正確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239828" y="4787979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4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彈窗正確關閉不影響後續操作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6239828" y="5406033"/>
            <a:ext cx="7604284" cy="963811"/>
          </a:xfrm>
          <a:prstGeom prst="roundRect">
            <a:avLst>
              <a:gd name="adj" fmla="val 3530"/>
            </a:avLst>
          </a:prstGeom>
          <a:solidFill>
            <a:srgbClr val="C3EED6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6642" y="5750123"/>
            <a:ext cx="283488" cy="22681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976943" y="5689521"/>
            <a:ext cx="664035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：購物車商品數量為 1，測試狀態 PASS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6044"/>
            <a:ext cx="653331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TC-CART-0001：測試步驟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4845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203496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清空購物車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868222"/>
            <a:ext cx="419635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 clearCart() 確保測試環境乾淨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216962" y="284845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5216962" y="3203496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9" name="Text 7"/>
          <p:cNvSpPr/>
          <p:nvPr/>
        </p:nvSpPr>
        <p:spPr>
          <a:xfrm>
            <a:off x="5216962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進入首頁並選擇商品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962" y="3868222"/>
            <a:ext cx="419635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導航至首頁，點擊第一個商品項目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40133" y="284845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3203496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3" name="Text 11"/>
          <p:cNvSpPr/>
          <p:nvPr/>
        </p:nvSpPr>
        <p:spPr>
          <a:xfrm>
            <a:off x="9640133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選擇規格並加入購物車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0133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 selectSpecsAndAddToCart() 完成加入動作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499086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93790" y="5345906"/>
            <a:ext cx="6407944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7" name="Text 15"/>
          <p:cNvSpPr/>
          <p:nvPr/>
        </p:nvSpPr>
        <p:spPr>
          <a:xfrm>
            <a:off x="793790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關閉彈窗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93790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closePopup() 避免擋住購物車按鈕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428548" y="499086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05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7428548" y="5345906"/>
            <a:ext cx="6407944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21" name="Text 19"/>
          <p:cNvSpPr/>
          <p:nvPr/>
        </p:nvSpPr>
        <p:spPr>
          <a:xfrm>
            <a:off x="7428548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驗證購物車數量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28548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 verifyItemCount(1) 確認商品已成功加入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69355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346966"/>
            <a:ext cx="8732520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4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TC-CART-0002 &amp; 0003：多商品測試</a:t>
            </a:r>
            <a:endParaRPr lang="en-US" sz="4200" dirty="0"/>
          </a:p>
        </p:txBody>
      </p:sp>
      <p:sp>
        <p:nvSpPr>
          <p:cNvPr id="4" name="Shape 1"/>
          <p:cNvSpPr/>
          <p:nvPr/>
        </p:nvSpPr>
        <p:spPr>
          <a:xfrm>
            <a:off x="793790" y="4666655"/>
            <a:ext cx="6413659" cy="2909411"/>
          </a:xfrm>
          <a:prstGeom prst="roundRect">
            <a:avLst>
              <a:gd name="adj" fmla="val 5029"/>
            </a:avLst>
          </a:prstGeom>
          <a:solidFill>
            <a:srgbClr val="FCFBF8"/>
          </a:solidFill>
          <a:ln/>
        </p:spPr>
      </p:sp>
      <p:sp>
        <p:nvSpPr>
          <p:cNvPr id="5" name="Shape 2"/>
          <p:cNvSpPr/>
          <p:nvPr/>
        </p:nvSpPr>
        <p:spPr>
          <a:xfrm>
            <a:off x="793790" y="4636175"/>
            <a:ext cx="6413659" cy="121920"/>
          </a:xfrm>
          <a:prstGeom prst="roundRect">
            <a:avLst>
              <a:gd name="adj" fmla="val 26512"/>
            </a:avLst>
          </a:prstGeom>
          <a:solidFill>
            <a:srgbClr val="1B5F39"/>
          </a:solidFill>
          <a:ln/>
        </p:spPr>
      </p:sp>
      <p:sp>
        <p:nvSpPr>
          <p:cNvPr id="6" name="Shape 3"/>
          <p:cNvSpPr/>
          <p:nvPr/>
        </p:nvSpPr>
        <p:spPr>
          <a:xfrm>
            <a:off x="3677424" y="4343519"/>
            <a:ext cx="646390" cy="646390"/>
          </a:xfrm>
          <a:prstGeom prst="roundRect">
            <a:avLst>
              <a:gd name="adj" fmla="val 141463"/>
            </a:avLst>
          </a:prstGeom>
          <a:solidFill>
            <a:srgbClr val="1B5F39"/>
          </a:solidFill>
          <a:ln/>
        </p:spPr>
      </p:sp>
      <p:sp>
        <p:nvSpPr>
          <p:cNvPr id="7" name="Text 4"/>
          <p:cNvSpPr/>
          <p:nvPr/>
        </p:nvSpPr>
        <p:spPr>
          <a:xfrm>
            <a:off x="3871377" y="4505087"/>
            <a:ext cx="258485" cy="3231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5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39654" y="5205293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重複加入同一商品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39654" y="5671066"/>
            <a:ext cx="592193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測試目標</a:t>
            </a:r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：驗證重複加入時數量正確累加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1039654" y="6145054"/>
            <a:ext cx="592193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 icon 顯示總數量為 2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039654" y="6565225"/>
            <a:ext cx="592193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商品項目的 input value 為 2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039654" y="6985397"/>
            <a:ext cx="592193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不會出現重複的商品項目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7422833" y="4666655"/>
            <a:ext cx="6413778" cy="2909411"/>
          </a:xfrm>
          <a:prstGeom prst="roundRect">
            <a:avLst>
              <a:gd name="adj" fmla="val 5029"/>
            </a:avLst>
          </a:prstGeom>
          <a:solidFill>
            <a:srgbClr val="FCFBF8"/>
          </a:solidFill>
          <a:ln/>
        </p:spPr>
      </p:sp>
      <p:sp>
        <p:nvSpPr>
          <p:cNvPr id="14" name="Shape 11"/>
          <p:cNvSpPr/>
          <p:nvPr/>
        </p:nvSpPr>
        <p:spPr>
          <a:xfrm>
            <a:off x="7422833" y="4636175"/>
            <a:ext cx="6413778" cy="121920"/>
          </a:xfrm>
          <a:prstGeom prst="roundRect">
            <a:avLst>
              <a:gd name="adj" fmla="val 26512"/>
            </a:avLst>
          </a:prstGeom>
          <a:solidFill>
            <a:srgbClr val="1B5F39"/>
          </a:solidFill>
          <a:ln/>
        </p:spPr>
      </p:sp>
      <p:sp>
        <p:nvSpPr>
          <p:cNvPr id="15" name="Shape 12"/>
          <p:cNvSpPr/>
          <p:nvPr/>
        </p:nvSpPr>
        <p:spPr>
          <a:xfrm>
            <a:off x="10306467" y="4343519"/>
            <a:ext cx="646390" cy="646390"/>
          </a:xfrm>
          <a:prstGeom prst="roundRect">
            <a:avLst>
              <a:gd name="adj" fmla="val 141463"/>
            </a:avLst>
          </a:prstGeom>
          <a:solidFill>
            <a:srgbClr val="1B5F39"/>
          </a:solidFill>
          <a:ln/>
        </p:spPr>
      </p:sp>
      <p:sp>
        <p:nvSpPr>
          <p:cNvPr id="16" name="Text 13"/>
          <p:cNvSpPr/>
          <p:nvPr/>
        </p:nvSpPr>
        <p:spPr>
          <a:xfrm>
            <a:off x="10500420" y="4505087"/>
            <a:ext cx="258485" cy="3231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5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668697" y="5205293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加入多個不同商品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668697" y="5671066"/>
            <a:ext cx="592205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測試目標</a:t>
            </a:r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：驗證不同商品正確顯示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68697" y="6145054"/>
            <a:ext cx="592205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購物車顯示 3 個不同商品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7668697" y="6565225"/>
            <a:ext cx="592205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每個商品資訊顯示正確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7668697" y="6985397"/>
            <a:ext cx="592205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總數量計算準確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82986"/>
            <a:ext cx="1089445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TC-CART-0004 &amp; 0005：持久化與訪客模式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25874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登入後購物車狀態保留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391084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測試購物車持久化機制，確保重新整理後資料不遺失。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47782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加入商品後重新整理頁面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92002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驗證購物車數量保持不變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36221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商品資料完整保留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580441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StorageState 正確運作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99521" y="325874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未登入加入購物車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7599521" y="391084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驗證訪客模式下的購物車功能正常運作。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447782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不使用 storageState 進行測試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99521" y="492002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購物車功能正常可用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536221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不強制跳出登入彈窗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580441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資料儲存在 localStorage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45531"/>
            <a:ext cx="7556421" cy="2835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50"/>
              </a:lnSpc>
              <a:buNone/>
            </a:pPr>
            <a:r>
              <a:rPr lang="en-US" sz="8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會員登入 E2E 測試案例</a:t>
            </a:r>
            <a:endParaRPr lang="en-US" sz="8900" dirty="0"/>
          </a:p>
        </p:txBody>
      </p:sp>
      <p:sp>
        <p:nvSpPr>
          <p:cNvPr id="4" name="Text 1"/>
          <p:cNvSpPr/>
          <p:nvPr/>
        </p:nvSpPr>
        <p:spPr>
          <a:xfrm>
            <a:off x="793790" y="552104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涵蓋自動化與手動測試，全面驗證多種登入方式的正確性與安全性。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957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登入測試案例分類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158133"/>
            <a:ext cx="13042821" cy="3075742"/>
          </a:xfrm>
          <a:prstGeom prst="roundRect">
            <a:avLst>
              <a:gd name="adj" fmla="val 1106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3158133"/>
            <a:ext cx="6521410" cy="3075742"/>
          </a:xfrm>
          <a:prstGeom prst="roundRect">
            <a:avLst>
              <a:gd name="adj" fmla="val 1106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1020604" y="33849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自動化測試（4 個）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3875365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TC-LOGIN-0001：OTP 錯誤處理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020604" y="4317563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TC-LOGIN-0002：欄位驗證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020604" y="4759762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TC-LOGIN-0003：Email 驗證失敗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020604" y="5201960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TC-LOGIN-0004：Session 持久化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7315200" y="3158133"/>
            <a:ext cx="6521410" cy="307574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0" y="3158133"/>
            <a:ext cx="30480" cy="30757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2" name="Text 10"/>
          <p:cNvSpPr/>
          <p:nvPr/>
        </p:nvSpPr>
        <p:spPr>
          <a:xfrm>
            <a:off x="7542014" y="33849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手動測試（5 個）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542014" y="3875365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手機號碼登入成功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42014" y="4317563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LINE 登入成功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42014" y="4759762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Facebook 登入成功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7542014" y="5201960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Google 登入成功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7542014" y="5644158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Email 登入成功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65083"/>
            <a:ext cx="8800386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4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TC-LOGIN-0001：OTP 錯誤處理測試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092523"/>
            <a:ext cx="6413659" cy="1143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9174" y="2954298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進入登入頁面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009174" y="3420070"/>
            <a:ext cx="598289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導航至登入頁面並填入測試手機號碼</a:t>
            </a:r>
            <a:endParaRPr lang="en-US" sz="16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833" y="1769388"/>
            <a:ext cx="6413778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8217" y="2631162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提交手機號碼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7638217" y="3096935"/>
            <a:ext cx="598301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 submitPhone() 請求發送 OTP</a:t>
            </a:r>
            <a:endParaRPr lang="en-US" sz="16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518779"/>
            <a:ext cx="6413659" cy="1143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9174" y="5380553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輸入錯誤 OTP</a:t>
            </a:r>
            <a:endParaRPr lang="en-US" sz="2100" dirty="0"/>
          </a:p>
        </p:txBody>
      </p:sp>
      <p:sp>
        <p:nvSpPr>
          <p:cNvPr id="11" name="Text 6"/>
          <p:cNvSpPr/>
          <p:nvPr/>
        </p:nvSpPr>
        <p:spPr>
          <a:xfrm>
            <a:off x="1009174" y="5846326"/>
            <a:ext cx="598289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填入全部為 0 的錯誤驗證碼（000000）</a:t>
            </a:r>
            <a:endParaRPr lang="en-US" sz="16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2833" y="4195643"/>
            <a:ext cx="6413778" cy="11430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638217" y="5057418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驗證錯誤訊息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7638217" y="5523190"/>
            <a:ext cx="598301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確認顯示「驗證碼過期，請重新傳送驗證碼！」</a:t>
            </a:r>
            <a:endParaRPr lang="en-US" sz="1650" dirty="0"/>
          </a:p>
        </p:txBody>
      </p:sp>
      <p:sp>
        <p:nvSpPr>
          <p:cNvPr id="15" name="Shape 9"/>
          <p:cNvSpPr/>
          <p:nvPr/>
        </p:nvSpPr>
        <p:spPr>
          <a:xfrm>
            <a:off x="793790" y="6648926"/>
            <a:ext cx="13042821" cy="915472"/>
          </a:xfrm>
          <a:prstGeom prst="roundRect">
            <a:avLst>
              <a:gd name="adj" fmla="val 3531"/>
            </a:avLst>
          </a:prstGeom>
          <a:solidFill>
            <a:srgbClr val="C3EED6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174" y="6973491"/>
            <a:ext cx="269319" cy="21538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493877" y="6918127"/>
            <a:ext cx="12127349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關鍵驗證</a:t>
            </a:r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：錯誤訊息明確易懂，使用者無法完成登入，前端表單驗證生效。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55658"/>
            <a:ext cx="1013591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TC-LOGIN-0002 &amp; 0003：表單驗證測試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731413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手機號碼欄位驗證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338351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測試重點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：未填寫時按鈕應為 disabled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9504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登入/註冊按鈕無法點擊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39269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前端表單驗證正確運作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83489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防止空白資料提交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93790" y="5452943"/>
            <a:ext cx="6244709" cy="702945"/>
          </a:xfrm>
          <a:prstGeom prst="roundRect">
            <a:avLst>
              <a:gd name="adj" fmla="val 4840"/>
            </a:avLst>
          </a:prstGeom>
          <a:solidFill>
            <a:srgbClr val="EFEEEB"/>
          </a:solidFill>
          <a:ln/>
        </p:spPr>
      </p:sp>
      <p:sp>
        <p:nvSpPr>
          <p:cNvPr id="9" name="Shape 7"/>
          <p:cNvSpPr/>
          <p:nvPr/>
        </p:nvSpPr>
        <p:spPr>
          <a:xfrm>
            <a:off x="782479" y="5452943"/>
            <a:ext cx="6267331" cy="702945"/>
          </a:xfrm>
          <a:prstGeom prst="roundRect">
            <a:avLst>
              <a:gd name="adj" fmla="val 4840"/>
            </a:avLst>
          </a:prstGeom>
          <a:solidFill>
            <a:srgbClr val="EFEEEB"/>
          </a:solidFill>
          <a:ln/>
        </p:spPr>
      </p:sp>
      <p:sp>
        <p:nvSpPr>
          <p:cNvPr id="10" name="Text 8"/>
          <p:cNvSpPr/>
          <p:nvPr/>
        </p:nvSpPr>
        <p:spPr>
          <a:xfrm>
            <a:off x="1009293" y="5622965"/>
            <a:ext cx="581370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await loginPage.expectLoginButtonState(true);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2731413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Email 格式驗證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7599521" y="338351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測試重點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：錯誤格式應顯示提示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39504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Email 格式錯誤時顯示提示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439269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驗證碼錯誤時顯示訊息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99521" y="483489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使用者無法完成登入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599521" y="5452943"/>
            <a:ext cx="6244709" cy="1065848"/>
          </a:xfrm>
          <a:prstGeom prst="roundRect">
            <a:avLst>
              <a:gd name="adj" fmla="val 3192"/>
            </a:avLst>
          </a:prstGeom>
          <a:solidFill>
            <a:srgbClr val="EFEEEB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8210" y="5452943"/>
            <a:ext cx="6267331" cy="1065848"/>
          </a:xfrm>
          <a:prstGeom prst="roundRect">
            <a:avLst>
              <a:gd name="adj" fmla="val 3192"/>
            </a:avLst>
          </a:prstGeom>
          <a:solidFill>
            <a:srgbClr val="EFEEEB"/>
          </a:solidFill>
          <a:ln/>
        </p:spPr>
      </p:sp>
      <p:sp>
        <p:nvSpPr>
          <p:cNvPr id="18" name="Text 16"/>
          <p:cNvSpPr/>
          <p:nvPr/>
        </p:nvSpPr>
        <p:spPr>
          <a:xfrm>
            <a:off x="7815024" y="5622965"/>
            <a:ext cx="581370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await loginPage.fillEmail('invalid-email');await loginPage.expectEmailError();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35956"/>
            <a:ext cx="95660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TC-LOGIN-0004：Session 持久化測試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3098363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23243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建立乾淨 Context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20604" y="4722852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不使用 storageState，驗證未登入狀態顯示「登入/註冊」按鈕</a:t>
            </a:r>
            <a:endParaRPr lang="en-US" sz="17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357" y="3098363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23243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使用 StorageState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368171" y="4722852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載入已登入的 session，建立新的 browser context</a:t>
            </a:r>
            <a:endParaRPr lang="en-US" sz="1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8924" y="3098363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23243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驗證登入狀態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715738" y="4722852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確認「我的點數」按鈕出現，無需重新輸入帳密或 OTP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793790" y="593062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此測試確保 StorageState 機制能正確還原登入狀態，大幅提升測試效率並減少對真實 OTP 的依賴。</a:t>
            </a:r>
            <a:endParaRPr lang="en-US" sz="1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58585"/>
            <a:ext cx="81492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手動測試：真實 OTP 與社群登入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2220992"/>
            <a:ext cx="566976" cy="5669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307145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手機號碼登入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3561874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使用真實手機號碼接收 OTP，驗證完整登入流程。測試時使用 page.pause() 讓測試人員手動輸入驗證碼。</a:t>
            </a:r>
            <a:endParaRPr lang="en-US" sz="17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5893" y="2220992"/>
            <a:ext cx="566976" cy="566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3" y="307145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LINE 登入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35893" y="356187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透過 LINE 授權頁面完成登入，驗證第三方登入整合的正確性與導向流程。</a:t>
            </a:r>
            <a:endParaRPr lang="en-US" sz="1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77995" y="2220992"/>
            <a:ext cx="566976" cy="56697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307145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Facebook 登入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77995" y="356187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Facebook 帳號授權，確認授權成功後能正確導回網站並完成登入。</a:t>
            </a:r>
            <a:endParaRPr lang="en-US" sz="17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790" y="5104209"/>
            <a:ext cx="566976" cy="5669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93790" y="59546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Google 登入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793790" y="644509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透過 Google OAuth 流程驗證登入功能，確保會員資訊正確顯示。</a:t>
            </a:r>
            <a:endParaRPr lang="en-US" sz="17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5893" y="5104209"/>
            <a:ext cx="566976" cy="56697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35893" y="59546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Email 登入</a:t>
            </a:r>
            <a:endParaRPr lang="en-US" sz="2200" dirty="0"/>
          </a:p>
        </p:txBody>
      </p:sp>
      <p:sp>
        <p:nvSpPr>
          <p:cNvPr id="17" name="Text 10"/>
          <p:cNvSpPr/>
          <p:nvPr/>
        </p:nvSpPr>
        <p:spPr>
          <a:xfrm>
            <a:off x="5235893" y="644509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輸入 Email 並接收驗證碼，驗證 Email 登入的完整流程與驗證機制。</a:t>
            </a:r>
            <a:endParaRPr lang="en-US" sz="1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26877"/>
            <a:ext cx="425291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測試執行與報告策略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793790" y="1598652"/>
            <a:ext cx="13042821" cy="3275290"/>
          </a:xfrm>
          <a:prstGeom prst="roundRect">
            <a:avLst>
              <a:gd name="adj" fmla="val 779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6650" y="1621512"/>
            <a:ext cx="680442" cy="3229570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1029295" y="3076813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67113" y="1791533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執行指令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667113" y="2248614"/>
            <a:ext cx="11976616" cy="2432447"/>
          </a:xfrm>
          <a:prstGeom prst="roundRect">
            <a:avLst>
              <a:gd name="adj" fmla="val 1049"/>
            </a:avLst>
          </a:prstGeom>
          <a:solidFill>
            <a:srgbClr val="EFEEEB"/>
          </a:solidFill>
          <a:ln/>
        </p:spPr>
      </p:sp>
      <p:sp>
        <p:nvSpPr>
          <p:cNvPr id="8" name="Shape 6"/>
          <p:cNvSpPr/>
          <p:nvPr/>
        </p:nvSpPr>
        <p:spPr>
          <a:xfrm>
            <a:off x="1658660" y="2248614"/>
            <a:ext cx="11993523" cy="2432447"/>
          </a:xfrm>
          <a:prstGeom prst="roundRect">
            <a:avLst>
              <a:gd name="adj" fmla="val 1049"/>
            </a:avLst>
          </a:prstGeom>
          <a:solidFill>
            <a:srgbClr val="EFEEEB"/>
          </a:solidFill>
          <a:ln/>
        </p:spPr>
      </p:sp>
      <p:sp>
        <p:nvSpPr>
          <p:cNvPr id="9" name="Text 7"/>
          <p:cNvSpPr/>
          <p:nvPr/>
        </p:nvSpPr>
        <p:spPr>
          <a:xfrm>
            <a:off x="1828681" y="2376130"/>
            <a:ext cx="1165348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 執行購物車測試npx playwright test tests/auto/cart/# 執行登入測試npx playwright test tests/auto/login/# 執行手動測試（需人工介入）npx playwright test tests/manual/ --headed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3790" y="5043964"/>
            <a:ext cx="13042821" cy="2458760"/>
          </a:xfrm>
          <a:prstGeom prst="roundRect">
            <a:avLst>
              <a:gd name="adj" fmla="val 1038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6650" y="5066824"/>
            <a:ext cx="680442" cy="2413040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2" name="Text 10"/>
          <p:cNvSpPr/>
          <p:nvPr/>
        </p:nvSpPr>
        <p:spPr>
          <a:xfrm>
            <a:off x="1029295" y="6113859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67113" y="5236845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產生報告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667113" y="5693926"/>
            <a:ext cx="11976616" cy="1615916"/>
          </a:xfrm>
          <a:prstGeom prst="roundRect">
            <a:avLst>
              <a:gd name="adj" fmla="val 1579"/>
            </a:avLst>
          </a:prstGeom>
          <a:solidFill>
            <a:srgbClr val="EFEE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58660" y="5693926"/>
            <a:ext cx="11993523" cy="1615916"/>
          </a:xfrm>
          <a:prstGeom prst="roundRect">
            <a:avLst>
              <a:gd name="adj" fmla="val 1579"/>
            </a:avLst>
          </a:prstGeom>
          <a:solidFill>
            <a:srgbClr val="EFEEEB"/>
          </a:solidFill>
          <a:ln/>
        </p:spPr>
      </p:sp>
      <p:sp>
        <p:nvSpPr>
          <p:cNvPr id="16" name="Text 14"/>
          <p:cNvSpPr/>
          <p:nvPr/>
        </p:nvSpPr>
        <p:spPr>
          <a:xfrm>
            <a:off x="1828681" y="5821442"/>
            <a:ext cx="11653480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 產生 HTML 測試報告npx playwright test --reporter=html# 檢視報告npx playwright show-report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7370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35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測試穩定性策略</a:t>
            </a:r>
            <a:endParaRPr lang="en-US" sz="3550" dirty="0"/>
          </a:p>
        </p:txBody>
      </p:sp>
      <p:sp>
        <p:nvSpPr>
          <p:cNvPr id="3" name="Shape 1"/>
          <p:cNvSpPr/>
          <p:nvPr/>
        </p:nvSpPr>
        <p:spPr>
          <a:xfrm>
            <a:off x="793790" y="2837974"/>
            <a:ext cx="6407944" cy="1677472"/>
          </a:xfrm>
          <a:prstGeom prst="roundRect">
            <a:avLst>
              <a:gd name="adj" fmla="val 2028"/>
            </a:avLst>
          </a:prstGeom>
          <a:solidFill>
            <a:srgbClr val="F0EDE6"/>
          </a:solidFill>
          <a:ln/>
        </p:spPr>
      </p:sp>
      <p:sp>
        <p:nvSpPr>
          <p:cNvPr id="4" name="Text 2"/>
          <p:cNvSpPr/>
          <p:nvPr/>
        </p:nvSpPr>
        <p:spPr>
          <a:xfrm>
            <a:off x="1020604" y="306478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單一 Worker 執行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555206"/>
            <a:ext cx="5954316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--workers=1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避免並發測試造成的資料衝突與競爭條件。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428548" y="2837974"/>
            <a:ext cx="6408063" cy="1677472"/>
          </a:xfrm>
          <a:prstGeom prst="roundRect">
            <a:avLst>
              <a:gd name="adj" fmla="val 2028"/>
            </a:avLst>
          </a:prstGeom>
          <a:solidFill>
            <a:srgbClr val="F0EDE6"/>
          </a:solidFill>
          <a:ln/>
        </p:spPr>
      </p:sp>
      <p:sp>
        <p:nvSpPr>
          <p:cNvPr id="7" name="Text 5"/>
          <p:cNvSpPr/>
          <p:nvPr/>
        </p:nvSpPr>
        <p:spPr>
          <a:xfrm>
            <a:off x="7655362" y="306478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Timeout 設定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55362" y="3555206"/>
            <a:ext cx="59544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每個測試 timeout 設為 120 秒，確保網路較慢時也能完成測試。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742259"/>
            <a:ext cx="6407944" cy="1669852"/>
          </a:xfrm>
          <a:prstGeom prst="roundRect">
            <a:avLst>
              <a:gd name="adj" fmla="val 2038"/>
            </a:avLst>
          </a:prstGeom>
          <a:solidFill>
            <a:srgbClr val="F0EDE6"/>
          </a:solidFill>
          <a:ln/>
        </p:spPr>
      </p:sp>
      <p:sp>
        <p:nvSpPr>
          <p:cNvPr id="10" name="Text 8"/>
          <p:cNvSpPr/>
          <p:nvPr/>
        </p:nvSpPr>
        <p:spPr>
          <a:xfrm>
            <a:off x="1020604" y="49690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Retry 機制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0604" y="5459492"/>
            <a:ext cx="5954316" cy="370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失敗時自動重試 4 次（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--retries=4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），提升測試穩定性。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428548" y="4742259"/>
            <a:ext cx="6408063" cy="1669852"/>
          </a:xfrm>
          <a:prstGeom prst="roundRect">
            <a:avLst>
              <a:gd name="adj" fmla="val 2038"/>
            </a:avLst>
          </a:prstGeom>
          <a:solidFill>
            <a:srgbClr val="F0EDE6"/>
          </a:solidFill>
          <a:ln/>
        </p:spPr>
      </p:sp>
      <p:sp>
        <p:nvSpPr>
          <p:cNvPr id="13" name="Text 11"/>
          <p:cNvSpPr/>
          <p:nvPr/>
        </p:nvSpPr>
        <p:spPr>
          <a:xfrm>
            <a:off x="7655362" y="49690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等待機制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655362" y="5459492"/>
            <a:ext cx="59544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關鍵操作後加入 0.5-1 秒等待，確保 UI 元素與後端狀態同步。</a:t>
            </a:r>
            <a:endParaRPr lang="en-US" sz="1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7830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35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測試覆蓋率與架構</a:t>
            </a:r>
            <a:endParaRPr lang="en-US" sz="3550" dirty="0"/>
          </a:p>
        </p:txBody>
      </p:sp>
      <p:sp>
        <p:nvSpPr>
          <p:cNvPr id="3" name="Shape 1"/>
          <p:cNvSpPr/>
          <p:nvPr/>
        </p:nvSpPr>
        <p:spPr>
          <a:xfrm>
            <a:off x="793790" y="1667708"/>
            <a:ext cx="725805" cy="1900357"/>
          </a:xfrm>
          <a:prstGeom prst="roundRect">
            <a:avLst>
              <a:gd name="adj" fmla="val 360021"/>
            </a:avLst>
          </a:prstGeom>
          <a:solidFill>
            <a:srgbClr val="F0EDE6"/>
          </a:solidFill>
          <a:ln/>
        </p:spPr>
      </p:sp>
      <p:sp>
        <p:nvSpPr>
          <p:cNvPr id="4" name="Text 2"/>
          <p:cNvSpPr/>
          <p:nvPr/>
        </p:nvSpPr>
        <p:spPr>
          <a:xfrm>
            <a:off x="1020604" y="2447806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701046" y="1849160"/>
            <a:ext cx="2721888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測試覆蓋率目標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701046" y="2298144"/>
            <a:ext cx="121355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購物車功能: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5/5 測試案例完成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01046" y="2697242"/>
            <a:ext cx="121355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登入功能: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9/9 測試案例（含手動）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01046" y="3096339"/>
            <a:ext cx="121355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正常流程: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所有主要業務流程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3790" y="3749516"/>
            <a:ext cx="725805" cy="3742253"/>
          </a:xfrm>
          <a:prstGeom prst="roundRect">
            <a:avLst>
              <a:gd name="adj" fmla="val 360021"/>
            </a:avLst>
          </a:prstGeom>
          <a:solidFill>
            <a:srgbClr val="F0EDE6"/>
          </a:solidFill>
          <a:ln/>
        </p:spPr>
      </p:sp>
      <p:sp>
        <p:nvSpPr>
          <p:cNvPr id="10" name="Text 8"/>
          <p:cNvSpPr/>
          <p:nvPr/>
        </p:nvSpPr>
        <p:spPr>
          <a:xfrm>
            <a:off x="1020604" y="5450562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701046" y="3930968"/>
            <a:ext cx="2721888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Page Object Model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973223" y="4475202"/>
            <a:ext cx="11863387" cy="2631043"/>
          </a:xfrm>
          <a:prstGeom prst="roundRect">
            <a:avLst>
              <a:gd name="adj" fmla="val 103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80843" y="4482822"/>
            <a:ext cx="11848148" cy="5231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2162294" y="4599265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 Class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90178" y="4599265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職責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980843" y="5005983"/>
            <a:ext cx="11848148" cy="5231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162294" y="5122426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HomePage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90178" y="5122426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首頁導航與商品選擇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980843" y="5529143"/>
            <a:ext cx="11848148" cy="5231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2162294" y="5645587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ProductPage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90178" y="5645587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商品規格選擇與加入購物車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980843" y="6052304"/>
            <a:ext cx="11848148" cy="5231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2162294" y="6168747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CartPage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90178" y="6168747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購物車清空與數量驗證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80843" y="6575465"/>
            <a:ext cx="11848148" cy="5231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2162294" y="6691908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LoginPage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90178" y="6691908"/>
            <a:ext cx="555736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登入操作與錯誤處理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701046" y="4475202"/>
            <a:ext cx="22860" cy="2631043"/>
          </a:xfrm>
          <a:prstGeom prst="rect">
            <a:avLst/>
          </a:prstGeom>
          <a:solidFill>
            <a:srgbClr val="1B5F39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4973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最佳實踐與注意事項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812137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8860" y="2897148"/>
            <a:ext cx="340162" cy="340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30906" y="289000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Token 與 Session 管理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30906" y="3380423"/>
            <a:ext cx="564249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authStorageState.json 儲存登入 session，避免每次測試都重新登入，節省時間並減少對真實 OTP 的依賴。定期更新 storageState 避免 token 過期。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7456884" y="2812137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1955" y="2897148"/>
            <a:ext cx="340162" cy="3401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94000" y="289000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測試隔離原則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194000" y="3380423"/>
            <a:ext cx="564261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每個測試開始前清空購物車，使用獨立的測試資料，確保測試之間不互相依賴，避免資料污染造成的測試失敗。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793790" y="4922758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8860" y="5007769"/>
            <a:ext cx="340162" cy="3401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30906" y="50006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完整錯誤處理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1530906" y="5491043"/>
            <a:ext cx="564249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驗證所有可能的錯誤狀態（OTP 錯誤、欄位為空、格式錯誤等），檢查錯誤訊息的正確性與易讀性，測試異常情境如網路斷線、API timeout。</a:t>
            </a:r>
            <a:endParaRPr lang="en-US" sz="1750" dirty="0"/>
          </a:p>
        </p:txBody>
      </p:sp>
      <p:sp>
        <p:nvSpPr>
          <p:cNvPr id="15" name="Shape 10"/>
          <p:cNvSpPr/>
          <p:nvPr/>
        </p:nvSpPr>
        <p:spPr>
          <a:xfrm>
            <a:off x="7456884" y="4922758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41955" y="5007769"/>
            <a:ext cx="340162" cy="34016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94000" y="50006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整合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194000" y="5491043"/>
            <a:ext cx="564261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整合到 GitHub Actions，每次 push 自動觸發測試，定期執行回歸測試，自動產生測試報告，失敗時自動通知團隊。</a:t>
            </a:r>
            <a:endParaRPr lang="en-US" sz="1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2748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常見問題排查指南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1989892"/>
            <a:ext cx="6407944" cy="2592705"/>
          </a:xfrm>
          <a:prstGeom prst="roundRect">
            <a:avLst>
              <a:gd name="adj" fmla="val 5643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310" y="1989892"/>
            <a:ext cx="121920" cy="2592705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1142524" y="2247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購物車數量驗證失敗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2524" y="2737604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可能原因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：彈窗蓋住購物車 icon、非同步載入未完成、購物車未清空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142524" y="3599497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解決方法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：使用 closePopup() 關閉彈窗、增加 waitForTimeout、確認 clearCart() 執行成功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1989892"/>
            <a:ext cx="6408063" cy="2592705"/>
          </a:xfrm>
          <a:prstGeom prst="roundRect">
            <a:avLst>
              <a:gd name="adj" fmla="val 5643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98067" y="1989892"/>
            <a:ext cx="121920" cy="2592705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0" name="Text 8"/>
          <p:cNvSpPr/>
          <p:nvPr/>
        </p:nvSpPr>
        <p:spPr>
          <a:xfrm>
            <a:off x="7777282" y="2247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登入測試失敗（401）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7282" y="2737604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可能原因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：authStorageState.json 過期、Session token 失效、帳號被鎖定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777282" y="3599497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解決方法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：重新執行手動登入更新 storageState、確認測試帳號有效、檢查 API token 狀態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93790" y="4809411"/>
            <a:ext cx="6407944" cy="2592705"/>
          </a:xfrm>
          <a:prstGeom prst="roundRect">
            <a:avLst>
              <a:gd name="adj" fmla="val 5643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310" y="4809411"/>
            <a:ext cx="121920" cy="2592705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24" y="5066705"/>
            <a:ext cx="287631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手動測試無法輸入 OTP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42524" y="5557123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可能原因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：page.pause() 未生效、瀏覽器處於 headless mode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142524" y="6419017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解決方法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：使用 --headed 模式執行、確認 pause() 位置正確、手動點擊「繼續」按鈕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428548" y="4809411"/>
            <a:ext cx="6408063" cy="2592705"/>
          </a:xfrm>
          <a:prstGeom prst="roundRect">
            <a:avLst>
              <a:gd name="adj" fmla="val 5643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8067" y="4809411"/>
            <a:ext cx="121920" cy="2592705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20" name="Text 18"/>
          <p:cNvSpPr/>
          <p:nvPr/>
        </p:nvSpPr>
        <p:spPr>
          <a:xfrm>
            <a:off x="7777282" y="506670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環境測試失敗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777282" y="5557123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可能原因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：環境變數未設定、storageState 未上傳、網路環境不穩定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7777282" y="6419017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解決方法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：確認必要檔案存在、使用 --retries=4、檢查 CI 環境網路連線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2025-10-29T01:05:52Z</dcterms:created>
  <dcterms:modified xsi:type="dcterms:W3CDTF">2025-10-29T01:05:52Z</dcterms:modified>
</cp:coreProperties>
</file>