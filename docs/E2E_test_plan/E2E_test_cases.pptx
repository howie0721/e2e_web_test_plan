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79" r:id="rId5"/>
    <p:sldId id="280" r:id="rId6"/>
    <p:sldId id="281" r:id="rId7"/>
    <p:sldId id="282" r:id="rId8"/>
    <p:sldId id="283" r:id="rId9"/>
    <p:sldId id="284" r:id="rId10"/>
    <p:sldId id="259" r:id="rId11"/>
    <p:sldId id="260" r:id="rId12"/>
    <p:sldId id="261" r:id="rId13"/>
    <p:sldId id="262" r:id="rId14"/>
    <p:sldId id="263" r:id="rId15"/>
    <p:sldId id="264" r:id="rId16"/>
    <p:sldId id="276" r:id="rId17"/>
    <p:sldId id="277" r:id="rId18"/>
    <p:sldId id="278" r:id="rId19"/>
    <p:sldId id="271" r:id="rId20"/>
    <p:sldId id="272" r:id="rId21"/>
    <p:sldId id="273" r:id="rId22"/>
    <p:sldId id="274" r:id="rId23"/>
    <p:sldId id="275" r:id="rId24"/>
  </p:sldIdLst>
  <p:sldSz cx="14630400" cy="8229600"/>
  <p:notesSz cx="8229600" cy="14630400"/>
  <p:embeddedFontLst>
    <p:embeddedFont>
      <p:font typeface="Alice" pitchFamily="2" charset="0"/>
      <p:regular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Lora" pitchFamily="2" charset="0"/>
      <p:regular r:id="rId31"/>
      <p:bold r:id="rId32"/>
      <p:italic r:id="rId33"/>
      <p:boldItalic r:id="rId34"/>
    </p:embeddedFont>
  </p:embeddedFontLst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4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3234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8E76D-B013-BA5D-44CB-6647D15B8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C6CD5-A4D3-4FFD-EE99-735A11994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8A2B00-FD66-C40C-7D73-F64DE02C3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07881-219A-DAF0-5D68-BF80F998D9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218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BF9AC-58BB-0115-CA59-92A528B24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54195C-A65A-3C78-84AC-EB6B7028E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CD4C77-B055-F1FE-F6B7-F38D11EC6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E5531E-92F8-BB99-AD25-B1692D828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972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248E5-71C0-2F59-4501-7E69C8D93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C1530D-ECEB-077C-5E13-FB0B30BDA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005DD9-BE45-378C-EA17-5FED3F13FA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FD9EF0-75EF-EFB0-F198-7F77576A309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77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E32BE-2ABB-4776-EA03-AE22DE7B1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DE0ACB-3EAE-3E8D-E676-7B88FDBFFC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256E4F-6D57-45E1-6B00-AADA59326B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0E02FF-452A-5F4C-904D-0899E9D381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4168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A449C-52BE-3AB1-594E-8D398090E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13B6D-5181-9867-5447-62F880B65B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0F985B-AC13-65B6-734D-D5144CFCD0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C803F3-D965-108C-7893-B34F82DA2B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6137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02511-D599-C384-CEFF-D2A09E402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714886-FAED-1C1B-3D04-66FF4AB97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711306-5410-E7A8-4131-6C77C892C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69E545-967E-CBC7-EFB4-6D1CAE1CD7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750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CFBF8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gcatstar.co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7.sv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40.svg"/><Relationship Id="rId5" Type="http://schemas.openxmlformats.org/officeDocument/2006/relationships/image" Target="../media/image39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4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Dogcatstar 電商平台端對端測試文件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完整的購物車與會員登入功能 E2E 測試規格，涵蓋自動化測試與手動測試案例，確保平台功能穩定可靠。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474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測試概覽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97148"/>
            <a:ext cx="4196358" cy="3597593"/>
          </a:xfrm>
          <a:prstGeom prst="roundRect">
            <a:avLst>
              <a:gd name="adj" fmla="val 946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1020604" y="312396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7770" y="3311009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0604" y="4031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ea typeface="Alice" pitchFamily="2" charset="0"/>
                <a:cs typeface="Alice" pitchFamily="34" charset="-120"/>
              </a:rPr>
              <a:t>購物車測試</a:t>
            </a:r>
            <a:endParaRPr lang="en-US" sz="2200" dirty="0">
              <a:ea typeface="Alice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20604" y="452163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 個自動化測試案例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20604" y="502062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商品加入與管理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20604" y="5462826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多商品處理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1020604" y="590502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持久化驗證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5216962" y="2897148"/>
            <a:ext cx="4196358" cy="3597593"/>
          </a:xfrm>
          <a:prstGeom prst="roundRect">
            <a:avLst>
              <a:gd name="adj" fmla="val 946"/>
            </a:avLst>
          </a:prstGeom>
          <a:solidFill>
            <a:srgbClr val="F0EDE6"/>
          </a:solidFill>
          <a:ln/>
        </p:spPr>
      </p:sp>
      <p:sp>
        <p:nvSpPr>
          <p:cNvPr id="12" name="Shape 9"/>
          <p:cNvSpPr/>
          <p:nvPr/>
        </p:nvSpPr>
        <p:spPr>
          <a:xfrm>
            <a:off x="5443776" y="312396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30942" y="3311009"/>
            <a:ext cx="306110" cy="3061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3776" y="4031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登入功能測試</a:t>
            </a:r>
            <a:endParaRPr lang="en-US" sz="2200" dirty="0"/>
          </a:p>
        </p:txBody>
      </p:sp>
      <p:sp>
        <p:nvSpPr>
          <p:cNvPr id="15" name="Text 11"/>
          <p:cNvSpPr/>
          <p:nvPr/>
        </p:nvSpPr>
        <p:spPr>
          <a:xfrm>
            <a:off x="5443776" y="452163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 個自動化 + 5 個手動測試</a:t>
            </a:r>
            <a:endParaRPr lang="en-US" sz="1750" dirty="0"/>
          </a:p>
        </p:txBody>
      </p:sp>
      <p:sp>
        <p:nvSpPr>
          <p:cNvPr id="16" name="Text 12"/>
          <p:cNvSpPr/>
          <p:nvPr/>
        </p:nvSpPr>
        <p:spPr>
          <a:xfrm>
            <a:off x="5443776" y="502062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OTP 驗證</a:t>
            </a:r>
            <a:endParaRPr lang="en-US" sz="1750" dirty="0"/>
          </a:p>
        </p:txBody>
      </p:sp>
      <p:sp>
        <p:nvSpPr>
          <p:cNvPr id="17" name="Text 13"/>
          <p:cNvSpPr/>
          <p:nvPr/>
        </p:nvSpPr>
        <p:spPr>
          <a:xfrm>
            <a:off x="5443776" y="5462826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社群登入</a:t>
            </a:r>
            <a:endParaRPr lang="en-US" sz="1750" dirty="0"/>
          </a:p>
        </p:txBody>
      </p:sp>
      <p:sp>
        <p:nvSpPr>
          <p:cNvPr id="18" name="Text 14"/>
          <p:cNvSpPr/>
          <p:nvPr/>
        </p:nvSpPr>
        <p:spPr>
          <a:xfrm>
            <a:off x="5443776" y="590502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Session 管理</a:t>
            </a:r>
            <a:endParaRPr lang="en-US" sz="1750" dirty="0"/>
          </a:p>
        </p:txBody>
      </p:sp>
      <p:sp>
        <p:nvSpPr>
          <p:cNvPr id="19" name="Shape 15"/>
          <p:cNvSpPr/>
          <p:nvPr/>
        </p:nvSpPr>
        <p:spPr>
          <a:xfrm>
            <a:off x="9640133" y="2897148"/>
            <a:ext cx="4196358" cy="3597593"/>
          </a:xfrm>
          <a:prstGeom prst="roundRect">
            <a:avLst>
              <a:gd name="adj" fmla="val 946"/>
            </a:avLst>
          </a:prstGeom>
          <a:solidFill>
            <a:srgbClr val="F0EDE6"/>
          </a:solidFill>
          <a:ln/>
        </p:spPr>
      </p:sp>
      <p:sp>
        <p:nvSpPr>
          <p:cNvPr id="20" name="Shape 16"/>
          <p:cNvSpPr/>
          <p:nvPr/>
        </p:nvSpPr>
        <p:spPr>
          <a:xfrm>
            <a:off x="9866948" y="3123962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B5F39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4114" y="3311009"/>
            <a:ext cx="306110" cy="30611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866948" y="4031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測試框架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9866948" y="4521637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Playwright + TypeScript</a:t>
            </a:r>
            <a:endParaRPr lang="en-US" sz="1750" dirty="0"/>
          </a:p>
        </p:txBody>
      </p:sp>
      <p:sp>
        <p:nvSpPr>
          <p:cNvPr id="24" name="Text 19"/>
          <p:cNvSpPr/>
          <p:nvPr/>
        </p:nvSpPr>
        <p:spPr>
          <a:xfrm>
            <a:off x="9866948" y="5020628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Chromium 瀏覽器</a:t>
            </a:r>
            <a:endParaRPr lang="en-US" sz="1750" dirty="0"/>
          </a:p>
        </p:txBody>
      </p:sp>
      <p:sp>
        <p:nvSpPr>
          <p:cNvPr id="25" name="Text 20"/>
          <p:cNvSpPr/>
          <p:nvPr/>
        </p:nvSpPr>
        <p:spPr>
          <a:xfrm>
            <a:off x="9866948" y="5462826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POM 架構設計</a:t>
            </a:r>
            <a:endParaRPr lang="en-US" sz="1750" dirty="0"/>
          </a:p>
        </p:txBody>
      </p:sp>
      <p:sp>
        <p:nvSpPr>
          <p:cNvPr id="26" name="Text 21"/>
          <p:cNvSpPr/>
          <p:nvPr/>
        </p:nvSpPr>
        <p:spPr>
          <a:xfrm>
            <a:off x="9866948" y="590502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CI/CD 整合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664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測試環境配置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5422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技術堆疊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41943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測試框架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：Playwright (TypeScript)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3653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瀏覽器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：Chromium (預設)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7873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認證方式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：StorageState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52092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報告工具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：HTML Reporter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3542228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目標網站</a:t>
            </a:r>
            <a:endParaRPr lang="en-US" sz="2650" dirty="0"/>
          </a:p>
        </p:txBody>
      </p:sp>
      <p:sp>
        <p:nvSpPr>
          <p:cNvPr id="9" name="Text 7"/>
          <p:cNvSpPr/>
          <p:nvPr/>
        </p:nvSpPr>
        <p:spPr>
          <a:xfrm>
            <a:off x="7599521" y="419433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測試環境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</a:t>
            </a:r>
            <a:r>
              <a:rPr lang="en-US" sz="1750" u="sng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https://www.dogcatstar.com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476130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認證檔案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：authStorageState.json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5328285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測試資料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：test-accounts.json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D1B1C-A305-72C9-0932-D809F568D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8344E395-9B6E-4468-6832-0EB6C0F5C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403BA503-1BE3-A8AC-B6B9-91497FED6CCF}"/>
              </a:ext>
            </a:extLst>
          </p:cNvPr>
          <p:cNvSpPr/>
          <p:nvPr/>
        </p:nvSpPr>
        <p:spPr>
          <a:xfrm>
            <a:off x="793790" y="2345531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會員登入 E2E 測試案例</a:t>
            </a:r>
            <a:endParaRPr lang="en-US" sz="89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B54CADF-A224-2CC1-7FE0-AF35DC63BEAB}"/>
              </a:ext>
            </a:extLst>
          </p:cNvPr>
          <p:cNvSpPr/>
          <p:nvPr/>
        </p:nvSpPr>
        <p:spPr>
          <a:xfrm>
            <a:off x="793790" y="552104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涵蓋自動化與手動測試，全面驗證多種登入方式的正確性與安全性。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363100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1694F-0C94-0749-2BE0-8D2A9BB43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FF04EC1-E571-BB68-A602-F1A328050BEC}"/>
              </a:ext>
            </a:extLst>
          </p:cNvPr>
          <p:cNvSpPr/>
          <p:nvPr/>
        </p:nvSpPr>
        <p:spPr>
          <a:xfrm>
            <a:off x="793790" y="199572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登入測試案例分類</a:t>
            </a:r>
            <a:endParaRPr lang="en-US" sz="445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F406EC7-7F6C-11A0-A16D-424F31091D0E}"/>
              </a:ext>
            </a:extLst>
          </p:cNvPr>
          <p:cNvSpPr/>
          <p:nvPr/>
        </p:nvSpPr>
        <p:spPr>
          <a:xfrm>
            <a:off x="793790" y="3158133"/>
            <a:ext cx="13042821" cy="3075742"/>
          </a:xfrm>
          <a:prstGeom prst="roundRect">
            <a:avLst>
              <a:gd name="adj" fmla="val 1106"/>
            </a:avLst>
          </a:prstGeom>
          <a:solidFill>
            <a:srgbClr val="F0EDE6"/>
          </a:solidFill>
          <a:ln/>
        </p:spPr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17C3CBF-CC05-AA63-F43B-59D3678B5EEF}"/>
              </a:ext>
            </a:extLst>
          </p:cNvPr>
          <p:cNvSpPr/>
          <p:nvPr/>
        </p:nvSpPr>
        <p:spPr>
          <a:xfrm>
            <a:off x="793790" y="3158133"/>
            <a:ext cx="6521410" cy="3075742"/>
          </a:xfrm>
          <a:prstGeom prst="roundRect">
            <a:avLst>
              <a:gd name="adj" fmla="val 1106"/>
            </a:avLst>
          </a:prstGeom>
          <a:solidFill>
            <a:srgbClr val="F0EDE6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7EA3476-FEF8-9F7E-365B-B307D6F2AA5D}"/>
              </a:ext>
            </a:extLst>
          </p:cNvPr>
          <p:cNvSpPr/>
          <p:nvPr/>
        </p:nvSpPr>
        <p:spPr>
          <a:xfrm>
            <a:off x="1020604" y="33849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自動化測試（4 個）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FBED743-85E8-3FD7-2816-5C440486CC81}"/>
              </a:ext>
            </a:extLst>
          </p:cNvPr>
          <p:cNvSpPr/>
          <p:nvPr/>
        </p:nvSpPr>
        <p:spPr>
          <a:xfrm>
            <a:off x="1020604" y="3875365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TC-LOGIN-0001：OTP 錯誤處理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8E894E2-5FF1-4500-96F6-7C77FD67E374}"/>
              </a:ext>
            </a:extLst>
          </p:cNvPr>
          <p:cNvSpPr/>
          <p:nvPr/>
        </p:nvSpPr>
        <p:spPr>
          <a:xfrm>
            <a:off x="1020604" y="431756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TC-LOGIN-0002：欄位驗證</a:t>
            </a:r>
            <a:endParaRPr lang="en-US" sz="17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A76C96D-A5B1-813C-46EE-8D78DA7214CE}"/>
              </a:ext>
            </a:extLst>
          </p:cNvPr>
          <p:cNvSpPr/>
          <p:nvPr/>
        </p:nvSpPr>
        <p:spPr>
          <a:xfrm>
            <a:off x="1020604" y="4759762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TC-LOGIN-0003：Email 驗證失敗</a:t>
            </a:r>
            <a:endParaRPr lang="en-US" sz="175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E4212A6-2371-96CB-1650-B7FC90EF8F61}"/>
              </a:ext>
            </a:extLst>
          </p:cNvPr>
          <p:cNvSpPr/>
          <p:nvPr/>
        </p:nvSpPr>
        <p:spPr>
          <a:xfrm>
            <a:off x="1020604" y="520196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TC-LOGIN-0004：Session 持久化</a:t>
            </a:r>
            <a:endParaRPr lang="en-US" sz="175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0F7AA41C-805D-2972-CCD5-2F3D90690D64}"/>
              </a:ext>
            </a:extLst>
          </p:cNvPr>
          <p:cNvSpPr/>
          <p:nvPr/>
        </p:nvSpPr>
        <p:spPr>
          <a:xfrm>
            <a:off x="7315200" y="3158133"/>
            <a:ext cx="6521410" cy="3075742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793A4180-AA69-5B36-0F0E-B641A7774B21}"/>
              </a:ext>
            </a:extLst>
          </p:cNvPr>
          <p:cNvSpPr/>
          <p:nvPr/>
        </p:nvSpPr>
        <p:spPr>
          <a:xfrm>
            <a:off x="7315200" y="3158133"/>
            <a:ext cx="30480" cy="3075742"/>
          </a:xfrm>
          <a:prstGeom prst="roundRect">
            <a:avLst>
              <a:gd name="adj" fmla="val 111628"/>
            </a:avLst>
          </a:prstGeom>
          <a:solidFill>
            <a:srgbClr val="D6D3CC"/>
          </a:solidFill>
          <a:ln/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583714A-CAB8-8000-B7B4-19D318094D17}"/>
              </a:ext>
            </a:extLst>
          </p:cNvPr>
          <p:cNvSpPr/>
          <p:nvPr/>
        </p:nvSpPr>
        <p:spPr>
          <a:xfrm>
            <a:off x="7542014" y="33849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手動測試（5 個）</a:t>
            </a:r>
            <a:endParaRPr lang="en-US" sz="2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83884B3-1C14-C980-7C92-2C25F2C9DAD7}"/>
              </a:ext>
            </a:extLst>
          </p:cNvPr>
          <p:cNvSpPr/>
          <p:nvPr/>
        </p:nvSpPr>
        <p:spPr>
          <a:xfrm>
            <a:off x="7542014" y="3875365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手機號碼登入成功</a:t>
            </a:r>
            <a:endParaRPr lang="en-US" sz="17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C77DEFC-F772-BBB4-1E77-1C40CD0E55E2}"/>
              </a:ext>
            </a:extLst>
          </p:cNvPr>
          <p:cNvSpPr/>
          <p:nvPr/>
        </p:nvSpPr>
        <p:spPr>
          <a:xfrm>
            <a:off x="7542014" y="4317563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LINE 登入成功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AC96692-A6CE-ECD4-3820-0AB83BFEB489}"/>
              </a:ext>
            </a:extLst>
          </p:cNvPr>
          <p:cNvSpPr/>
          <p:nvPr/>
        </p:nvSpPr>
        <p:spPr>
          <a:xfrm>
            <a:off x="7542014" y="4759762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Facebook 登入成功</a:t>
            </a:r>
            <a:endParaRPr lang="en-US" sz="175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3DF5F6C-3571-819F-CA4B-345F57CC91F8}"/>
              </a:ext>
            </a:extLst>
          </p:cNvPr>
          <p:cNvSpPr/>
          <p:nvPr/>
        </p:nvSpPr>
        <p:spPr>
          <a:xfrm>
            <a:off x="7542014" y="5201960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Google 登入成功</a:t>
            </a:r>
            <a:endParaRPr lang="en-US" sz="175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C2CDA14-EB1B-4C11-4B66-1258E2515D92}"/>
              </a:ext>
            </a:extLst>
          </p:cNvPr>
          <p:cNvSpPr/>
          <p:nvPr/>
        </p:nvSpPr>
        <p:spPr>
          <a:xfrm>
            <a:off x="7542014" y="5644158"/>
            <a:ext cx="606778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Email 登入成功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623500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B24DD-3180-BA4D-DE87-C2185C842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74D4E83-2A29-C391-4EA3-B1E88B4294BF}"/>
              </a:ext>
            </a:extLst>
          </p:cNvPr>
          <p:cNvSpPr/>
          <p:nvPr/>
        </p:nvSpPr>
        <p:spPr>
          <a:xfrm>
            <a:off x="793790" y="665083"/>
            <a:ext cx="8800386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TC-LOGIN-0001：OTP 錯誤處理測試</a:t>
            </a:r>
            <a:endParaRPr lang="en-US" sz="420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ED594AF-711B-A9A8-4F5E-535DA11F4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92523"/>
            <a:ext cx="6413659" cy="114300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79B8708B-DA36-223B-B9EA-A38D9A1CB27A}"/>
              </a:ext>
            </a:extLst>
          </p:cNvPr>
          <p:cNvSpPr/>
          <p:nvPr/>
        </p:nvSpPr>
        <p:spPr>
          <a:xfrm>
            <a:off x="1009174" y="295429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2" charset="0"/>
                <a:ea typeface="Alice" pitchFamily="2" charset="0"/>
                <a:cs typeface="Alice" pitchFamily="34" charset="-120"/>
              </a:rPr>
              <a:t>進入登入頁面</a:t>
            </a:r>
            <a:endParaRPr lang="en-US" sz="2100" dirty="0">
              <a:latin typeface="Alice" pitchFamily="2" charset="0"/>
              <a:ea typeface="Alice" pitchFamily="2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DA799292-FF98-93EB-6A06-B1E00A5187ED}"/>
              </a:ext>
            </a:extLst>
          </p:cNvPr>
          <p:cNvSpPr/>
          <p:nvPr/>
        </p:nvSpPr>
        <p:spPr>
          <a:xfrm>
            <a:off x="1009174" y="3420070"/>
            <a:ext cx="598289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導航至登入頁面並填入測試手機號碼</a:t>
            </a:r>
            <a:endParaRPr lang="en-US" sz="165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79706B66-5427-3C5B-5EA2-570AC68314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833" y="1769388"/>
            <a:ext cx="6413778" cy="1143000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4BE3B687-0231-3BC7-008E-15F17AA529B4}"/>
              </a:ext>
            </a:extLst>
          </p:cNvPr>
          <p:cNvSpPr/>
          <p:nvPr/>
        </p:nvSpPr>
        <p:spPr>
          <a:xfrm>
            <a:off x="7638217" y="2631162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提交手機號碼</a:t>
            </a:r>
            <a:endParaRPr lang="en-US" sz="21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77A6E6C9-E01D-819F-C286-6EAE43C9F3F5}"/>
              </a:ext>
            </a:extLst>
          </p:cNvPr>
          <p:cNvSpPr/>
          <p:nvPr/>
        </p:nvSpPr>
        <p:spPr>
          <a:xfrm>
            <a:off x="7638217" y="3096935"/>
            <a:ext cx="598301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執行 submitPhone() 請求發送 OTP</a:t>
            </a:r>
            <a:endParaRPr lang="en-US" sz="16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DF54EEB5-565E-728C-91BA-C25DCA631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518779"/>
            <a:ext cx="6413659" cy="1143000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199091C6-B503-25C9-52A5-CEEE92B1A876}"/>
              </a:ext>
            </a:extLst>
          </p:cNvPr>
          <p:cNvSpPr/>
          <p:nvPr/>
        </p:nvSpPr>
        <p:spPr>
          <a:xfrm>
            <a:off x="1009174" y="538055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輸入錯誤 OTP</a:t>
            </a:r>
            <a:endParaRPr lang="en-US" sz="21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7C2B154E-BC91-DEFB-E131-A9E5D1835470}"/>
              </a:ext>
            </a:extLst>
          </p:cNvPr>
          <p:cNvSpPr/>
          <p:nvPr/>
        </p:nvSpPr>
        <p:spPr>
          <a:xfrm>
            <a:off x="1009174" y="5846326"/>
            <a:ext cx="598289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填入全部為 0 的錯誤驗證碼（000000）</a:t>
            </a:r>
            <a:endParaRPr lang="en-US" sz="165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66DE6139-A18D-3215-2389-A4FF73F637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2833" y="4195643"/>
            <a:ext cx="6413778" cy="1143000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5EE71DD7-44BB-D369-E569-2DFCAA2548D3}"/>
              </a:ext>
            </a:extLst>
          </p:cNvPr>
          <p:cNvSpPr/>
          <p:nvPr/>
        </p:nvSpPr>
        <p:spPr>
          <a:xfrm>
            <a:off x="7638217" y="5057418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驗證錯誤訊息</a:t>
            </a:r>
            <a:endParaRPr lang="en-US" sz="21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4AD2F44-6BFB-93F0-F94B-A099B6F9A511}"/>
              </a:ext>
            </a:extLst>
          </p:cNvPr>
          <p:cNvSpPr/>
          <p:nvPr/>
        </p:nvSpPr>
        <p:spPr>
          <a:xfrm>
            <a:off x="7638217" y="5523190"/>
            <a:ext cx="598301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確認顯示「驗證碼過期，請重新傳送驗證碼！」</a:t>
            </a:r>
            <a:endParaRPr lang="en-US" sz="1650" dirty="0"/>
          </a:p>
        </p:txBody>
      </p:sp>
      <p:sp>
        <p:nvSpPr>
          <p:cNvPr id="15" name="Shape 9">
            <a:extLst>
              <a:ext uri="{FF2B5EF4-FFF2-40B4-BE49-F238E27FC236}">
                <a16:creationId xmlns:a16="http://schemas.microsoft.com/office/drawing/2014/main" id="{CFCBDB45-5DAC-34B1-6B34-F570AE1BF99C}"/>
              </a:ext>
            </a:extLst>
          </p:cNvPr>
          <p:cNvSpPr/>
          <p:nvPr/>
        </p:nvSpPr>
        <p:spPr>
          <a:xfrm>
            <a:off x="793790" y="6648926"/>
            <a:ext cx="13042821" cy="915472"/>
          </a:xfrm>
          <a:prstGeom prst="roundRect">
            <a:avLst>
              <a:gd name="adj" fmla="val 3531"/>
            </a:avLst>
          </a:prstGeom>
          <a:solidFill>
            <a:srgbClr val="C3EED6"/>
          </a:solidFill>
          <a:ln/>
        </p:spPr>
      </p:sp>
      <p:pic>
        <p:nvPicPr>
          <p:cNvPr id="16" name="Image 4" descr="preencoded.png">
            <a:extLst>
              <a:ext uri="{FF2B5EF4-FFF2-40B4-BE49-F238E27FC236}">
                <a16:creationId xmlns:a16="http://schemas.microsoft.com/office/drawing/2014/main" id="{8C1E8C8B-FCE5-E9FD-E434-5EA00415A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174" y="6973491"/>
            <a:ext cx="269319" cy="215384"/>
          </a:xfrm>
          <a:prstGeom prst="rect">
            <a:avLst/>
          </a:prstGeom>
        </p:spPr>
      </p:pic>
      <p:sp>
        <p:nvSpPr>
          <p:cNvPr id="17" name="Text 10">
            <a:extLst>
              <a:ext uri="{FF2B5EF4-FFF2-40B4-BE49-F238E27FC236}">
                <a16:creationId xmlns:a16="http://schemas.microsoft.com/office/drawing/2014/main" id="{35F3C77C-E708-E20D-4497-4E181AD226D4}"/>
              </a:ext>
            </a:extLst>
          </p:cNvPr>
          <p:cNvSpPr/>
          <p:nvPr/>
        </p:nvSpPr>
        <p:spPr>
          <a:xfrm>
            <a:off x="1493877" y="6918127"/>
            <a:ext cx="12127349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關鍵驗證</a:t>
            </a:r>
            <a:r>
              <a:rPr lang="en-US" sz="16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：錯誤訊息明確易懂，使用者無法完成登入，前端表單驗證生效。</a:t>
            </a:r>
            <a:endParaRPr lang="en-US" sz="1650" dirty="0"/>
          </a:p>
        </p:txBody>
      </p:sp>
    </p:spTree>
    <p:extLst>
      <p:ext uri="{BB962C8B-B14F-4D97-AF65-F5344CB8AC3E}">
        <p14:creationId xmlns:p14="http://schemas.microsoft.com/office/powerpoint/2010/main" val="2618762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D60A-5DF3-1648-498E-9CB8FFA1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B5134F0-CBBB-4888-7DC0-30CF9134F84E}"/>
              </a:ext>
            </a:extLst>
          </p:cNvPr>
          <p:cNvSpPr/>
          <p:nvPr/>
        </p:nvSpPr>
        <p:spPr>
          <a:xfrm>
            <a:off x="793790" y="1455658"/>
            <a:ext cx="1013591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TC-LOGIN-0002 &amp; 0003：表單驗證測試</a:t>
            </a:r>
            <a:endParaRPr lang="en-US" sz="44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B720D7-4144-4E2E-3750-64167430A2A3}"/>
              </a:ext>
            </a:extLst>
          </p:cNvPr>
          <p:cNvSpPr/>
          <p:nvPr/>
        </p:nvSpPr>
        <p:spPr>
          <a:xfrm>
            <a:off x="793790" y="273141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手機號碼欄位驗證</a:t>
            </a:r>
            <a:endParaRPr lang="en-US" sz="26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0FBC95D-05B5-3B51-303E-C83C7779B4D6}"/>
              </a:ext>
            </a:extLst>
          </p:cNvPr>
          <p:cNvSpPr/>
          <p:nvPr/>
        </p:nvSpPr>
        <p:spPr>
          <a:xfrm>
            <a:off x="793790" y="33835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測試重點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：未填寫時按鈕應為 disabled</a:t>
            </a:r>
            <a:endParaRPr lang="en-US" sz="175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1932DF6-6000-4093-FCC5-3136422AEBC1}"/>
              </a:ext>
            </a:extLst>
          </p:cNvPr>
          <p:cNvSpPr/>
          <p:nvPr/>
        </p:nvSpPr>
        <p:spPr>
          <a:xfrm>
            <a:off x="793790" y="39504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登入/註冊按鈕無法點擊</a:t>
            </a:r>
            <a:endParaRPr lang="en-US" sz="1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6CE378C-414B-FF71-BD2C-0F43D992EA3B}"/>
              </a:ext>
            </a:extLst>
          </p:cNvPr>
          <p:cNvSpPr/>
          <p:nvPr/>
        </p:nvSpPr>
        <p:spPr>
          <a:xfrm>
            <a:off x="793790" y="43926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前端表單驗證正確運作</a:t>
            </a:r>
            <a:endParaRPr lang="en-US" sz="175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EE8EC5E-3DE7-851B-78EF-13C45568107C}"/>
              </a:ext>
            </a:extLst>
          </p:cNvPr>
          <p:cNvSpPr/>
          <p:nvPr/>
        </p:nvSpPr>
        <p:spPr>
          <a:xfrm>
            <a:off x="793790" y="483489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防止空白資料提交</a:t>
            </a:r>
            <a:endParaRPr lang="en-US" sz="17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E5408918-B2ED-2F67-9708-B7239DEA3F05}"/>
              </a:ext>
            </a:extLst>
          </p:cNvPr>
          <p:cNvSpPr/>
          <p:nvPr/>
        </p:nvSpPr>
        <p:spPr>
          <a:xfrm>
            <a:off x="793790" y="5452943"/>
            <a:ext cx="6244709" cy="702945"/>
          </a:xfrm>
          <a:prstGeom prst="roundRect">
            <a:avLst>
              <a:gd name="adj" fmla="val 4840"/>
            </a:avLst>
          </a:prstGeom>
          <a:solidFill>
            <a:srgbClr val="EFEEEB"/>
          </a:solidFill>
          <a:ln/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A7E65E1-C75B-ADF3-581A-83E156D1B165}"/>
              </a:ext>
            </a:extLst>
          </p:cNvPr>
          <p:cNvSpPr/>
          <p:nvPr/>
        </p:nvSpPr>
        <p:spPr>
          <a:xfrm>
            <a:off x="782479" y="5452943"/>
            <a:ext cx="6267331" cy="702945"/>
          </a:xfrm>
          <a:prstGeom prst="roundRect">
            <a:avLst>
              <a:gd name="adj" fmla="val 4840"/>
            </a:avLst>
          </a:prstGeom>
          <a:solidFill>
            <a:srgbClr val="EFEEEB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097007F-32AC-B82A-7E01-F9C994E7420F}"/>
              </a:ext>
            </a:extLst>
          </p:cNvPr>
          <p:cNvSpPr/>
          <p:nvPr/>
        </p:nvSpPr>
        <p:spPr>
          <a:xfrm>
            <a:off x="1009293" y="5622965"/>
            <a:ext cx="58137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loginPage.expectLoginButtonState(true);</a:t>
            </a:r>
            <a:endParaRPr lang="en-US" sz="175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65F1608-DCD3-6272-A4D7-C333BE48D220}"/>
              </a:ext>
            </a:extLst>
          </p:cNvPr>
          <p:cNvSpPr/>
          <p:nvPr/>
        </p:nvSpPr>
        <p:spPr>
          <a:xfrm>
            <a:off x="7599521" y="2731413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Email 格式驗證</a:t>
            </a:r>
            <a:endParaRPr lang="en-US" sz="265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0A3F28F-4760-CD15-4304-F3B4C24CC5D7}"/>
              </a:ext>
            </a:extLst>
          </p:cNvPr>
          <p:cNvSpPr/>
          <p:nvPr/>
        </p:nvSpPr>
        <p:spPr>
          <a:xfrm>
            <a:off x="7599521" y="33835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測試重點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：錯誤格式應顯示提示</a:t>
            </a:r>
            <a:endParaRPr lang="en-US" sz="175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97D02AC-C3FC-EC99-8250-C29756CCC98E}"/>
              </a:ext>
            </a:extLst>
          </p:cNvPr>
          <p:cNvSpPr/>
          <p:nvPr/>
        </p:nvSpPr>
        <p:spPr>
          <a:xfrm>
            <a:off x="7599521" y="3950494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Email 格式錯誤時顯示提示</a:t>
            </a:r>
            <a:endParaRPr lang="en-US" sz="17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4422781-510A-4C40-03AC-14C436110314}"/>
              </a:ext>
            </a:extLst>
          </p:cNvPr>
          <p:cNvSpPr/>
          <p:nvPr/>
        </p:nvSpPr>
        <p:spPr>
          <a:xfrm>
            <a:off x="7599521" y="43926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驗證碼錯誤時顯示訊息</a:t>
            </a:r>
            <a:endParaRPr lang="en-US" sz="175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9CBE1AB-07A7-B1A9-8511-CF4495178CEE}"/>
              </a:ext>
            </a:extLst>
          </p:cNvPr>
          <p:cNvSpPr/>
          <p:nvPr/>
        </p:nvSpPr>
        <p:spPr>
          <a:xfrm>
            <a:off x="7599521" y="483489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使用者無法完成登入</a:t>
            </a:r>
            <a:endParaRPr lang="en-US" sz="17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178C5FB-9477-10C7-7A6A-DF7A558198E8}"/>
              </a:ext>
            </a:extLst>
          </p:cNvPr>
          <p:cNvSpPr/>
          <p:nvPr/>
        </p:nvSpPr>
        <p:spPr>
          <a:xfrm>
            <a:off x="7599521" y="5452943"/>
            <a:ext cx="6244709" cy="1065848"/>
          </a:xfrm>
          <a:prstGeom prst="roundRect">
            <a:avLst>
              <a:gd name="adj" fmla="val 3192"/>
            </a:avLst>
          </a:prstGeom>
          <a:solidFill>
            <a:srgbClr val="EFEEEB"/>
          </a:solidFill>
          <a:ln/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0264753-B922-739B-0B1E-D94A0C3F69FB}"/>
              </a:ext>
            </a:extLst>
          </p:cNvPr>
          <p:cNvSpPr/>
          <p:nvPr/>
        </p:nvSpPr>
        <p:spPr>
          <a:xfrm>
            <a:off x="7588210" y="5452943"/>
            <a:ext cx="6267331" cy="1065848"/>
          </a:xfrm>
          <a:prstGeom prst="roundRect">
            <a:avLst>
              <a:gd name="adj" fmla="val 3192"/>
            </a:avLst>
          </a:prstGeom>
          <a:solidFill>
            <a:srgbClr val="EFEEEB"/>
          </a:solidFill>
          <a:ln/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504E75D-1DD3-172F-C9A5-3E354577275E}"/>
              </a:ext>
            </a:extLst>
          </p:cNvPr>
          <p:cNvSpPr/>
          <p:nvPr/>
        </p:nvSpPr>
        <p:spPr>
          <a:xfrm>
            <a:off x="7815024" y="5622965"/>
            <a:ext cx="581370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loginPage.fillEmail('invalid-email');await loginPage.expectEmailError();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3564190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E7AC3-9211-B683-3BCB-699B6FE95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B812E03-5F1A-DEDA-F6BE-1251DC5D5900}"/>
              </a:ext>
            </a:extLst>
          </p:cNvPr>
          <p:cNvSpPr/>
          <p:nvPr/>
        </p:nvSpPr>
        <p:spPr>
          <a:xfrm>
            <a:off x="793790" y="1935956"/>
            <a:ext cx="956607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TC-LOGIN-0004：Session 持久化測試</a:t>
            </a:r>
            <a:endParaRPr lang="en-US" sz="4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0A398D9-68D9-64B1-9A57-2E51EA6DE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098363"/>
            <a:ext cx="4347567" cy="90725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6C36B02C-DBE4-9E15-ABFA-3311CE1B4303}"/>
              </a:ext>
            </a:extLst>
          </p:cNvPr>
          <p:cNvSpPr/>
          <p:nvPr/>
        </p:nvSpPr>
        <p:spPr>
          <a:xfrm>
            <a:off x="1020604" y="4232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建立乾淨 Context</a:t>
            </a:r>
            <a:endParaRPr lang="en-US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61481215-78C9-8C42-686D-74B5C6F405AC}"/>
              </a:ext>
            </a:extLst>
          </p:cNvPr>
          <p:cNvSpPr/>
          <p:nvPr/>
        </p:nvSpPr>
        <p:spPr>
          <a:xfrm>
            <a:off x="1020604" y="4722852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不使用 storageState，驗證未登入狀態顯示「登入/註冊」按鈕</a:t>
            </a:r>
            <a:endParaRPr lang="en-US" sz="175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DEE9BDA-87C5-027B-9DBD-C9AC6AEED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098363"/>
            <a:ext cx="4347567" cy="90725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94F71E30-159E-BF1A-26BC-F9C6C9C188D5}"/>
              </a:ext>
            </a:extLst>
          </p:cNvPr>
          <p:cNvSpPr/>
          <p:nvPr/>
        </p:nvSpPr>
        <p:spPr>
          <a:xfrm>
            <a:off x="5368171" y="4232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使用 StorageState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EA162C39-4ECE-E633-0D8F-51858388F7C4}"/>
              </a:ext>
            </a:extLst>
          </p:cNvPr>
          <p:cNvSpPr/>
          <p:nvPr/>
        </p:nvSpPr>
        <p:spPr>
          <a:xfrm>
            <a:off x="5368171" y="4722852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載入已登入的 session，建立新的 browser context</a:t>
            </a:r>
            <a:endParaRPr lang="en-US" sz="17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9E84A147-FD5D-DBB4-3977-5ED8A6B442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098363"/>
            <a:ext cx="4347567" cy="907256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57D0A3DA-843B-9EDC-D4A3-A5F985BE174E}"/>
              </a:ext>
            </a:extLst>
          </p:cNvPr>
          <p:cNvSpPr/>
          <p:nvPr/>
        </p:nvSpPr>
        <p:spPr>
          <a:xfrm>
            <a:off x="9715738" y="42324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驗證登入狀態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CBB83CE-627D-2D06-BC73-05B96978DD6F}"/>
              </a:ext>
            </a:extLst>
          </p:cNvPr>
          <p:cNvSpPr/>
          <p:nvPr/>
        </p:nvSpPr>
        <p:spPr>
          <a:xfrm>
            <a:off x="9715738" y="4722852"/>
            <a:ext cx="389393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確認「我的點數」按鈕出現，無需重新輸入帳密或 OTP</a:t>
            </a:r>
            <a:endParaRPr lang="en-US" sz="175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E7A96096-6485-6BA0-3036-7AE0B2F3C81A}"/>
              </a:ext>
            </a:extLst>
          </p:cNvPr>
          <p:cNvSpPr/>
          <p:nvPr/>
        </p:nvSpPr>
        <p:spPr>
          <a:xfrm>
            <a:off x="793790" y="593062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此測試確保 StorageState 機制能正確還原登入狀態，大幅提升測試效率並減少對真實 OTP 的依賴。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3017586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0B8D1-3690-5982-3FA1-FB96B48E4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FF44497-2B56-C5C5-754A-B40CC364EB82}"/>
              </a:ext>
            </a:extLst>
          </p:cNvPr>
          <p:cNvSpPr/>
          <p:nvPr/>
        </p:nvSpPr>
        <p:spPr>
          <a:xfrm>
            <a:off x="793790" y="1058585"/>
            <a:ext cx="81492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手動測試：真實 OTP 與社群登入</a:t>
            </a:r>
            <a:endParaRPr lang="en-US" sz="4450" dirty="0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4F9CC2CB-1843-8B77-CDE1-DBE06525E1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2220992"/>
            <a:ext cx="566976" cy="566976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8DBB94A7-DBD4-C9E1-833D-12E2EFF05C77}"/>
              </a:ext>
            </a:extLst>
          </p:cNvPr>
          <p:cNvSpPr/>
          <p:nvPr/>
        </p:nvSpPr>
        <p:spPr>
          <a:xfrm>
            <a:off x="793790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手機號碼登入</a:t>
            </a:r>
            <a:endParaRPr lang="en-US" sz="22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2EDAA99-7AEA-1161-179B-49FB5AB9C559}"/>
              </a:ext>
            </a:extLst>
          </p:cNvPr>
          <p:cNvSpPr/>
          <p:nvPr/>
        </p:nvSpPr>
        <p:spPr>
          <a:xfrm>
            <a:off x="793790" y="3561874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使用真實手機號碼接收 OTP，驗證完整登入流程。測試時使用 page.pause() 讓測試人員手動輸入驗證碼。</a:t>
            </a:r>
            <a:endParaRPr lang="en-US" sz="175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91D7A81B-C44B-5703-3DBE-61CBFDC6F6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2220992"/>
            <a:ext cx="566976" cy="566976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2013F34C-0DC4-CAC0-5FA0-0C90DFAECC61}"/>
              </a:ext>
            </a:extLst>
          </p:cNvPr>
          <p:cNvSpPr/>
          <p:nvPr/>
        </p:nvSpPr>
        <p:spPr>
          <a:xfrm>
            <a:off x="5235893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LINE 登入</a:t>
            </a:r>
            <a:endParaRPr lang="en-US" sz="22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A50F22C5-15B5-F71D-D91E-F8A90524FB5C}"/>
              </a:ext>
            </a:extLst>
          </p:cNvPr>
          <p:cNvSpPr/>
          <p:nvPr/>
        </p:nvSpPr>
        <p:spPr>
          <a:xfrm>
            <a:off x="5235893" y="35618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透過 LINE 授權頁面完成登入，驗證第三方登入整合的正確性與導向流程。</a:t>
            </a:r>
            <a:endParaRPr lang="en-US" sz="1750" dirty="0"/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2408FD89-4108-1670-B9D0-1B1414CB625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2220992"/>
            <a:ext cx="566976" cy="566976"/>
          </a:xfrm>
          <a:prstGeom prst="rect">
            <a:avLst/>
          </a:prstGeom>
        </p:spPr>
      </p:pic>
      <p:sp>
        <p:nvSpPr>
          <p:cNvPr id="10" name="Text 5">
            <a:extLst>
              <a:ext uri="{FF2B5EF4-FFF2-40B4-BE49-F238E27FC236}">
                <a16:creationId xmlns:a16="http://schemas.microsoft.com/office/drawing/2014/main" id="{4889FF37-16A3-7B50-8A91-77191323DD92}"/>
              </a:ext>
            </a:extLst>
          </p:cNvPr>
          <p:cNvSpPr/>
          <p:nvPr/>
        </p:nvSpPr>
        <p:spPr>
          <a:xfrm>
            <a:off x="9677995" y="30714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Facebook 登入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36F48DB5-9089-DD27-2FA1-A66B8B3B1EA3}"/>
              </a:ext>
            </a:extLst>
          </p:cNvPr>
          <p:cNvSpPr/>
          <p:nvPr/>
        </p:nvSpPr>
        <p:spPr>
          <a:xfrm>
            <a:off x="9677995" y="3561874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Facebook 帳號授權，確認授權成功後能正確導回網站並完成登入。</a:t>
            </a:r>
            <a:endParaRPr lang="en-US" sz="1750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DFBFDD22-6327-B873-9D0C-2A50C6DCD31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104209"/>
            <a:ext cx="566976" cy="566976"/>
          </a:xfrm>
          <a:prstGeom prst="rect">
            <a:avLst/>
          </a:prstGeom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4C4591D3-D923-BC12-DFF5-D56A9C9EF857}"/>
              </a:ext>
            </a:extLst>
          </p:cNvPr>
          <p:cNvSpPr/>
          <p:nvPr/>
        </p:nvSpPr>
        <p:spPr>
          <a:xfrm>
            <a:off x="793790" y="5954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Google 登入</a:t>
            </a:r>
            <a:endParaRPr lang="en-US" sz="2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1B74CBB-7C69-30E6-F39F-B202DECF2444}"/>
              </a:ext>
            </a:extLst>
          </p:cNvPr>
          <p:cNvSpPr/>
          <p:nvPr/>
        </p:nvSpPr>
        <p:spPr>
          <a:xfrm>
            <a:off x="793790" y="644509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透過 Google OAuth 流程驗證登入功能，確保會員資訊正確顯示。</a:t>
            </a:r>
            <a:endParaRPr lang="en-US" sz="1750" dirty="0"/>
          </a:p>
        </p:txBody>
      </p:sp>
      <p:pic>
        <p:nvPicPr>
          <p:cNvPr id="15" name="Image 4" descr="preencoded.png">
            <a:extLst>
              <a:ext uri="{FF2B5EF4-FFF2-40B4-BE49-F238E27FC236}">
                <a16:creationId xmlns:a16="http://schemas.microsoft.com/office/drawing/2014/main" id="{6360CCDE-A285-1E13-17A7-08564FAFB15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235893" y="5104209"/>
            <a:ext cx="566976" cy="566976"/>
          </a:xfrm>
          <a:prstGeom prst="rect">
            <a:avLst/>
          </a:prstGeom>
        </p:spPr>
      </p:pic>
      <p:sp>
        <p:nvSpPr>
          <p:cNvPr id="16" name="Text 9">
            <a:extLst>
              <a:ext uri="{FF2B5EF4-FFF2-40B4-BE49-F238E27FC236}">
                <a16:creationId xmlns:a16="http://schemas.microsoft.com/office/drawing/2014/main" id="{7C8D2C80-B1C3-60E8-EA47-E4CB04C01D6E}"/>
              </a:ext>
            </a:extLst>
          </p:cNvPr>
          <p:cNvSpPr/>
          <p:nvPr/>
        </p:nvSpPr>
        <p:spPr>
          <a:xfrm>
            <a:off x="5235893" y="59546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Email 登入</a:t>
            </a:r>
            <a:endParaRPr lang="en-US" sz="2200" dirty="0"/>
          </a:p>
        </p:txBody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A30EC33D-FA74-D448-BE4A-89E31CB03401}"/>
              </a:ext>
            </a:extLst>
          </p:cNvPr>
          <p:cNvSpPr/>
          <p:nvPr/>
        </p:nvSpPr>
        <p:spPr>
          <a:xfrm>
            <a:off x="5235893" y="6445091"/>
            <a:ext cx="41586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輸入 Email 並接收驗證碼，驗證 Email 登入的完整流程與驗證機制。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543388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345531"/>
            <a:ext cx="7556421" cy="283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 E2E 測試案例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552104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全面驗證購物車功能，從商品加入到狀態持久化，確保購物流程順暢無誤。</a:t>
            </a:r>
            <a:endParaRPr lang="en-US" sz="1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7495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購物車測試案例總覽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37366"/>
            <a:ext cx="13042821" cy="3917156"/>
          </a:xfrm>
          <a:prstGeom prst="roundRect">
            <a:avLst>
              <a:gd name="adj" fmla="val 869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2744986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28462" y="288869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測試編號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3637717" y="2888694"/>
            <a:ext cx="54011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測試名稱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500116" y="288869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類型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2105561" y="2888694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優先級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395305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028462" y="3539014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TC-CART-0001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37717" y="3539014"/>
            <a:ext cx="54011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從商品頁加入購物車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500116" y="3539014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自動化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2105561" y="3539014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P0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801410" y="4045625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462" y="418933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TC-CART-0002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3637717" y="4189333"/>
            <a:ext cx="54011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重複加入同一商品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500116" y="418933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自動化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12105561" y="4189333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1B5F39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P0</a:t>
            </a:r>
            <a:endParaRPr lang="en-US" sz="1750" dirty="0"/>
          </a:p>
        </p:txBody>
      </p:sp>
      <p:sp>
        <p:nvSpPr>
          <p:cNvPr id="19" name="Shape 17"/>
          <p:cNvSpPr/>
          <p:nvPr/>
        </p:nvSpPr>
        <p:spPr>
          <a:xfrm>
            <a:off x="801410" y="4695944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28462" y="483965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TC-CART-0003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3637717" y="4839653"/>
            <a:ext cx="54011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加入多個不同商品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9500116" y="4839653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自動化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12105561" y="4839653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P1</a:t>
            </a:r>
            <a:endParaRPr lang="en-US" sz="1750" dirty="0"/>
          </a:p>
        </p:txBody>
      </p:sp>
      <p:sp>
        <p:nvSpPr>
          <p:cNvPr id="24" name="Shape 22"/>
          <p:cNvSpPr/>
          <p:nvPr/>
        </p:nvSpPr>
        <p:spPr>
          <a:xfrm>
            <a:off x="801410" y="534626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28462" y="5489972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TC-CART-0004</a:t>
            </a:r>
            <a:endParaRPr lang="en-US" sz="1750" dirty="0"/>
          </a:p>
        </p:txBody>
      </p:sp>
      <p:sp>
        <p:nvSpPr>
          <p:cNvPr id="26" name="Text 24"/>
          <p:cNvSpPr/>
          <p:nvPr/>
        </p:nvSpPr>
        <p:spPr>
          <a:xfrm>
            <a:off x="3637717" y="5489972"/>
            <a:ext cx="54011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登入後購物車狀態保留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9500116" y="5489972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自動化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12105561" y="5489972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P1</a:t>
            </a:r>
            <a:endParaRPr lang="en-US" sz="1750" dirty="0"/>
          </a:p>
        </p:txBody>
      </p:sp>
      <p:sp>
        <p:nvSpPr>
          <p:cNvPr id="29" name="Shape 27"/>
          <p:cNvSpPr/>
          <p:nvPr/>
        </p:nvSpPr>
        <p:spPr>
          <a:xfrm>
            <a:off x="801410" y="599658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28462" y="6140291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TC-CART-0005</a:t>
            </a:r>
            <a:endParaRPr lang="en-US" sz="1750" dirty="0"/>
          </a:p>
        </p:txBody>
      </p:sp>
      <p:sp>
        <p:nvSpPr>
          <p:cNvPr id="31" name="Text 29"/>
          <p:cNvSpPr/>
          <p:nvPr/>
        </p:nvSpPr>
        <p:spPr>
          <a:xfrm>
            <a:off x="3637717" y="6140291"/>
            <a:ext cx="540115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未登入加入購物車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9500116" y="6140291"/>
            <a:ext cx="214419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自動化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2105561" y="6140291"/>
            <a:ext cx="14966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P0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4486"/>
            <a:ext cx="936819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TC-CART-0001：從商品頁加入購物車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802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測試目標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461385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驗證會員從商品頁選擇規格並成功加入購物車的完整流程。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14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前置條件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4995148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使用者已登入（storageState）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437346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購物車為空狀態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879544"/>
            <a:ext cx="48850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首頁至少有一個商品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6239828" y="288024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驗證點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239828" y="3461385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 icon 正確顯示商品數量為 1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6239828" y="390358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2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點擊購物車後商品列表出現該商品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6239828" y="434578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3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商品名稱、規格、價格顯示正確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6239828" y="478797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Font typeface="+mj-lt"/>
              <a:buAutoNum type="arabicPeriod" startAt="4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彈窗正確關閉不影響後續操作</a:t>
            </a:r>
            <a:endParaRPr lang="en-US" sz="1750" dirty="0"/>
          </a:p>
        </p:txBody>
      </p:sp>
      <p:sp>
        <p:nvSpPr>
          <p:cNvPr id="14" name="Shape 12"/>
          <p:cNvSpPr/>
          <p:nvPr/>
        </p:nvSpPr>
        <p:spPr>
          <a:xfrm>
            <a:off x="6239828" y="5406033"/>
            <a:ext cx="7604284" cy="963811"/>
          </a:xfrm>
          <a:prstGeom prst="roundRect">
            <a:avLst>
              <a:gd name="adj" fmla="val 3530"/>
            </a:avLst>
          </a:prstGeom>
          <a:solidFill>
            <a:srgbClr val="C3EED6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6642" y="5750123"/>
            <a:ext cx="283488" cy="22681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976943" y="5689521"/>
            <a:ext cx="664035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預期結果</a:t>
            </a:r>
            <a:r>
              <a:rPr lang="en-US" sz="17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：購物車商品數量為 1，測試狀態 PASS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65333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TC-CART-0001：測試步驟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清空購物車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執行 clearCart() 確保測試環境乾淨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進入首頁並選擇商品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導航至首頁，點擊第一個商品項目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選擇規格並加入購物車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執行 selectSpecsAndAddToCart() 完成加入動作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關閉彈窗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closePopup() 避免擋住購物車按鈕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Alice Light" pitchFamily="34" charset="0"/>
                <a:ea typeface="Alice Light" pitchFamily="34" charset="-122"/>
                <a:cs typeface="Alic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1B5F39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驗證購物車數量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執行 verifyItemCount(1) 確認商品已成功加入</a:t>
            </a:r>
            <a:endParaRPr lang="en-US" sz="1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9355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346966"/>
            <a:ext cx="8732520" cy="673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TC-CART-0002 &amp; 0003：多商品測試</a:t>
            </a:r>
            <a:endParaRPr lang="en-US" sz="4200" dirty="0"/>
          </a:p>
        </p:txBody>
      </p:sp>
      <p:sp>
        <p:nvSpPr>
          <p:cNvPr id="4" name="Shape 1"/>
          <p:cNvSpPr/>
          <p:nvPr/>
        </p:nvSpPr>
        <p:spPr>
          <a:xfrm>
            <a:off x="793790" y="4666655"/>
            <a:ext cx="6413659" cy="2909411"/>
          </a:xfrm>
          <a:prstGeom prst="roundRect">
            <a:avLst>
              <a:gd name="adj" fmla="val 5029"/>
            </a:avLst>
          </a:prstGeom>
          <a:solidFill>
            <a:srgbClr val="FCFBF8"/>
          </a:solidFill>
          <a:ln/>
        </p:spPr>
      </p:sp>
      <p:sp>
        <p:nvSpPr>
          <p:cNvPr id="5" name="Shape 2"/>
          <p:cNvSpPr/>
          <p:nvPr/>
        </p:nvSpPr>
        <p:spPr>
          <a:xfrm>
            <a:off x="793790" y="4636175"/>
            <a:ext cx="6413659" cy="121920"/>
          </a:xfrm>
          <a:prstGeom prst="roundRect">
            <a:avLst>
              <a:gd name="adj" fmla="val 26512"/>
            </a:avLst>
          </a:prstGeom>
          <a:solidFill>
            <a:srgbClr val="1B5F39"/>
          </a:solidFill>
          <a:ln/>
        </p:spPr>
      </p:sp>
      <p:sp>
        <p:nvSpPr>
          <p:cNvPr id="6" name="Shape 3"/>
          <p:cNvSpPr/>
          <p:nvPr/>
        </p:nvSpPr>
        <p:spPr>
          <a:xfrm>
            <a:off x="3677424" y="4343519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1B5F39"/>
          </a:solidFill>
          <a:ln/>
        </p:spPr>
      </p:sp>
      <p:sp>
        <p:nvSpPr>
          <p:cNvPr id="7" name="Text 4"/>
          <p:cNvSpPr/>
          <p:nvPr/>
        </p:nvSpPr>
        <p:spPr>
          <a:xfrm>
            <a:off x="3871377" y="4505087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39654" y="520529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重複加入同一商品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039654" y="5671066"/>
            <a:ext cx="592193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測試目標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：驗證重複加入時數量正確累加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1039654" y="6145054"/>
            <a:ext cx="592193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 icon 顯示總數量為 2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1039654" y="6565225"/>
            <a:ext cx="592193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商品項目的 input value 為 2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039654" y="6985397"/>
            <a:ext cx="5921931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不會出現重複的商品項目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422833" y="4666655"/>
            <a:ext cx="6413778" cy="2909411"/>
          </a:xfrm>
          <a:prstGeom prst="roundRect">
            <a:avLst>
              <a:gd name="adj" fmla="val 5029"/>
            </a:avLst>
          </a:prstGeom>
          <a:solidFill>
            <a:srgbClr val="FCFBF8"/>
          </a:solidFill>
          <a:ln/>
        </p:spPr>
      </p:sp>
      <p:sp>
        <p:nvSpPr>
          <p:cNvPr id="14" name="Shape 11"/>
          <p:cNvSpPr/>
          <p:nvPr/>
        </p:nvSpPr>
        <p:spPr>
          <a:xfrm>
            <a:off x="7422833" y="4636175"/>
            <a:ext cx="6413778" cy="121920"/>
          </a:xfrm>
          <a:prstGeom prst="roundRect">
            <a:avLst>
              <a:gd name="adj" fmla="val 26512"/>
            </a:avLst>
          </a:prstGeom>
          <a:solidFill>
            <a:srgbClr val="1B5F39"/>
          </a:solidFill>
          <a:ln/>
        </p:spPr>
      </p:sp>
      <p:sp>
        <p:nvSpPr>
          <p:cNvPr id="15" name="Shape 12"/>
          <p:cNvSpPr/>
          <p:nvPr/>
        </p:nvSpPr>
        <p:spPr>
          <a:xfrm>
            <a:off x="10306467" y="4343519"/>
            <a:ext cx="646390" cy="646390"/>
          </a:xfrm>
          <a:prstGeom prst="roundRect">
            <a:avLst>
              <a:gd name="adj" fmla="val 141463"/>
            </a:avLst>
          </a:prstGeom>
          <a:solidFill>
            <a:srgbClr val="1B5F39"/>
          </a:solidFill>
          <a:ln/>
        </p:spPr>
      </p:sp>
      <p:sp>
        <p:nvSpPr>
          <p:cNvPr id="16" name="Text 13"/>
          <p:cNvSpPr/>
          <p:nvPr/>
        </p:nvSpPr>
        <p:spPr>
          <a:xfrm>
            <a:off x="10500420" y="4505087"/>
            <a:ext cx="258485" cy="3231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668697" y="5205293"/>
            <a:ext cx="2693551" cy="336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加入多個不同商品</a:t>
            </a:r>
            <a:endParaRPr lang="en-US" sz="2100" dirty="0"/>
          </a:p>
        </p:txBody>
      </p:sp>
      <p:sp>
        <p:nvSpPr>
          <p:cNvPr id="18" name="Text 15"/>
          <p:cNvSpPr/>
          <p:nvPr/>
        </p:nvSpPr>
        <p:spPr>
          <a:xfrm>
            <a:off x="7668697" y="5671066"/>
            <a:ext cx="592205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測試目標</a:t>
            </a: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：驗證不同商品正確顯示</a:t>
            </a:r>
            <a:endParaRPr lang="en-US" sz="1650" dirty="0"/>
          </a:p>
        </p:txBody>
      </p:sp>
      <p:sp>
        <p:nvSpPr>
          <p:cNvPr id="19" name="Text 16"/>
          <p:cNvSpPr/>
          <p:nvPr/>
        </p:nvSpPr>
        <p:spPr>
          <a:xfrm>
            <a:off x="7668697" y="6145054"/>
            <a:ext cx="592205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購物車顯示 3 個不同商品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7668697" y="6565225"/>
            <a:ext cx="592205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每個商品資訊顯示正確</a:t>
            </a:r>
            <a:endParaRPr lang="en-US" sz="1650" dirty="0"/>
          </a:p>
        </p:txBody>
      </p:sp>
      <p:sp>
        <p:nvSpPr>
          <p:cNvPr id="21" name="Text 18"/>
          <p:cNvSpPr/>
          <p:nvPr/>
        </p:nvSpPr>
        <p:spPr>
          <a:xfrm>
            <a:off x="7668697" y="6985397"/>
            <a:ext cx="5922050" cy="344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總數量計算準確</a:t>
            </a:r>
            <a:endParaRPr lang="en-US" sz="16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82986"/>
            <a:ext cx="1089445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TC-CART-0004 &amp; 0005：持久化與訪客模式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5874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登入後購物車狀態保留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793790" y="391084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測試購物車持久化機制，確保重新整理後資料不遺失。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778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加入商品後重新整理頁面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9200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驗證購物車數量保持不變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3622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商品資料完整保留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8044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StorageState 正確運作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3258741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未登入加入購物車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7599521" y="391084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驗證訪客模式下的購物車功能正常運作。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47782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不使用 storageState 進行測試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99521" y="492002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購物車功能正常可用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7599521" y="5362218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不強制跳出登入彈窗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7599521" y="580441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資料儲存在 localStorage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241" y="541258"/>
            <a:ext cx="4182666" cy="522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2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四大核心等待策略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787241" y="1398627"/>
            <a:ext cx="6444258" cy="3063121"/>
          </a:xfrm>
          <a:prstGeom prst="roundRect">
            <a:avLst>
              <a:gd name="adj" fmla="val 819"/>
            </a:avLst>
          </a:prstGeom>
          <a:solidFill>
            <a:srgbClr val="F0EDE6"/>
          </a:solidFill>
          <a:ln/>
        </p:spPr>
      </p:sp>
      <p:sp>
        <p:nvSpPr>
          <p:cNvPr id="4" name="Shape 2"/>
          <p:cNvSpPr/>
          <p:nvPr/>
        </p:nvSpPr>
        <p:spPr>
          <a:xfrm>
            <a:off x="954524" y="1565910"/>
            <a:ext cx="501848" cy="501848"/>
          </a:xfrm>
          <a:prstGeom prst="roundRect">
            <a:avLst>
              <a:gd name="adj" fmla="val 18218834"/>
            </a:avLst>
          </a:prstGeom>
          <a:solidFill>
            <a:srgbClr val="1B5F39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518" y="1703903"/>
            <a:ext cx="225862" cy="2258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54524" y="2235041"/>
            <a:ext cx="2091333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waitForSelector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54524" y="2596872"/>
            <a:ext cx="6109692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等待特定元素出現在 DOM 中並達到指定狀態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54524" y="3052643"/>
            <a:ext cx="6109692" cy="786051"/>
          </a:xfrm>
          <a:prstGeom prst="roundRect">
            <a:avLst>
              <a:gd name="adj" fmla="val 3193"/>
            </a:avLst>
          </a:prstGeom>
          <a:solidFill>
            <a:srgbClr val="EFEEEB"/>
          </a:solidFill>
          <a:ln/>
        </p:spPr>
      </p:sp>
      <p:sp>
        <p:nvSpPr>
          <p:cNvPr id="9" name="Shape 6"/>
          <p:cNvSpPr/>
          <p:nvPr/>
        </p:nvSpPr>
        <p:spPr>
          <a:xfrm>
            <a:off x="946190" y="3052643"/>
            <a:ext cx="6126361" cy="786051"/>
          </a:xfrm>
          <a:prstGeom prst="roundRect">
            <a:avLst>
              <a:gd name="adj" fmla="val 3193"/>
            </a:avLst>
          </a:prstGeom>
          <a:solidFill>
            <a:srgbClr val="EFEEEB"/>
          </a:solidFill>
          <a:ln/>
        </p:spPr>
      </p:sp>
      <p:sp>
        <p:nvSpPr>
          <p:cNvPr id="10" name="Text 7"/>
          <p:cNvSpPr/>
          <p:nvPr/>
        </p:nvSpPr>
        <p:spPr>
          <a:xfrm>
            <a:off x="1113473" y="3178016"/>
            <a:ext cx="5791795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page.waitForSelector('.cart-badge',   { state: 'visible' });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54524" y="4026813"/>
            <a:ext cx="6109692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最佳使用時機：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等按鈕出現、等彈窗顯示、等動態內容渲染完成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398782" y="1398627"/>
            <a:ext cx="6444377" cy="3063121"/>
          </a:xfrm>
          <a:prstGeom prst="roundRect">
            <a:avLst>
              <a:gd name="adj" fmla="val 819"/>
            </a:avLst>
          </a:prstGeom>
          <a:solidFill>
            <a:srgbClr val="F0EDE6"/>
          </a:solidFill>
          <a:ln/>
        </p:spPr>
      </p:sp>
      <p:sp>
        <p:nvSpPr>
          <p:cNvPr id="13" name="Shape 10"/>
          <p:cNvSpPr/>
          <p:nvPr/>
        </p:nvSpPr>
        <p:spPr>
          <a:xfrm>
            <a:off x="7566065" y="1565910"/>
            <a:ext cx="501848" cy="501848"/>
          </a:xfrm>
          <a:prstGeom prst="roundRect">
            <a:avLst>
              <a:gd name="adj" fmla="val 18218834"/>
            </a:avLst>
          </a:prstGeom>
          <a:solidFill>
            <a:srgbClr val="1B5F39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04058" y="1703903"/>
            <a:ext cx="225862" cy="2258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66065" y="2235041"/>
            <a:ext cx="2091333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waitForLoadState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566065" y="2596872"/>
            <a:ext cx="6109811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等待頁面載入狀態達到特定階段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566065" y="3052643"/>
            <a:ext cx="6109811" cy="518398"/>
          </a:xfrm>
          <a:prstGeom prst="roundRect">
            <a:avLst>
              <a:gd name="adj" fmla="val 4841"/>
            </a:avLst>
          </a:prstGeom>
          <a:solidFill>
            <a:srgbClr val="EFEEEB"/>
          </a:solidFill>
          <a:ln/>
        </p:spPr>
      </p:sp>
      <p:sp>
        <p:nvSpPr>
          <p:cNvPr id="18" name="Shape 14"/>
          <p:cNvSpPr/>
          <p:nvPr/>
        </p:nvSpPr>
        <p:spPr>
          <a:xfrm>
            <a:off x="7557730" y="3052643"/>
            <a:ext cx="6126480" cy="518398"/>
          </a:xfrm>
          <a:prstGeom prst="roundRect">
            <a:avLst>
              <a:gd name="adj" fmla="val 4841"/>
            </a:avLst>
          </a:prstGeom>
          <a:solidFill>
            <a:srgbClr val="EFEEEB"/>
          </a:solidFill>
          <a:ln/>
        </p:spPr>
      </p:sp>
      <p:sp>
        <p:nvSpPr>
          <p:cNvPr id="19" name="Text 15"/>
          <p:cNvSpPr/>
          <p:nvPr/>
        </p:nvSpPr>
        <p:spPr>
          <a:xfrm>
            <a:off x="7725013" y="3178016"/>
            <a:ext cx="5791914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page.waitForLoadState('networkidle');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7566065" y="3759160"/>
            <a:ext cx="6109811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最佳使用時機：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頁面跳轉後、等待所有網路請求完成、確保頁面完全載入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787241" y="4629031"/>
            <a:ext cx="6444258" cy="3063121"/>
          </a:xfrm>
          <a:prstGeom prst="roundRect">
            <a:avLst>
              <a:gd name="adj" fmla="val 819"/>
            </a:avLst>
          </a:prstGeom>
          <a:solidFill>
            <a:srgbClr val="F0EDE6"/>
          </a:solidFill>
          <a:ln/>
        </p:spPr>
      </p:sp>
      <p:sp>
        <p:nvSpPr>
          <p:cNvPr id="22" name="Shape 18"/>
          <p:cNvSpPr/>
          <p:nvPr/>
        </p:nvSpPr>
        <p:spPr>
          <a:xfrm>
            <a:off x="954524" y="4796314"/>
            <a:ext cx="501848" cy="501848"/>
          </a:xfrm>
          <a:prstGeom prst="roundRect">
            <a:avLst>
              <a:gd name="adj" fmla="val 18218834"/>
            </a:avLst>
          </a:prstGeom>
          <a:solidFill>
            <a:srgbClr val="1B5F39"/>
          </a:solidFill>
          <a:ln/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2518" y="4934307"/>
            <a:ext cx="225862" cy="22586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54524" y="5465445"/>
            <a:ext cx="2091333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waitForResponse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954524" y="5827276"/>
            <a:ext cx="6109692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等待特定 API 請求回應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954524" y="6283047"/>
            <a:ext cx="6109692" cy="786051"/>
          </a:xfrm>
          <a:prstGeom prst="roundRect">
            <a:avLst>
              <a:gd name="adj" fmla="val 3193"/>
            </a:avLst>
          </a:prstGeom>
          <a:solidFill>
            <a:srgbClr val="EFEEEB"/>
          </a:solidFill>
          <a:ln/>
        </p:spPr>
      </p:sp>
      <p:sp>
        <p:nvSpPr>
          <p:cNvPr id="27" name="Shape 22"/>
          <p:cNvSpPr/>
          <p:nvPr/>
        </p:nvSpPr>
        <p:spPr>
          <a:xfrm>
            <a:off x="946190" y="6283047"/>
            <a:ext cx="6126361" cy="786051"/>
          </a:xfrm>
          <a:prstGeom prst="roundRect">
            <a:avLst>
              <a:gd name="adj" fmla="val 3193"/>
            </a:avLst>
          </a:prstGeom>
          <a:solidFill>
            <a:srgbClr val="EFEEEB"/>
          </a:solidFill>
          <a:ln/>
        </p:spPr>
      </p:sp>
      <p:sp>
        <p:nvSpPr>
          <p:cNvPr id="28" name="Text 23"/>
          <p:cNvSpPr/>
          <p:nvPr/>
        </p:nvSpPr>
        <p:spPr>
          <a:xfrm>
            <a:off x="1113473" y="6408420"/>
            <a:ext cx="5791795" cy="535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page.waitForResponse(  resp =&gt; resp.url().includes('/api/cart'));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954524" y="7257217"/>
            <a:ext cx="6109692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最佳使用時機：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加入購物車操作、套用優惠券、任何需要確認後端回應的動作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7398782" y="4629031"/>
            <a:ext cx="6444377" cy="3063121"/>
          </a:xfrm>
          <a:prstGeom prst="roundRect">
            <a:avLst>
              <a:gd name="adj" fmla="val 819"/>
            </a:avLst>
          </a:prstGeom>
          <a:solidFill>
            <a:srgbClr val="F0EDE6"/>
          </a:solidFill>
          <a:ln/>
        </p:spPr>
      </p:sp>
      <p:sp>
        <p:nvSpPr>
          <p:cNvPr id="31" name="Shape 26"/>
          <p:cNvSpPr/>
          <p:nvPr/>
        </p:nvSpPr>
        <p:spPr>
          <a:xfrm>
            <a:off x="7566065" y="4796314"/>
            <a:ext cx="501848" cy="501848"/>
          </a:xfrm>
          <a:prstGeom prst="roundRect">
            <a:avLst>
              <a:gd name="adj" fmla="val 18218834"/>
            </a:avLst>
          </a:prstGeom>
          <a:solidFill>
            <a:srgbClr val="1B5F39"/>
          </a:solidFill>
          <a:ln/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04058" y="4934307"/>
            <a:ext cx="225862" cy="22586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566065" y="5465445"/>
            <a:ext cx="2091333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waitForTimeout</a:t>
            </a:r>
            <a:endParaRPr lang="en-US" sz="1600" dirty="0"/>
          </a:p>
        </p:txBody>
      </p:sp>
      <p:sp>
        <p:nvSpPr>
          <p:cNvPr id="34" name="Text 28"/>
          <p:cNvSpPr/>
          <p:nvPr/>
        </p:nvSpPr>
        <p:spPr>
          <a:xfrm>
            <a:off x="7566065" y="5827276"/>
            <a:ext cx="6109811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強制等待固定時間（謹慎使用）</a:t>
            </a:r>
            <a:endParaRPr lang="en-US" sz="1300" dirty="0"/>
          </a:p>
        </p:txBody>
      </p:sp>
      <p:sp>
        <p:nvSpPr>
          <p:cNvPr id="35" name="Shape 29"/>
          <p:cNvSpPr/>
          <p:nvPr/>
        </p:nvSpPr>
        <p:spPr>
          <a:xfrm>
            <a:off x="7566065" y="6283047"/>
            <a:ext cx="6109811" cy="518398"/>
          </a:xfrm>
          <a:prstGeom prst="roundRect">
            <a:avLst>
              <a:gd name="adj" fmla="val 4841"/>
            </a:avLst>
          </a:prstGeom>
          <a:solidFill>
            <a:srgbClr val="EFEEEB"/>
          </a:solidFill>
          <a:ln/>
        </p:spPr>
      </p:sp>
      <p:sp>
        <p:nvSpPr>
          <p:cNvPr id="36" name="Shape 30"/>
          <p:cNvSpPr/>
          <p:nvPr/>
        </p:nvSpPr>
        <p:spPr>
          <a:xfrm>
            <a:off x="7557730" y="6283047"/>
            <a:ext cx="6126480" cy="518398"/>
          </a:xfrm>
          <a:prstGeom prst="roundRect">
            <a:avLst>
              <a:gd name="adj" fmla="val 4841"/>
            </a:avLst>
          </a:prstGeom>
          <a:solidFill>
            <a:srgbClr val="EFEEEB"/>
          </a:solidFill>
          <a:ln/>
        </p:spPr>
      </p:sp>
      <p:sp>
        <p:nvSpPr>
          <p:cNvPr id="37" name="Text 31"/>
          <p:cNvSpPr/>
          <p:nvPr/>
        </p:nvSpPr>
        <p:spPr>
          <a:xfrm>
            <a:off x="7725013" y="6408420"/>
            <a:ext cx="5791914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await page.waitForTimeout(500); // 0.5 秒</a:t>
            </a:r>
            <a:endParaRPr lang="en-US" sz="1300" dirty="0"/>
          </a:p>
        </p:txBody>
      </p:sp>
      <p:sp>
        <p:nvSpPr>
          <p:cNvPr id="38" name="Text 32"/>
          <p:cNvSpPr/>
          <p:nvPr/>
        </p:nvSpPr>
        <p:spPr>
          <a:xfrm>
            <a:off x="7566065" y="6989564"/>
            <a:ext cx="6109811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最佳使用時機：</a:t>
            </a:r>
            <a:r>
              <a:rPr lang="en-US" sz="13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動畫過渡、資料載入速度不固定、API 回應時間不穩定時的緩衝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93939" y="820270"/>
            <a:ext cx="4288447" cy="604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6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實戰挑戰：自動處理隨機彈窗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93939" y="1907913"/>
            <a:ext cx="1979893" cy="36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問題情境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3939" y="2463692"/>
            <a:ext cx="6511365" cy="30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電商網站經常會隨機跳出促銷彈窗（例如雙十一活動、新用戶優惠等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），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這些彈窗會</a:t>
            </a: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3939" y="3162340"/>
            <a:ext cx="6511365" cy="30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阻擋測試流程中的元素互動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93939" y="3539464"/>
            <a:ext cx="6511365" cy="30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導致點擊事件失敗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93939" y="3916588"/>
            <a:ext cx="6511365" cy="30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造成測試結果不穩定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93939" y="4293711"/>
            <a:ext cx="6511365" cy="30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出現時機無法預測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0517" y="5150889"/>
            <a:ext cx="1979893" cy="362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28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解決方案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0517" y="5706667"/>
            <a:ext cx="6511365" cy="30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在 BasePage 中建立統一的彈窗處理機制：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3939" y="6195659"/>
            <a:ext cx="6511365" cy="996086"/>
          </a:xfrm>
          <a:prstGeom prst="roundRect">
            <a:avLst>
              <a:gd name="adj" fmla="val 1899"/>
            </a:avLst>
          </a:prstGeom>
          <a:solidFill>
            <a:srgbClr val="EFEEEB"/>
          </a:solidFill>
          <a:ln/>
        </p:spPr>
      </p:sp>
      <p:sp>
        <p:nvSpPr>
          <p:cNvPr id="13" name="Shape 11"/>
          <p:cNvSpPr/>
          <p:nvPr/>
        </p:nvSpPr>
        <p:spPr>
          <a:xfrm>
            <a:off x="787360" y="6195659"/>
            <a:ext cx="6524522" cy="996086"/>
          </a:xfrm>
          <a:prstGeom prst="roundRect">
            <a:avLst>
              <a:gd name="adj" fmla="val 1899"/>
            </a:avLst>
          </a:prstGeom>
          <a:solidFill>
            <a:srgbClr val="EFEEEB"/>
          </a:solidFill>
          <a:ln/>
        </p:spPr>
      </p:sp>
      <p:sp>
        <p:nvSpPr>
          <p:cNvPr id="14" name="Text 12"/>
          <p:cNvSpPr/>
          <p:nvPr/>
        </p:nvSpPr>
        <p:spPr>
          <a:xfrm>
            <a:off x="919288" y="6239713"/>
            <a:ext cx="6260665" cy="807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async closePopup() {  const popup = await page.$('.modal-close');  if (popup) await popup.click();}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3939" y="7409131"/>
            <a:ext cx="6511365" cy="30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在所有關鍵互動前後自動執行檢查，確保彈窗不會干擾測試執行。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34941" y="1932007"/>
            <a:ext cx="6511365" cy="3218882"/>
          </a:xfrm>
          <a:prstGeom prst="roundRect">
            <a:avLst>
              <a:gd name="adj" fmla="val 1027"/>
            </a:avLst>
          </a:prstGeom>
          <a:solidFill>
            <a:srgbClr val="C3EED6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868" y="2190442"/>
            <a:ext cx="206236" cy="24165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105033" y="2173488"/>
            <a:ext cx="1649891" cy="301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💡 最佳實踐建議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8105033" y="2668763"/>
            <a:ext cx="5909345" cy="30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將彈窗處理邏輯封裝在 BasePage 中，讓所有 Page Object </a:t>
            </a:r>
            <a:r>
              <a:rPr lang="en-US" sz="1600" dirty="0" err="1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都能</a:t>
            </a:r>
            <a:endParaRPr lang="en-US" sz="1600" dirty="0">
              <a:solidFill>
                <a:srgbClr val="000000"/>
              </a:solidFill>
              <a:latin typeface="Lora" pitchFamily="34" charset="0"/>
              <a:ea typeface="Lora" pitchFamily="34" charset="-122"/>
              <a:cs typeface="Lora" pitchFamily="34" charset="-120"/>
            </a:endParaRPr>
          </a:p>
          <a:p>
            <a:pPr marL="0" indent="0" algn="l">
              <a:lnSpc>
                <a:spcPct val="150000"/>
              </a:lnSpc>
              <a:buNone/>
            </a:pPr>
            <a:r>
              <a:rPr lang="en-US" sz="1600" dirty="0" err="1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繼承使用。這樣可以</a:t>
            </a: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105033" y="3596010"/>
            <a:ext cx="5909345" cy="30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統一處理各種彈窗類型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8105033" y="3973133"/>
            <a:ext cx="5909345" cy="30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減少重複程式碼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105033" y="4350256"/>
            <a:ext cx="5909345" cy="30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提升測試可維護性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105033" y="4727380"/>
            <a:ext cx="5909345" cy="30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60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降低測試失敗率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594479"/>
            <a:ext cx="476202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為什麼等待策略如此重要？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6280190" y="1328737"/>
            <a:ext cx="7556421" cy="1214557"/>
          </a:xfrm>
          <a:prstGeom prst="roundRect">
            <a:avLst>
              <a:gd name="adj" fmla="val 9034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57330" y="1328737"/>
            <a:ext cx="91440" cy="1214557"/>
          </a:xfrm>
          <a:prstGeom prst="roundRect">
            <a:avLst>
              <a:gd name="adj" fmla="val 26046"/>
            </a:avLst>
          </a:prstGeom>
          <a:solidFill>
            <a:srgbClr val="1B5F39"/>
          </a:solidFill>
          <a:ln/>
        </p:spPr>
      </p:sp>
      <p:sp>
        <p:nvSpPr>
          <p:cNvPr id="6" name="Text 3"/>
          <p:cNvSpPr/>
          <p:nvPr/>
        </p:nvSpPr>
        <p:spPr>
          <a:xfrm>
            <a:off x="6530340" y="151030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網路環境不穩定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530340" y="1853565"/>
            <a:ext cx="712470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真實使用者的網路速度各不相同，伺服器回應時間也會波動。適當的等待策略能模擬真實情境，確保測試在各種網路條件下都能穩定執行。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80190" y="2702004"/>
            <a:ext cx="7556421" cy="1214557"/>
          </a:xfrm>
          <a:prstGeom prst="roundRect">
            <a:avLst>
              <a:gd name="adj" fmla="val 9034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57330" y="2702004"/>
            <a:ext cx="91440" cy="1214557"/>
          </a:xfrm>
          <a:prstGeom prst="roundRect">
            <a:avLst>
              <a:gd name="adj" fmla="val 26046"/>
            </a:avLst>
          </a:prstGeom>
          <a:solidFill>
            <a:srgbClr val="1B5F39"/>
          </a:solidFill>
          <a:ln/>
        </p:spPr>
      </p:sp>
      <p:sp>
        <p:nvSpPr>
          <p:cNvPr id="10" name="Text 7"/>
          <p:cNvSpPr/>
          <p:nvPr/>
        </p:nvSpPr>
        <p:spPr>
          <a:xfrm>
            <a:off x="6530340" y="2883575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前端動畫與延遲載入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530340" y="3226832"/>
            <a:ext cx="712470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現代網頁大量使用 CSS 動畫、lazy loading、progressive rendering 等技術。如果不等待這些效果完成，測試很容易在元素尚未就緒時就嘗試互動，導致失敗。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280190" y="4075271"/>
            <a:ext cx="7556421" cy="1214557"/>
          </a:xfrm>
          <a:prstGeom prst="roundRect">
            <a:avLst>
              <a:gd name="adj" fmla="val 9034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7330" y="4075271"/>
            <a:ext cx="91440" cy="1214557"/>
          </a:xfrm>
          <a:prstGeom prst="roundRect">
            <a:avLst>
              <a:gd name="adj" fmla="val 26046"/>
            </a:avLst>
          </a:prstGeom>
          <a:solidFill>
            <a:srgbClr val="1B5F39"/>
          </a:solidFill>
          <a:ln/>
        </p:spPr>
      </p:sp>
      <p:sp>
        <p:nvSpPr>
          <p:cNvPr id="14" name="Text 11"/>
          <p:cNvSpPr/>
          <p:nvPr/>
        </p:nvSpPr>
        <p:spPr>
          <a:xfrm>
            <a:off x="6530340" y="4256842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資料載入時間不固定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530340" y="4600099"/>
            <a:ext cx="712470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API 回應時間受後端負載、資料庫查詢複雜度影響。適度使用 waitForTimeout 配合其他策略，可以在保持測試速度的同時提升穩定性。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280190" y="5448538"/>
            <a:ext cx="7556421" cy="1214557"/>
          </a:xfrm>
          <a:prstGeom prst="roundRect">
            <a:avLst>
              <a:gd name="adj" fmla="val 9034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57330" y="5448538"/>
            <a:ext cx="91440" cy="1214557"/>
          </a:xfrm>
          <a:prstGeom prst="roundRect">
            <a:avLst>
              <a:gd name="adj" fmla="val 26046"/>
            </a:avLst>
          </a:prstGeom>
          <a:solidFill>
            <a:srgbClr val="1B5F39"/>
          </a:solidFill>
          <a:ln/>
        </p:spPr>
      </p:sp>
      <p:sp>
        <p:nvSpPr>
          <p:cNvPr id="18" name="Text 15"/>
          <p:cNvSpPr/>
          <p:nvPr/>
        </p:nvSpPr>
        <p:spPr>
          <a:xfrm>
            <a:off x="6530340" y="5630108"/>
            <a:ext cx="198465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避免間歇性測試失敗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530340" y="5973366"/>
            <a:ext cx="7124700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沒有正確等待會導致「有時候過、有時候不過」的測試結果，這種不穩定性會嚴重降低測試價值。完善的等待策略是建立可靠測試套件的基礎。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80190" y="6921031"/>
            <a:ext cx="7556421" cy="27384"/>
          </a:xfrm>
          <a:prstGeom prst="rect">
            <a:avLst/>
          </a:prstGeom>
          <a:solidFill>
            <a:srgbClr val="2C2821">
              <a:alpha val="5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6280190" y="7126962"/>
            <a:ext cx="7556421" cy="508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關鍵要點：</a:t>
            </a:r>
            <a:r>
              <a:rPr lang="en-US" sz="12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選擇正確的等待策略不只是為了讓測試通過，更是為了確保測試結果真實反映使用者體驗。組合使用多種等待機制，才能打造出既快速又穩定的自動化測試。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6877"/>
            <a:ext cx="4252913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測試執行與報告策略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93790" y="1598652"/>
            <a:ext cx="13042821" cy="3275290"/>
          </a:xfrm>
          <a:prstGeom prst="roundRect">
            <a:avLst>
              <a:gd name="adj" fmla="val 779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1621512"/>
            <a:ext cx="680442" cy="322957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5" name="Text 3"/>
          <p:cNvSpPr/>
          <p:nvPr/>
        </p:nvSpPr>
        <p:spPr>
          <a:xfrm>
            <a:off x="1029295" y="3076813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667113" y="1791533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執行指令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1667113" y="2248614"/>
            <a:ext cx="11976616" cy="2432447"/>
          </a:xfrm>
          <a:prstGeom prst="roundRect">
            <a:avLst>
              <a:gd name="adj" fmla="val 1049"/>
            </a:avLst>
          </a:prstGeom>
          <a:solidFill>
            <a:srgbClr val="EFEEEB"/>
          </a:solidFill>
          <a:ln/>
        </p:spPr>
      </p:sp>
      <p:sp>
        <p:nvSpPr>
          <p:cNvPr id="8" name="Shape 6"/>
          <p:cNvSpPr/>
          <p:nvPr/>
        </p:nvSpPr>
        <p:spPr>
          <a:xfrm>
            <a:off x="1658660" y="2248614"/>
            <a:ext cx="11993523" cy="2432447"/>
          </a:xfrm>
          <a:prstGeom prst="roundRect">
            <a:avLst>
              <a:gd name="adj" fmla="val 1049"/>
            </a:avLst>
          </a:prstGeom>
          <a:solidFill>
            <a:srgbClr val="EFEEEB"/>
          </a:solidFill>
          <a:ln/>
        </p:spPr>
      </p:sp>
      <p:sp>
        <p:nvSpPr>
          <p:cNvPr id="9" name="Text 7"/>
          <p:cNvSpPr/>
          <p:nvPr/>
        </p:nvSpPr>
        <p:spPr>
          <a:xfrm>
            <a:off x="1828681" y="2376130"/>
            <a:ext cx="1165348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執行購物車測試npx playwright test tests/auto/cart/# 執行登入測試npx playwright test tests/auto/login/# 執行手動測試（需人工介入）npx playwright test tests/manual/ --headed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3790" y="5043964"/>
            <a:ext cx="13042821" cy="2458760"/>
          </a:xfrm>
          <a:prstGeom prst="roundRect">
            <a:avLst>
              <a:gd name="adj" fmla="val 1038"/>
            </a:avLst>
          </a:prstGeom>
          <a:solidFill>
            <a:srgbClr val="FCFBF8"/>
          </a:solidFill>
          <a:ln w="22860">
            <a:solidFill>
              <a:srgbClr val="D6D3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6650" y="5066824"/>
            <a:ext cx="680442" cy="2413040"/>
          </a:xfrm>
          <a:prstGeom prst="rect">
            <a:avLst/>
          </a:prstGeom>
          <a:solidFill>
            <a:srgbClr val="F0EDE6"/>
          </a:solidFill>
          <a:ln/>
        </p:spPr>
      </p:sp>
      <p:sp>
        <p:nvSpPr>
          <p:cNvPr id="12" name="Text 10"/>
          <p:cNvSpPr/>
          <p:nvPr/>
        </p:nvSpPr>
        <p:spPr>
          <a:xfrm>
            <a:off x="1029295" y="6113859"/>
            <a:ext cx="255151" cy="318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20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67113" y="5236845"/>
            <a:ext cx="2126456" cy="265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產生報告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667113" y="5693926"/>
            <a:ext cx="11976616" cy="1615916"/>
          </a:xfrm>
          <a:prstGeom prst="roundRect">
            <a:avLst>
              <a:gd name="adj" fmla="val 1579"/>
            </a:avLst>
          </a:prstGeom>
          <a:solidFill>
            <a:srgbClr val="EFEEEB"/>
          </a:solidFill>
          <a:ln/>
        </p:spPr>
      </p:sp>
      <p:sp>
        <p:nvSpPr>
          <p:cNvPr id="15" name="Shape 13"/>
          <p:cNvSpPr/>
          <p:nvPr/>
        </p:nvSpPr>
        <p:spPr>
          <a:xfrm>
            <a:off x="1658660" y="5693926"/>
            <a:ext cx="11993523" cy="1615916"/>
          </a:xfrm>
          <a:prstGeom prst="roundRect">
            <a:avLst>
              <a:gd name="adj" fmla="val 1579"/>
            </a:avLst>
          </a:prstGeom>
          <a:solidFill>
            <a:srgbClr val="EFEEEB"/>
          </a:solidFill>
          <a:ln/>
        </p:spPr>
      </p:sp>
      <p:sp>
        <p:nvSpPr>
          <p:cNvPr id="16" name="Text 14"/>
          <p:cNvSpPr/>
          <p:nvPr/>
        </p:nvSpPr>
        <p:spPr>
          <a:xfrm>
            <a:off x="1828681" y="5821442"/>
            <a:ext cx="11653480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# 產生 HTML 測試報告npx playwright test --reporter=html# 檢視報告npx playwright show-report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1737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測試穩定性策略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2837974"/>
            <a:ext cx="6407944" cy="1677472"/>
          </a:xfrm>
          <a:prstGeom prst="roundRect">
            <a:avLst>
              <a:gd name="adj" fmla="val 2028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3064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單一 Worker 執行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0604" y="3555206"/>
            <a:ext cx="5954316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</a:t>
            </a: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--workers=1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避免並發測試造成的資料衝突與競爭條件。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28548" y="2837974"/>
            <a:ext cx="6408063" cy="1677472"/>
          </a:xfrm>
          <a:prstGeom prst="roundRect">
            <a:avLst>
              <a:gd name="adj" fmla="val 2028"/>
            </a:avLst>
          </a:prstGeom>
          <a:solidFill>
            <a:srgbClr val="F0EDE6"/>
          </a:solidFill>
          <a:ln/>
        </p:spPr>
      </p:sp>
      <p:sp>
        <p:nvSpPr>
          <p:cNvPr id="7" name="Text 5"/>
          <p:cNvSpPr/>
          <p:nvPr/>
        </p:nvSpPr>
        <p:spPr>
          <a:xfrm>
            <a:off x="7655362" y="306478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Timeout 設定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55362" y="3555206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每個測試 timeout 設為 120 秒，確保網路較慢時也能完成測試。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742259"/>
            <a:ext cx="6407944" cy="1669852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4969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Retry 機制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20604" y="5459492"/>
            <a:ext cx="5954316" cy="370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失敗時自動重試 4 次（</a:t>
            </a:r>
            <a:r>
              <a:rPr lang="en-US" sz="1750" dirty="0">
                <a:solidFill>
                  <a:srgbClr val="2C2821"/>
                </a:solidFill>
                <a:highlight>
                  <a:srgbClr val="EFEEEB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--retries=4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），提升測試穩定性。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28548" y="4742259"/>
            <a:ext cx="6408063" cy="1669852"/>
          </a:xfrm>
          <a:prstGeom prst="roundRect">
            <a:avLst>
              <a:gd name="adj" fmla="val 2038"/>
            </a:avLst>
          </a:prstGeom>
          <a:solidFill>
            <a:srgbClr val="F0EDE6"/>
          </a:solidFill>
          <a:ln/>
        </p:spPr>
      </p:sp>
      <p:sp>
        <p:nvSpPr>
          <p:cNvPr id="13" name="Text 11"/>
          <p:cNvSpPr/>
          <p:nvPr/>
        </p:nvSpPr>
        <p:spPr>
          <a:xfrm>
            <a:off x="7655362" y="496907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等待機制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655362" y="5459492"/>
            <a:ext cx="59544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關鍵操作後加入 0.5-1 秒等待，確保 UI 元素與後端狀態同步。</a:t>
            </a:r>
            <a:endParaRPr lang="en-US" sz="1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7830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測試覆蓋率與架構</a:t>
            </a:r>
            <a:endParaRPr lang="en-US" sz="3550" dirty="0"/>
          </a:p>
        </p:txBody>
      </p:sp>
      <p:sp>
        <p:nvSpPr>
          <p:cNvPr id="3" name="Shape 1"/>
          <p:cNvSpPr/>
          <p:nvPr/>
        </p:nvSpPr>
        <p:spPr>
          <a:xfrm>
            <a:off x="793790" y="1667708"/>
            <a:ext cx="725805" cy="1900357"/>
          </a:xfrm>
          <a:prstGeom prst="roundRect">
            <a:avLst>
              <a:gd name="adj" fmla="val 360021"/>
            </a:avLst>
          </a:prstGeom>
          <a:solidFill>
            <a:srgbClr val="F0EDE6"/>
          </a:solidFill>
          <a:ln/>
        </p:spPr>
      </p:sp>
      <p:sp>
        <p:nvSpPr>
          <p:cNvPr id="4" name="Text 2"/>
          <p:cNvSpPr/>
          <p:nvPr/>
        </p:nvSpPr>
        <p:spPr>
          <a:xfrm>
            <a:off x="1020604" y="2447806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1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701046" y="1849160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測試覆蓋率目標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701046" y="2298144"/>
            <a:ext cx="121355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購物車功能: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5/5 測試案例完成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01046" y="2697242"/>
            <a:ext cx="121355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登入功能: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9/9 測試案例（含手動）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701046" y="3096339"/>
            <a:ext cx="1213556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正常流程:</a:t>
            </a: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所有主要業務流程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93790" y="3749516"/>
            <a:ext cx="725805" cy="3742253"/>
          </a:xfrm>
          <a:prstGeom prst="roundRect">
            <a:avLst>
              <a:gd name="adj" fmla="val 360021"/>
            </a:avLst>
          </a:prstGeom>
          <a:solidFill>
            <a:srgbClr val="F0EDE6"/>
          </a:solidFill>
          <a:ln/>
        </p:spPr>
      </p:sp>
      <p:sp>
        <p:nvSpPr>
          <p:cNvPr id="10" name="Text 8"/>
          <p:cNvSpPr/>
          <p:nvPr/>
        </p:nvSpPr>
        <p:spPr>
          <a:xfrm>
            <a:off x="1020604" y="5450562"/>
            <a:ext cx="272177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2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701046" y="3930968"/>
            <a:ext cx="2721888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Page Object Model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973223" y="4475202"/>
            <a:ext cx="11863387" cy="2631043"/>
          </a:xfrm>
          <a:prstGeom prst="roundRect">
            <a:avLst>
              <a:gd name="adj" fmla="val 103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80843" y="4482822"/>
            <a:ext cx="11848148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2162294" y="4599265"/>
            <a:ext cx="555736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Page Class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90178" y="4599265"/>
            <a:ext cx="555736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職責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980843" y="5005983"/>
            <a:ext cx="11848148" cy="5231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162294" y="5122426"/>
            <a:ext cx="555736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HomePage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90178" y="5122426"/>
            <a:ext cx="555736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首頁導航與商品選擇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980843" y="5529143"/>
            <a:ext cx="11848148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162294" y="5645587"/>
            <a:ext cx="555736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ProductPage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90178" y="5645587"/>
            <a:ext cx="555736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商品規格選擇與加入購物車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980843" y="6052304"/>
            <a:ext cx="11848148" cy="52316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162294" y="6168747"/>
            <a:ext cx="555736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CartPage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090178" y="6168747"/>
            <a:ext cx="555736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購物車清空與數量驗證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80843" y="6575465"/>
            <a:ext cx="11848148" cy="52316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2162294" y="6691908"/>
            <a:ext cx="555736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LoginPage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90178" y="6691908"/>
            <a:ext cx="555736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登入操作與錯誤處理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1701046" y="4475202"/>
            <a:ext cx="22860" cy="2631043"/>
          </a:xfrm>
          <a:prstGeom prst="rect">
            <a:avLst/>
          </a:prstGeom>
          <a:solidFill>
            <a:srgbClr val="1B5F39"/>
          </a:solidFill>
          <a:ln/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4973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最佳實踐與注意事項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1213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60" y="2897148"/>
            <a:ext cx="340162" cy="3401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Token 與 Session 管理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380423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使用 authStorageState.json 儲存登入 session，避免每次測試都重新登入，節省時間並減少對真實 OTP 的依賴。定期更新 storageState 避免 token 過期。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56884" y="2812137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1955" y="2897148"/>
            <a:ext cx="340162" cy="3401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94000" y="28900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測試隔離原則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194000" y="3380423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每個測試開始前清空購物車，使用獨立的測試資料，確保測試之間不互相依賴，避免資料污染造成的測試失敗。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8860" y="5007769"/>
            <a:ext cx="340162" cy="3401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50006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完整錯誤處理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30906" y="5491043"/>
            <a:ext cx="564249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驗證所有可能的錯誤狀態（OTP 錯誤、欄位為空、格式錯誤等），檢查錯誤訊息的正確性與易讀性，測試異常情境如網路斷線、API timeout。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56884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0EDE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541955" y="5007769"/>
            <a:ext cx="340162" cy="3401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94000" y="500062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CI/CD 整合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8194000" y="5491043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整合到 GitHub Actions，每次 push 自動觸發測試，定期執行回歸測試，自動產生測試報告，失敗時自動通知團隊。</a:t>
            </a:r>
            <a:endParaRPr lang="en-US" sz="1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748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常見問題排查指南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89892"/>
            <a:ext cx="6407944" cy="2592705"/>
          </a:xfrm>
          <a:prstGeom prst="roundRect">
            <a:avLst>
              <a:gd name="adj" fmla="val 5643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1989892"/>
            <a:ext cx="121920" cy="2592705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2471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購物車數量驗證失敗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2737604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可能原因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：彈窗蓋住購物車 icon、非同步載入未完成、購物車未清空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42524" y="359949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解決方法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：使用 closePopup() 關閉彈窗、增加 waitForTimeout、確認 clearCart() 執行成功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1989892"/>
            <a:ext cx="6408063" cy="2592705"/>
          </a:xfrm>
          <a:prstGeom prst="roundRect">
            <a:avLst>
              <a:gd name="adj" fmla="val 5643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1989892"/>
            <a:ext cx="121920" cy="2592705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22471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登入測試失敗（401）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777282" y="2737604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可能原因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：authStorageState.json 過期、Session token 失效、帳號被鎖定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777282" y="359949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解決方法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：重新執行手動登入更新 storageState、確認測試帳號有效、檢查 API token 狀態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4809411"/>
            <a:ext cx="6407944" cy="2592705"/>
          </a:xfrm>
          <a:prstGeom prst="roundRect">
            <a:avLst>
              <a:gd name="adj" fmla="val 5643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3310" y="4809411"/>
            <a:ext cx="121920" cy="2592705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524" y="5066705"/>
            <a:ext cx="28763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手動測試無法輸入 OTP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2524" y="5557123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可能原因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：page.pause() 未生效、瀏覽器處於 headless mode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142524" y="6419017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解決方法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：使用 --headed 模式執行、確認 pause() 位置正確、手動點擊「繼續」按鈕</a:t>
            </a:r>
            <a:endParaRPr lang="en-US" sz="1750" dirty="0"/>
          </a:p>
        </p:txBody>
      </p:sp>
      <p:sp>
        <p:nvSpPr>
          <p:cNvPr id="18" name="Shape 16"/>
          <p:cNvSpPr/>
          <p:nvPr/>
        </p:nvSpPr>
        <p:spPr>
          <a:xfrm>
            <a:off x="7428548" y="4809411"/>
            <a:ext cx="6408063" cy="2592705"/>
          </a:xfrm>
          <a:prstGeom prst="roundRect">
            <a:avLst>
              <a:gd name="adj" fmla="val 5643"/>
            </a:avLst>
          </a:prstGeom>
          <a:solidFill>
            <a:srgbClr val="FCFBF8"/>
          </a:solidFill>
          <a:ln w="30480">
            <a:solidFill>
              <a:srgbClr val="D6D3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98067" y="4809411"/>
            <a:ext cx="121920" cy="2592705"/>
          </a:xfrm>
          <a:prstGeom prst="roundRect">
            <a:avLst>
              <a:gd name="adj" fmla="val 27907"/>
            </a:avLst>
          </a:prstGeom>
          <a:solidFill>
            <a:srgbClr val="1B5F3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7282" y="50667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CI/CD 環境測試失敗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77282" y="5557123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可能原因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：環境變數未設定、storageState 未上傳、網路環境不穩定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777282" y="6419017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解決方法</a:t>
            </a:r>
            <a:r>
              <a:rPr lang="en-US" sz="17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：確認必要檔案存在、使用 --retries=4、檢查 CI 環境網路連線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訂 4">
      <a:majorFont>
        <a:latin typeface="Alice"/>
        <a:ea typeface="微軟正黑體"/>
        <a:cs typeface=""/>
      </a:majorFont>
      <a:minorFont>
        <a:latin typeface="Alice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997</Words>
  <Application>Microsoft Office PowerPoint</Application>
  <PresentationFormat>自訂</PresentationFormat>
  <Paragraphs>291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9" baseType="lpstr">
      <vt:lpstr>Lora</vt:lpstr>
      <vt:lpstr>Consolas</vt:lpstr>
      <vt:lpstr>Alice Light</vt:lpstr>
      <vt:lpstr>Arial</vt:lpstr>
      <vt:lpstr>Alice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浩瑜 郝</cp:lastModifiedBy>
  <cp:revision>2</cp:revision>
  <dcterms:created xsi:type="dcterms:W3CDTF">2025-10-29T01:05:52Z</dcterms:created>
  <dcterms:modified xsi:type="dcterms:W3CDTF">2025-10-29T03:09:46Z</dcterms:modified>
</cp:coreProperties>
</file>