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lice" pitchFamily="2" charset="0"/>
      <p:regular r:id="rId13"/>
    </p:embeddedFon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Lora" pitchFamily="2" charset="0"/>
      <p:regular r:id="rId18"/>
      <p:bold r:id="rId19"/>
      <p:italic r:id="rId20"/>
      <p:boldItalic r:id="rId21"/>
    </p:embeddedFont>
  </p:embeddedFont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4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9831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152299"/>
            <a:ext cx="7556421" cy="992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E2E 測試中不適合直接串接的 API 盤點與 Network Stubbing 策略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280190" y="4442222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在 End-to-End 測試中,並非所有 API 都適合直接串接。本指南將幫助你識別高風險 API,並提供完整的 Network Stubbing 策略,確保測試穩定性與效率。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8998"/>
            <a:ext cx="801016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不適合 E2E 直接串接的 API 類型盤點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62509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金流與支付 API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3133606"/>
            <a:ext cx="402431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風險: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產生真實交易與扣款,手續費與記錄難以清理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3947279"/>
            <a:ext cx="402431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範例: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POST /api/payment/tpay/charge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309830" y="262509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簡訊與 Email API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5309830" y="3133606"/>
            <a:ext cx="402431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風險: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發送真實訊息產生成本,OTP 需手動輸入難以自動化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309830" y="3947279"/>
            <a:ext cx="402431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範例: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POST /api/auth/send-otp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825871" y="262509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社群登入 API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825871" y="3133606"/>
            <a:ext cx="402431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風險: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依賴外部服務穩定性,可能觸發人機驗證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825871" y="3629739"/>
            <a:ext cx="402431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範例: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GET /oauth/google/callback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93790" y="4765803"/>
            <a:ext cx="13042821" cy="32385"/>
          </a:xfrm>
          <a:prstGeom prst="rect">
            <a:avLst/>
          </a:prstGeom>
          <a:solidFill>
            <a:srgbClr val="2C2821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21970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會員註冊與刪除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93790" y="5728216"/>
            <a:ext cx="402431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風險: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污染資料庫,唯一性限制難以重複測試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93790" y="6224349"/>
            <a:ext cx="402431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範例: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POST /api/auth/register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309830" y="521970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優惠券領取與核銷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5309830" y="5728216"/>
            <a:ext cx="402431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風險: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影響庫存數量,限量優惠券被測試消耗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309830" y="6224349"/>
            <a:ext cx="402431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範例: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POST /api/ec/coupons/claim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825871" y="521970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訂單建立與出貨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825871" y="5728216"/>
            <a:ext cx="402431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風險: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觸發實際物流流程,影響庫存統計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825871" y="6224349"/>
            <a:ext cx="402431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範例: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POST /api/ec/order/create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809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188137"/>
            <a:ext cx="695586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第三方金流與支付 API 處理策略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793790" y="4105870"/>
            <a:ext cx="6422231" cy="2350056"/>
          </a:xfrm>
          <a:prstGeom prst="roundRect">
            <a:avLst>
              <a:gd name="adj" fmla="val 4669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0930" y="4105870"/>
            <a:ext cx="91440" cy="2350056"/>
          </a:xfrm>
          <a:prstGeom prst="roundRect">
            <a:avLst>
              <a:gd name="adj" fmla="val 32558"/>
            </a:avLst>
          </a:prstGeom>
          <a:solidFill>
            <a:srgbClr val="1B5F39"/>
          </a:solidFill>
          <a:ln/>
        </p:spPr>
      </p:sp>
      <p:sp>
        <p:nvSpPr>
          <p:cNvPr id="6" name="Text 3"/>
          <p:cNvSpPr/>
          <p:nvPr/>
        </p:nvSpPr>
        <p:spPr>
          <a:xfrm>
            <a:off x="1083588" y="432708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核心問題分析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083588" y="4756309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會產生真實交易與扣款記錄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083588" y="5143262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測試環境可能無沙盒模式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83588" y="5530215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需要真實信用卡資訊與驗證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083588" y="5917168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手續費與金流記錄難以清理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7414379" y="4105870"/>
            <a:ext cx="6422231" cy="2350056"/>
          </a:xfrm>
          <a:prstGeom prst="roundRect">
            <a:avLst>
              <a:gd name="adj" fmla="val 4669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91519" y="4105870"/>
            <a:ext cx="91440" cy="2350056"/>
          </a:xfrm>
          <a:prstGeom prst="roundRect">
            <a:avLst>
              <a:gd name="adj" fmla="val 32558"/>
            </a:avLst>
          </a:prstGeom>
          <a:solidFill>
            <a:srgbClr val="1B5F39"/>
          </a:solidFill>
          <a:ln/>
        </p:spPr>
      </p:sp>
      <p:sp>
        <p:nvSpPr>
          <p:cNvPr id="13" name="Text 10"/>
          <p:cNvSpPr/>
          <p:nvPr/>
        </p:nvSpPr>
        <p:spPr>
          <a:xfrm>
            <a:off x="7704177" y="432708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建議 Mock 做法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7704177" y="4756309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使用 page.route() 攔截所有支付 API 請求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7704177" y="5143262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Mock 回傳「支付成功」或「支付失敗」狀態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7704177" y="5530215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驗證前端 UI 流程:按鈕狀態變化、頁面跳轉、提示訊息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7704177" y="5917168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僅在支付 API 專項測試時使用官方沙盒環境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793790" y="6679168"/>
            <a:ext cx="13042821" cy="843201"/>
          </a:xfrm>
          <a:prstGeom prst="roundRect">
            <a:avLst>
              <a:gd name="adj" fmla="val 3531"/>
            </a:avLst>
          </a:prstGeom>
          <a:solidFill>
            <a:srgbClr val="C3EED6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48" y="6982063"/>
            <a:ext cx="248007" cy="19835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438513" y="6927056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重要提醒:</a:t>
            </a:r>
            <a:r>
              <a:rPr lang="en-US" sz="15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絕對不要在 E2E 自動化測試中使用真實金流 API。即使是測試環境,也可能產生實際費用或觸發風控機制。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05947"/>
            <a:ext cx="746093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OTP 與社群登入 API 的 Mock 策略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220516"/>
            <a:ext cx="6422231" cy="5103019"/>
          </a:xfrm>
          <a:prstGeom prst="roundRect">
            <a:avLst>
              <a:gd name="adj" fmla="val 2150"/>
            </a:avLst>
          </a:prstGeom>
          <a:solidFill>
            <a:srgbClr val="FCFBF8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197656"/>
            <a:ext cx="6422231" cy="91440"/>
          </a:xfrm>
          <a:prstGeom prst="roundRect">
            <a:avLst>
              <a:gd name="adj" fmla="val 32558"/>
            </a:avLst>
          </a:prstGeom>
          <a:solidFill>
            <a:srgbClr val="1B5F39"/>
          </a:solidFill>
          <a:ln/>
        </p:spPr>
      </p:sp>
      <p:sp>
        <p:nvSpPr>
          <p:cNvPr id="5" name="Shape 3"/>
          <p:cNvSpPr/>
          <p:nvPr/>
        </p:nvSpPr>
        <p:spPr>
          <a:xfrm>
            <a:off x="3707249" y="1922859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1B5F39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85843" y="2101453"/>
            <a:ext cx="238125" cy="238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5008" y="2716649"/>
            <a:ext cx="320004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簡訊與 Email 發送 (OTP)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1015008" y="316801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不適合直接串接的原因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015008" y="3597235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每次測試都會發送真實簡訊或 Email,產生實際成本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015008" y="3984188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OTP 需要手動輸入,無法完全自動化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015008" y="4371142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簡訊供應商通常有發送頻率限制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015008" y="4758095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測試環境可能收不到 OTP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015008" y="519469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建議處理方式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1015008" y="5623917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Mock OTP 發送 API,直接回傳固定 OTP (如 123456)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1015008" y="6010870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使用測試專用手機號碼搭配固定 OTP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1015008" y="6397823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驗證「發送成功」提示與倒數計時功能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1015008" y="6784777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 OTP 驗證邏輯 (正確/錯誤/過期) 時使用固定值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7414379" y="2220516"/>
            <a:ext cx="6422231" cy="5103019"/>
          </a:xfrm>
          <a:prstGeom prst="roundRect">
            <a:avLst>
              <a:gd name="adj" fmla="val 2150"/>
            </a:avLst>
          </a:prstGeom>
          <a:solidFill>
            <a:srgbClr val="FCFBF8"/>
          </a:solidFill>
          <a:ln/>
        </p:spPr>
      </p:sp>
      <p:sp>
        <p:nvSpPr>
          <p:cNvPr id="19" name="Shape 16"/>
          <p:cNvSpPr/>
          <p:nvPr/>
        </p:nvSpPr>
        <p:spPr>
          <a:xfrm>
            <a:off x="7414379" y="2197656"/>
            <a:ext cx="6422231" cy="91440"/>
          </a:xfrm>
          <a:prstGeom prst="roundRect">
            <a:avLst>
              <a:gd name="adj" fmla="val 32558"/>
            </a:avLst>
          </a:prstGeom>
          <a:solidFill>
            <a:srgbClr val="1B5F39"/>
          </a:solidFill>
          <a:ln/>
        </p:spPr>
      </p:sp>
      <p:sp>
        <p:nvSpPr>
          <p:cNvPr id="20" name="Shape 17"/>
          <p:cNvSpPr/>
          <p:nvPr/>
        </p:nvSpPr>
        <p:spPr>
          <a:xfrm>
            <a:off x="10327838" y="1922859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1B5F39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06432" y="2101453"/>
            <a:ext cx="238125" cy="23812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635597" y="271664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外部社群登入 (OAuth)</a:t>
            </a:r>
            <a:endParaRPr lang="en-US" sz="2300" dirty="0"/>
          </a:p>
        </p:txBody>
      </p:sp>
      <p:sp>
        <p:nvSpPr>
          <p:cNvPr id="23" name="Text 19"/>
          <p:cNvSpPr/>
          <p:nvPr/>
        </p:nvSpPr>
        <p:spPr>
          <a:xfrm>
            <a:off x="7635597" y="316801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不適合直接串接的原因</a:t>
            </a:r>
            <a:endParaRPr lang="en-US" sz="1950" dirty="0"/>
          </a:p>
        </p:txBody>
      </p:sp>
      <p:sp>
        <p:nvSpPr>
          <p:cNvPr id="24" name="Text 20"/>
          <p:cNvSpPr/>
          <p:nvPr/>
        </p:nvSpPr>
        <p:spPr>
          <a:xfrm>
            <a:off x="7635597" y="3597235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需要跳轉至第三方網站 (Google、Facebook、LINE)</a:t>
            </a:r>
            <a:endParaRPr lang="en-US" sz="1550" dirty="0"/>
          </a:p>
        </p:txBody>
      </p:sp>
      <p:sp>
        <p:nvSpPr>
          <p:cNvPr id="25" name="Text 21"/>
          <p:cNvSpPr/>
          <p:nvPr/>
        </p:nvSpPr>
        <p:spPr>
          <a:xfrm>
            <a:off x="7635597" y="3984188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高度依賴外部服務的穩定性與可用性</a:t>
            </a:r>
            <a:endParaRPr lang="en-US" sz="1550" dirty="0"/>
          </a:p>
        </p:txBody>
      </p:sp>
      <p:sp>
        <p:nvSpPr>
          <p:cNvPr id="26" name="Text 22"/>
          <p:cNvSpPr/>
          <p:nvPr/>
        </p:nvSpPr>
        <p:spPr>
          <a:xfrm>
            <a:off x="7635597" y="4371142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測試帳號密碼管理困難且有安全風險</a:t>
            </a:r>
            <a:endParaRPr lang="en-US" sz="1550" dirty="0"/>
          </a:p>
        </p:txBody>
      </p:sp>
      <p:sp>
        <p:nvSpPr>
          <p:cNvPr id="27" name="Text 23"/>
          <p:cNvSpPr/>
          <p:nvPr/>
        </p:nvSpPr>
        <p:spPr>
          <a:xfrm>
            <a:off x="7635597" y="4758095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可能觸發人機驗證 (CAPTCHA) 導致測試中斷</a:t>
            </a:r>
            <a:endParaRPr lang="en-US" sz="1550" dirty="0"/>
          </a:p>
        </p:txBody>
      </p:sp>
      <p:sp>
        <p:nvSpPr>
          <p:cNvPr id="28" name="Text 24"/>
          <p:cNvSpPr/>
          <p:nvPr/>
        </p:nvSpPr>
        <p:spPr>
          <a:xfrm>
            <a:off x="7635597" y="519469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建議處理方式</a:t>
            </a:r>
            <a:endParaRPr lang="en-US" sz="1950" dirty="0"/>
          </a:p>
        </p:txBody>
      </p:sp>
      <p:sp>
        <p:nvSpPr>
          <p:cNvPr id="29" name="Text 25"/>
          <p:cNvSpPr/>
          <p:nvPr/>
        </p:nvSpPr>
        <p:spPr>
          <a:xfrm>
            <a:off x="7635597" y="5623917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Mock OAuth callback,直接回傳已登入狀態</a:t>
            </a:r>
            <a:endParaRPr lang="en-US" sz="1550" dirty="0"/>
          </a:p>
        </p:txBody>
      </p:sp>
      <p:sp>
        <p:nvSpPr>
          <p:cNvPr id="30" name="Text 26"/>
          <p:cNvSpPr/>
          <p:nvPr/>
        </p:nvSpPr>
        <p:spPr>
          <a:xfrm>
            <a:off x="7635597" y="6010870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使用 storageState 預先載入登入 Cookie 與 Token</a:t>
            </a:r>
            <a:endParaRPr lang="en-US" sz="1550" dirty="0"/>
          </a:p>
        </p:txBody>
      </p:sp>
      <p:sp>
        <p:nvSpPr>
          <p:cNvPr id="31" name="Text 27"/>
          <p:cNvSpPr/>
          <p:nvPr/>
        </p:nvSpPr>
        <p:spPr>
          <a:xfrm>
            <a:off x="7635597" y="6397823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僅在社群登入專項測試時走真實流程</a:t>
            </a:r>
            <a:endParaRPr lang="en-US" sz="1550" dirty="0"/>
          </a:p>
        </p:txBody>
      </p:sp>
      <p:sp>
        <p:nvSpPr>
          <p:cNvPr id="32" name="Text 28"/>
          <p:cNvSpPr/>
          <p:nvPr/>
        </p:nvSpPr>
        <p:spPr>
          <a:xfrm>
            <a:off x="7635597" y="6784777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驗證登入後的 UI 變化 (會員名稱、登出按鈕等)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4258"/>
            <a:ext cx="7511415" cy="46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Network Stubbing 策略:Playwright Route API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793790" y="1497092"/>
            <a:ext cx="6446996" cy="6608682"/>
          </a:xfrm>
          <a:prstGeom prst="roundRect">
            <a:avLst>
              <a:gd name="adj" fmla="val 1220"/>
            </a:avLst>
          </a:prstGeom>
          <a:solidFill>
            <a:srgbClr val="FCFBF8"/>
          </a:solidFill>
          <a:ln w="15240">
            <a:solidFill>
              <a:srgbClr val="D6D3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8550" y="1497092"/>
            <a:ext cx="60960" cy="5998250"/>
          </a:xfrm>
          <a:prstGeom prst="roundRect">
            <a:avLst>
              <a:gd name="adj" fmla="val 36628"/>
            </a:avLst>
          </a:prstGeom>
          <a:solidFill>
            <a:srgbClr val="1B5F39"/>
          </a:solidFill>
          <a:ln/>
        </p:spPr>
      </p:sp>
      <p:sp>
        <p:nvSpPr>
          <p:cNvPr id="5" name="Text 3"/>
          <p:cNvSpPr/>
          <p:nvPr/>
        </p:nvSpPr>
        <p:spPr>
          <a:xfrm>
            <a:off x="1003578" y="1661160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基本攔截與 Mock 回應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1003578" y="2107525"/>
            <a:ext cx="6073140" cy="3080623"/>
          </a:xfrm>
          <a:prstGeom prst="roundRect">
            <a:avLst>
              <a:gd name="adj" fmla="val 725"/>
            </a:avLst>
          </a:prstGeom>
          <a:solidFill>
            <a:srgbClr val="EFEEEB"/>
          </a:solidFill>
          <a:ln/>
        </p:spPr>
      </p:sp>
      <p:sp>
        <p:nvSpPr>
          <p:cNvPr id="7" name="Shape 5"/>
          <p:cNvSpPr/>
          <p:nvPr/>
        </p:nvSpPr>
        <p:spPr>
          <a:xfrm>
            <a:off x="996196" y="2107525"/>
            <a:ext cx="6087904" cy="3080623"/>
          </a:xfrm>
          <a:prstGeom prst="roundRect">
            <a:avLst>
              <a:gd name="adj" fmla="val 725"/>
            </a:avLst>
          </a:prstGeom>
          <a:solidFill>
            <a:srgbClr val="EFEEEB"/>
          </a:solidFill>
          <a:ln/>
        </p:spPr>
      </p:sp>
      <p:sp>
        <p:nvSpPr>
          <p:cNvPr id="8" name="Text 6"/>
          <p:cNvSpPr/>
          <p:nvPr/>
        </p:nvSpPr>
        <p:spPr>
          <a:xfrm>
            <a:off x="1145024" y="2219087"/>
            <a:ext cx="5790248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r>
              <a:rPr lang="zh-TW" alt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攔截 </a:t>
            </a:r>
            <a:r>
              <a:rPr 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OTP </a:t>
            </a:r>
            <a:r>
              <a:rPr lang="zh-TW" alt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發送 </a:t>
            </a:r>
            <a:r>
              <a:rPr 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API，</a:t>
            </a:r>
            <a:r>
              <a:rPr lang="zh-TW" alt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回傳固定 </a:t>
            </a:r>
            <a:r>
              <a:rPr 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OTP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r>
              <a:rPr lang="en-US" sz="1150" dirty="0" err="1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page.route</a:t>
            </a:r>
            <a:r>
              <a:rPr 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('**/</a:t>
            </a:r>
            <a:r>
              <a:rPr lang="en-US" sz="1150" dirty="0" err="1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r>
              <a:rPr 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/auth/send-</a:t>
            </a:r>
            <a:r>
              <a:rPr lang="en-US" sz="1150" dirty="0" err="1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otp</a:t>
            </a:r>
            <a:r>
              <a:rPr 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', async route =&gt; {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</a:t>
            </a:r>
            <a:r>
              <a:rPr lang="en-US" sz="1150" dirty="0" err="1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route.fulfill</a:t>
            </a:r>
            <a:r>
              <a:rPr 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status: 200,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 err="1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contentType</a:t>
            </a:r>
            <a:r>
              <a:rPr 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 'application/</a:t>
            </a:r>
            <a:r>
              <a:rPr lang="en-US" sz="1150" dirty="0" err="1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r>
              <a:rPr 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',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body: </a:t>
            </a:r>
            <a:r>
              <a:rPr lang="en-US" sz="1150" dirty="0" err="1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JSON.stringify</a:t>
            </a:r>
            <a:r>
              <a:rPr 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success: true,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message: 'OTP </a:t>
            </a:r>
            <a:r>
              <a:rPr lang="zh-TW" alt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已發送</a:t>
            </a: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',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150" dirty="0" err="1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otp</a:t>
            </a:r>
            <a:r>
              <a:rPr 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 '123456' // </a:t>
            </a:r>
            <a:r>
              <a:rPr lang="zh-TW" alt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測試專用固定 </a:t>
            </a:r>
            <a:r>
              <a:rPr 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OTP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})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89614" y="1497091"/>
            <a:ext cx="6446996" cy="6608683"/>
          </a:xfrm>
          <a:prstGeom prst="roundRect">
            <a:avLst>
              <a:gd name="adj" fmla="val 1220"/>
            </a:avLst>
          </a:prstGeom>
          <a:solidFill>
            <a:srgbClr val="FCFBF8"/>
          </a:solidFill>
          <a:ln w="15240">
            <a:solidFill>
              <a:srgbClr val="D6D3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74374" y="1497092"/>
            <a:ext cx="60960" cy="5998250"/>
          </a:xfrm>
          <a:prstGeom prst="roundRect">
            <a:avLst>
              <a:gd name="adj" fmla="val 36628"/>
            </a:avLst>
          </a:prstGeom>
          <a:solidFill>
            <a:srgbClr val="1B5F39"/>
          </a:solidFill>
          <a:ln/>
        </p:spPr>
      </p:sp>
      <p:sp>
        <p:nvSpPr>
          <p:cNvPr id="11" name="Text 9"/>
          <p:cNvSpPr/>
          <p:nvPr/>
        </p:nvSpPr>
        <p:spPr>
          <a:xfrm>
            <a:off x="7599402" y="1661160"/>
            <a:ext cx="3994547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條件式 Mock:根據請求參數回傳不同結果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599402" y="2107525"/>
            <a:ext cx="6073140" cy="5223748"/>
          </a:xfrm>
          <a:prstGeom prst="roundRect">
            <a:avLst>
              <a:gd name="adj" fmla="val 427"/>
            </a:avLst>
          </a:prstGeom>
          <a:solidFill>
            <a:srgbClr val="EFEEEB"/>
          </a:solidFill>
          <a:ln/>
        </p:spPr>
      </p:sp>
      <p:sp>
        <p:nvSpPr>
          <p:cNvPr id="13" name="Shape 11"/>
          <p:cNvSpPr/>
          <p:nvPr/>
        </p:nvSpPr>
        <p:spPr>
          <a:xfrm>
            <a:off x="7592020" y="2107525"/>
            <a:ext cx="6087904" cy="5998250"/>
          </a:xfrm>
          <a:prstGeom prst="roundRect">
            <a:avLst>
              <a:gd name="adj" fmla="val 427"/>
            </a:avLst>
          </a:prstGeom>
          <a:solidFill>
            <a:srgbClr val="EFEEEB"/>
          </a:solidFill>
          <a:ln/>
        </p:spPr>
      </p:sp>
      <p:sp>
        <p:nvSpPr>
          <p:cNvPr id="14" name="Text 12"/>
          <p:cNvSpPr/>
          <p:nvPr/>
        </p:nvSpPr>
        <p:spPr>
          <a:xfrm>
            <a:off x="7740848" y="2219087"/>
            <a:ext cx="5790248" cy="588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r>
              <a:rPr lang="zh-TW" alt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根據請求參數回傳不同結果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r>
              <a:rPr lang="en-US" altLang="zh-TW" sz="1150" dirty="0" err="1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page.route</a:t>
            </a: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('**/</a:t>
            </a:r>
            <a:r>
              <a:rPr lang="en-US" altLang="zh-TW" sz="1150" dirty="0" err="1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altLang="zh-TW" sz="1150" dirty="0" err="1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ec</a:t>
            </a: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/coupons/apply', async (route, request) =&gt; {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r>
              <a:rPr lang="zh-TW" alt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攔截所有發送到 </a:t>
            </a: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altLang="zh-TW" sz="1150" dirty="0" err="1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altLang="zh-TW" sz="1150" dirty="0" err="1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ec</a:t>
            </a: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/coupons/apply </a:t>
            </a:r>
            <a:r>
              <a:rPr lang="zh-TW" alt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的 </a:t>
            </a: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API </a:t>
            </a:r>
            <a:r>
              <a:rPr lang="zh-TW" alt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請求，進行自訂回應（</a:t>
            </a: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Mock</a:t>
            </a:r>
            <a:r>
              <a:rPr lang="zh-TW" alt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）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zh-TW" alt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r>
              <a:rPr lang="en-US" altLang="zh-TW" sz="1150" dirty="0" err="1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postData</a:t>
            </a: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altLang="zh-TW" sz="1150" dirty="0" err="1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request.postDataJSON</a:t>
            </a: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// </a:t>
            </a:r>
            <a:r>
              <a:rPr lang="zh-TW" alt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解析這個 </a:t>
            </a: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</a:t>
            </a:r>
            <a:r>
              <a:rPr lang="zh-TW" alt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請求的 </a:t>
            </a: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 </a:t>
            </a:r>
            <a:r>
              <a:rPr lang="zh-TW" alt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內容，取得 </a:t>
            </a:r>
            <a:r>
              <a:rPr lang="en-US" altLang="zh-TW" sz="1150" dirty="0" err="1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coupon_code</a:t>
            </a: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zh-TW" alt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等欄位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zh-TW" alt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(</a:t>
            </a:r>
            <a:r>
              <a:rPr lang="en-US" altLang="zh-TW" sz="1150" dirty="0" err="1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postData.coupon_code</a:t>
            </a: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=== 'VALID100') {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// </a:t>
            </a:r>
            <a:r>
              <a:rPr lang="zh-TW" alt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如果 </a:t>
            </a:r>
            <a:r>
              <a:rPr lang="en-US" altLang="zh-TW" sz="1150" dirty="0" err="1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coupon_code</a:t>
            </a: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zh-TW" alt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是 </a:t>
            </a: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'VALID100'</a:t>
            </a:r>
            <a:r>
              <a:rPr lang="zh-TW" alt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，模擬優惠券可用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zh-TW" alt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r>
              <a:rPr lang="en-US" altLang="zh-TW" sz="1150" dirty="0" err="1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route.fulfill</a:t>
            </a: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status: 200,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body: </a:t>
            </a:r>
            <a:r>
              <a:rPr lang="en-US" altLang="zh-TW" sz="1150" dirty="0" err="1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JSON.stringify</a:t>
            </a: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({ success: true, discount: 100 })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</a:t>
            </a:r>
            <a:r>
              <a:rPr lang="zh-TW" alt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回傳 </a:t>
            </a: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200 OK</a:t>
            </a:r>
            <a:r>
              <a:rPr lang="zh-TW" alt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，內容為成功折抵 </a:t>
            </a: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100 </a:t>
            </a:r>
            <a:r>
              <a:rPr lang="zh-TW" alt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元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zh-TW" alt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if (</a:t>
            </a:r>
            <a:r>
              <a:rPr lang="en-US" altLang="zh-TW" sz="1150" dirty="0" err="1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postData.coupon_code</a:t>
            </a: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=== 'EXPIRED') {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// </a:t>
            </a:r>
            <a:r>
              <a:rPr lang="zh-TW" alt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如果 </a:t>
            </a:r>
            <a:r>
              <a:rPr lang="en-US" altLang="zh-TW" sz="1150" dirty="0" err="1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coupon_code</a:t>
            </a: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zh-TW" alt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是 </a:t>
            </a: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'EXPIRED'</a:t>
            </a:r>
            <a:r>
              <a:rPr lang="zh-TW" alt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，模擬優惠券已過期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zh-TW" alt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r>
              <a:rPr lang="en-US" altLang="zh-TW" sz="1150" dirty="0" err="1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route.fulfill</a:t>
            </a: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status: 400,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body: </a:t>
            </a:r>
            <a:r>
              <a:rPr lang="en-US" altLang="zh-TW" sz="1150" dirty="0" err="1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JSON.stringify</a:t>
            </a: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({ success: false, message: '</a:t>
            </a:r>
            <a:r>
              <a:rPr lang="zh-TW" alt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優惠券已過期</a:t>
            </a: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 })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</a:t>
            </a:r>
            <a:r>
              <a:rPr lang="zh-TW" alt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回傳 </a:t>
            </a: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400 Bad Request</a:t>
            </a:r>
            <a:r>
              <a:rPr lang="zh-TW" alt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，內容為失敗並帶有錯誤訊息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zh-TW" alt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</a:t>
            </a:r>
            <a:r>
              <a:rPr lang="en-US" altLang="zh-TW" sz="1150" dirty="0" err="1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route.continue</a:t>
            </a: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(); // </a:t>
            </a:r>
            <a:r>
              <a:rPr lang="zh-TW" alt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其他情況走真實 </a:t>
            </a: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// </a:t>
            </a:r>
            <a:r>
              <a:rPr lang="zh-TW" alt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其餘 </a:t>
            </a:r>
            <a:r>
              <a:rPr lang="en-US" altLang="zh-TW" sz="1150" dirty="0" err="1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coupon_code</a:t>
            </a: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zh-TW" alt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不攔截，讓請求送到真實後端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zh-TW" altLang="en-US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en-US" altLang="zh-TW" sz="11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573762"/>
            <a:ext cx="4861917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HAR 檔案:穩定測試的利器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6280190" y="1353860"/>
            <a:ext cx="168593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280190" y="1617702"/>
            <a:ext cx="7556421" cy="2286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6" name="Text 3"/>
          <p:cNvSpPr/>
          <p:nvPr/>
        </p:nvSpPr>
        <p:spPr>
          <a:xfrm>
            <a:off x="6280190" y="1747718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錄製 HAR 檔案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280190" y="2112407"/>
            <a:ext cx="7556421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在測試執行時自動記錄所有 HTTP 請求與回應,建立可重複使用的 API 快照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80190" y="2677358"/>
            <a:ext cx="168593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80190" y="2941201"/>
            <a:ext cx="7556421" cy="2286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0" name="Text 7"/>
          <p:cNvSpPr/>
          <p:nvPr/>
        </p:nvSpPr>
        <p:spPr>
          <a:xfrm>
            <a:off x="6280190" y="3071217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重播 HAR 檔案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6280190" y="3435906"/>
            <a:ext cx="7556421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測試執行時從 HAR 檔案讀取回應,完全不依賴後端服務,確保測試穩定性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280190" y="4000857"/>
            <a:ext cx="168593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80190" y="4264700"/>
            <a:ext cx="7556421" cy="2286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4" name="Text 11"/>
          <p:cNvSpPr/>
          <p:nvPr/>
        </p:nvSpPr>
        <p:spPr>
          <a:xfrm>
            <a:off x="6280190" y="4394716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HAR 與 Route 混用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6280190" y="4759404"/>
            <a:ext cx="7556421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大部分 API 使用 HAR 重播,特定 API 用 route 動態 Mock,達到最佳平衡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280190" y="5324356"/>
            <a:ext cx="168593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80190" y="5588198"/>
            <a:ext cx="7556421" cy="2286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8" name="Text 15"/>
          <p:cNvSpPr/>
          <p:nvPr/>
        </p:nvSpPr>
        <p:spPr>
          <a:xfrm>
            <a:off x="6280190" y="5718215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定期更新維護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6280190" y="6082903"/>
            <a:ext cx="7556421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當 API 格式變更時,重新錄製 HAR 檔案,確保測試資料與實際環境一致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280190" y="6669048"/>
            <a:ext cx="7556421" cy="986671"/>
          </a:xfrm>
          <a:prstGeom prst="roundRect">
            <a:avLst>
              <a:gd name="adj" fmla="val 2565"/>
            </a:avLst>
          </a:prstGeom>
          <a:solidFill>
            <a:srgbClr val="C3EED6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782" y="6922770"/>
            <a:ext cx="210860" cy="168593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828234" y="6879788"/>
            <a:ext cx="6839783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最佳實踐:</a:t>
            </a:r>
            <a:r>
              <a:rPr lang="en-US" sz="13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針對不同測試情境錄製獨立的 HAR 檔案,例如「有庫存」、「無庫存」、「有優惠券」、「無優惠券」等,並納入版本控管系統。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0"/>
            <a:ext cx="36576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37404"/>
            <a:ext cx="8673703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Playwright 實作範例: Mock OTP 登入流程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793790" y="2009299"/>
            <a:ext cx="9385221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以下是使用 Playwright 模擬 OTP (一次性密碼) 登入流程的完整程式碼重點摘要，包含 API Mock 設定和測試執行流程：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793790" y="2824758"/>
            <a:ext cx="9385221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/>
            </a:pPr>
            <a:r>
              <a:rPr lang="en-US" sz="14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設定 Playwright 測試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初始化測試環境，定義一個名為「Mock OTP 登入流程」的測試案例。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793790" y="3192423"/>
            <a:ext cx="9385221" cy="618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2"/>
            </a:pPr>
            <a:r>
              <a:rPr lang="en-US" sz="14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模擬 OTP 發送 API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使用 </a:t>
            </a:r>
            <a:r>
              <a:rPr lang="en-US" sz="14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page.route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攔截送往 </a:t>
            </a:r>
            <a:r>
              <a:rPr lang="en-US" sz="14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/api/auth/send-otp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的請求，並模擬 API 成功響應，固定回傳 OTP 值為 </a:t>
            </a:r>
            <a:r>
              <a:rPr lang="en-US" sz="14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'123456'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。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93790" y="3877032"/>
            <a:ext cx="9385221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3"/>
            </a:pPr>
            <a:r>
              <a:rPr lang="en-US" sz="14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模擬 OTP 驗證 API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攔截送往 </a:t>
            </a:r>
            <a:r>
              <a:rPr lang="en-US" sz="14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/api/auth/verify-otp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的請求，根據接收到的 OTP 進行判斷：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93790" y="4252317"/>
            <a:ext cx="9385221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若傳入的 OTP 為 </a:t>
            </a:r>
            <a:r>
              <a:rPr lang="en-US" sz="14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'123456'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，則模擬登入成功，回傳預設的身份驗證 token 和用戶資訊。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93790" y="4627602"/>
            <a:ext cx="9385221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若 OTP 不符合，則模擬驗證失敗，回傳錯誤訊息。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93790" y="4995267"/>
            <a:ext cx="9385221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4"/>
            </a:pPr>
            <a:r>
              <a:rPr lang="en-US" sz="14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前往登入頁面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使用 </a:t>
            </a:r>
            <a:r>
              <a:rPr lang="en-US" sz="14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page.goto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導航到應用程式的登入頁面。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93790" y="5370552"/>
            <a:ext cx="9385221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5"/>
            </a:pPr>
            <a:r>
              <a:rPr lang="en-US" sz="14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輸入手機號碼並點擊發送 OTP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在手機號碼輸入框中輸入測試用的手機號碼，然後點擊「發送 OTP」按鈕。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93790" y="5738217"/>
            <a:ext cx="9385221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6"/>
            </a:pPr>
            <a:r>
              <a:rPr lang="en-US" sz="14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輸入模擬的 OTP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由於 API 已經被 mock，前端會收到 </a:t>
            </a:r>
            <a:r>
              <a:rPr lang="en-US" sz="14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'123456'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。在 OTP 輸入框中輸入此值。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93790" y="6113502"/>
            <a:ext cx="9385221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7"/>
            </a:pPr>
            <a:r>
              <a:rPr lang="en-US" sz="14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點擊登入按鈕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點擊登入按鈕，觸發 OTP 驗證流程。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93790" y="6481167"/>
            <a:ext cx="9385221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8"/>
            </a:pPr>
            <a:r>
              <a:rPr lang="en-US" sz="14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驗證登入成功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使用 </a:t>
            </a:r>
            <a:r>
              <a:rPr lang="en-US" sz="14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expect(page).toHaveURL(/dashboard/)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或檢查頁面上的用戶名來驗證用戶是否成功登入。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16173"/>
            <a:ext cx="6789539" cy="46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測試分層策略:找到穩定性與真實性的平衡</a:t>
            </a:r>
            <a:endParaRPr lang="en-US" sz="2900" dirty="0"/>
          </a:p>
        </p:txBody>
      </p:sp>
      <p:sp>
        <p:nvSpPr>
          <p:cNvPr id="4" name="Shape 1"/>
          <p:cNvSpPr/>
          <p:nvPr/>
        </p:nvSpPr>
        <p:spPr>
          <a:xfrm>
            <a:off x="793790" y="1504593"/>
            <a:ext cx="7556421" cy="1870353"/>
          </a:xfrm>
          <a:prstGeom prst="roundRect">
            <a:avLst>
              <a:gd name="adj" fmla="val 1194"/>
            </a:avLst>
          </a:prstGeom>
          <a:solidFill>
            <a:srgbClr val="FCFBF8"/>
          </a:solidFill>
          <a:ln w="15240">
            <a:solidFill>
              <a:srgbClr val="D6D3C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09030" y="1519833"/>
            <a:ext cx="148828" cy="1839873"/>
          </a:xfrm>
          <a:prstGeom prst="roundRect">
            <a:avLst>
              <a:gd name="adj" fmla="val 2715"/>
            </a:avLst>
          </a:prstGeom>
          <a:solidFill>
            <a:srgbClr val="F0EDE6"/>
          </a:solidFill>
          <a:ln/>
        </p:spPr>
      </p:sp>
      <p:sp>
        <p:nvSpPr>
          <p:cNvPr id="6" name="Text 3"/>
          <p:cNvSpPr/>
          <p:nvPr/>
        </p:nvSpPr>
        <p:spPr>
          <a:xfrm>
            <a:off x="1106686" y="1668661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Layer 1: 完全 Mock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06686" y="1990487"/>
            <a:ext cx="722828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策略:</a:t>
            </a: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所有 API 都使用 Mock 或 HAR 重播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06686" y="2317909"/>
            <a:ext cx="722828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驗證範圍:</a:t>
            </a: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僅驗證前端 UI 邏輯與使用者流程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106686" y="2645331"/>
            <a:ext cx="722828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適用場景:</a:t>
            </a: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快速回歸測試、CI/CD 自動化測試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106686" y="2972753"/>
            <a:ext cx="722828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優點:</a:t>
            </a: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執行速度最快,穩定性最高,不依賴任何外部服務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017032" y="3523774"/>
            <a:ext cx="7333178" cy="1870353"/>
          </a:xfrm>
          <a:prstGeom prst="roundRect">
            <a:avLst>
              <a:gd name="adj" fmla="val 1194"/>
            </a:avLst>
          </a:prstGeom>
          <a:solidFill>
            <a:srgbClr val="FCFBF8"/>
          </a:solidFill>
          <a:ln w="15240">
            <a:solidFill>
              <a:srgbClr val="D6D3C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32272" y="3539014"/>
            <a:ext cx="148828" cy="1839873"/>
          </a:xfrm>
          <a:prstGeom prst="roundRect">
            <a:avLst>
              <a:gd name="adj" fmla="val 2715"/>
            </a:avLst>
          </a:prstGeom>
          <a:solidFill>
            <a:srgbClr val="F0EDE6"/>
          </a:solidFill>
          <a:ln/>
        </p:spPr>
      </p:sp>
      <p:sp>
        <p:nvSpPr>
          <p:cNvPr id="13" name="Text 10"/>
          <p:cNvSpPr/>
          <p:nvPr/>
        </p:nvSpPr>
        <p:spPr>
          <a:xfrm>
            <a:off x="1329928" y="3687842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Layer 2: 部分 Mock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1329928" y="4009668"/>
            <a:ext cx="700504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策略:</a:t>
            </a: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核心業務 API 走真實,第三方與破壞性 API 使用 Mock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329928" y="4337090"/>
            <a:ext cx="700504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驗證範圍:</a:t>
            </a: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驗證業務邏輯正確性,如購物車計算、會員查詢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329928" y="4664512"/>
            <a:ext cx="700504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適用場景:</a:t>
            </a: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日常開發測試、功能驗證測試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329928" y="4991933"/>
            <a:ext cx="700504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優點:</a:t>
            </a: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平衡穩定性與真實性,適合大多數測試情境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1240274" y="5542955"/>
            <a:ext cx="7109936" cy="1870353"/>
          </a:xfrm>
          <a:prstGeom prst="roundRect">
            <a:avLst>
              <a:gd name="adj" fmla="val 1194"/>
            </a:avLst>
          </a:prstGeom>
          <a:solidFill>
            <a:srgbClr val="FCFBF8"/>
          </a:solidFill>
          <a:ln w="15240">
            <a:solidFill>
              <a:srgbClr val="D6D3C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255514" y="5558195"/>
            <a:ext cx="148828" cy="1839873"/>
          </a:xfrm>
          <a:prstGeom prst="roundRect">
            <a:avLst>
              <a:gd name="adj" fmla="val 2715"/>
            </a:avLst>
          </a:prstGeom>
          <a:solidFill>
            <a:srgbClr val="F0EDE6"/>
          </a:solidFill>
          <a:ln/>
        </p:spPr>
      </p:sp>
      <p:sp>
        <p:nvSpPr>
          <p:cNvPr id="20" name="Text 17"/>
          <p:cNvSpPr/>
          <p:nvPr/>
        </p:nvSpPr>
        <p:spPr>
          <a:xfrm>
            <a:off x="1553170" y="5707023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Layer 3: 最少 Mock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553170" y="6028849"/>
            <a:ext cx="67818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策略:</a:t>
            </a: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僅 Mock 第三方服務與破壞性操作,其餘走真實環境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553170" y="6356271"/>
            <a:ext cx="67818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驗證範圍:</a:t>
            </a: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完整端到端流程驗證,接近真實使用者體驗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553170" y="6683693"/>
            <a:ext cx="67818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適用場景:</a:t>
            </a: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上線前最終驗證、Staging 環境測試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1553170" y="7011114"/>
            <a:ext cx="67818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優點:</a:t>
            </a: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最接近生產環境,能發現整合問題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9653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Mock 策略選擇指南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046565"/>
            <a:ext cx="13042821" cy="5153382"/>
          </a:xfrm>
          <a:prstGeom prst="roundRect">
            <a:avLst>
              <a:gd name="adj" fmla="val 57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054185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99887" y="2180868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API 類型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911923" y="2180868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建議策略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820150" y="2180868"/>
            <a:ext cx="481048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核心理由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01410" y="2625090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99887" y="2751773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登入認證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911923" y="2751773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storageState 重用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820150" y="2751773"/>
            <a:ext cx="481048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避免重複登入流程,提升測試效率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01410" y="3195995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99887" y="3322677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OTP 發送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911923" y="3322677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page.route() Mock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820150" y="3322677"/>
            <a:ext cx="481048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避免真實簡訊成本與手動輸入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01410" y="3766899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99887" y="3893582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金流支付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911923" y="3893582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page.route() Mock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820150" y="3893582"/>
            <a:ext cx="481048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避免真實交易與金流記錄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01410" y="4337804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99887" y="4464487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優惠券領取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911923" y="4464487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page.route() Mock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820150" y="4464487"/>
            <a:ext cx="481048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避免消耗限量優惠券庫存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801410" y="4908709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99887" y="5035391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商品查詢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4911923" y="5035391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HAR 重播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820150" y="5035391"/>
            <a:ext cx="481048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資料結構穩定,格式固定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801410" y="5479613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999887" y="5606296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購物車計算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4911923" y="5606296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HAR 重播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8820150" y="5606296"/>
            <a:ext cx="481048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業務邏輯複雜,需要真實計算結果</a:t>
            </a:r>
            <a:endParaRPr lang="en-US" sz="1550" dirty="0"/>
          </a:p>
        </p:txBody>
      </p:sp>
      <p:sp>
        <p:nvSpPr>
          <p:cNvPr id="32" name="Shape 30"/>
          <p:cNvSpPr/>
          <p:nvPr/>
        </p:nvSpPr>
        <p:spPr>
          <a:xfrm>
            <a:off x="801410" y="6050518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99887" y="6177201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社群登入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4911923" y="6177201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page.route() Mock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8820150" y="6177201"/>
            <a:ext cx="481048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避免依賴外部服務與人機驗證</a:t>
            </a:r>
            <a:endParaRPr lang="en-US" sz="1550" dirty="0"/>
          </a:p>
        </p:txBody>
      </p:sp>
      <p:sp>
        <p:nvSpPr>
          <p:cNvPr id="36" name="Shape 34"/>
          <p:cNvSpPr/>
          <p:nvPr/>
        </p:nvSpPr>
        <p:spPr>
          <a:xfrm>
            <a:off x="801410" y="6621423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999887" y="6748105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訂單建立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4911923" y="6748105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page.route() Mock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8820150" y="6748105"/>
            <a:ext cx="481048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避免產生真實訂單與物流流程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0098" y="536258"/>
            <a:ext cx="3485078" cy="396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3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測試穩定性最佳實踐總結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80098" y="1249204"/>
            <a:ext cx="1901666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✅</a:t>
            </a:r>
            <a:r>
              <a:rPr lang="en-US" sz="28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20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推薦做法</a:t>
            </a:r>
            <a:r>
              <a:rPr lang="en-US" sz="28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(DO)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60780" y="1790770"/>
            <a:ext cx="63341" cy="63341"/>
          </a:xfrm>
          <a:prstGeom prst="roundRect">
            <a:avLst>
              <a:gd name="adj" fmla="val 721807"/>
            </a:avLst>
          </a:prstGeom>
          <a:solidFill>
            <a:srgbClr val="1B5F39"/>
          </a:solidFill>
          <a:ln/>
        </p:spPr>
      </p:sp>
      <p:sp>
        <p:nvSpPr>
          <p:cNvPr id="5" name="Text 3"/>
          <p:cNvSpPr/>
          <p:nvPr/>
        </p:nvSpPr>
        <p:spPr>
          <a:xfrm>
            <a:off x="1050803" y="1723499"/>
            <a:ext cx="2223492" cy="198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使用 storageState 重用登入狀態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0803" y="2048183"/>
            <a:ext cx="6190417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避免每次測試都執行登入流程,大幅提升執行效率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0780" y="2571820"/>
            <a:ext cx="63341" cy="63341"/>
          </a:xfrm>
          <a:prstGeom prst="roundRect">
            <a:avLst>
              <a:gd name="adj" fmla="val 721807"/>
            </a:avLst>
          </a:prstGeom>
          <a:solidFill>
            <a:srgbClr val="1B5F39"/>
          </a:solidFill>
          <a:ln/>
        </p:spPr>
      </p:sp>
      <p:sp>
        <p:nvSpPr>
          <p:cNvPr id="8" name="Text 6"/>
          <p:cNvSpPr/>
          <p:nvPr/>
        </p:nvSpPr>
        <p:spPr>
          <a:xfrm>
            <a:off x="1050803" y="2504549"/>
            <a:ext cx="1584722" cy="198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Mock 所有第三方服務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0803" y="2829233"/>
            <a:ext cx="6190417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金流、社群登入、OTP 等外部依賴一律 Mock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0780" y="3352870"/>
            <a:ext cx="63341" cy="63341"/>
          </a:xfrm>
          <a:prstGeom prst="roundRect">
            <a:avLst>
              <a:gd name="adj" fmla="val 721807"/>
            </a:avLst>
          </a:prstGeom>
          <a:solidFill>
            <a:srgbClr val="1B5F39"/>
          </a:solidFill>
          <a:ln/>
        </p:spPr>
      </p:sp>
      <p:sp>
        <p:nvSpPr>
          <p:cNvPr id="11" name="Text 9"/>
          <p:cNvSpPr/>
          <p:nvPr/>
        </p:nvSpPr>
        <p:spPr>
          <a:xfrm>
            <a:off x="1050803" y="3285599"/>
            <a:ext cx="1584722" cy="198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Mock 所有破壞性操作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0803" y="3610283"/>
            <a:ext cx="6190417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訂單建立、優惠券領取、會員註冊等會影響資料的操作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0780" y="4133920"/>
            <a:ext cx="63341" cy="63341"/>
          </a:xfrm>
          <a:prstGeom prst="roundRect">
            <a:avLst>
              <a:gd name="adj" fmla="val 721807"/>
            </a:avLst>
          </a:prstGeom>
          <a:solidFill>
            <a:srgbClr val="1B5F39"/>
          </a:solidFill>
          <a:ln/>
        </p:spPr>
      </p:sp>
      <p:sp>
        <p:nvSpPr>
          <p:cNvPr id="14" name="Text 12"/>
          <p:cNvSpPr/>
          <p:nvPr/>
        </p:nvSpPr>
        <p:spPr>
          <a:xfrm>
            <a:off x="1050803" y="4066649"/>
            <a:ext cx="1663898" cy="198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使用 HAR 檔案穩定查詢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50803" y="4391333"/>
            <a:ext cx="6190417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商品查詢、購物車等讀取型 API 適合用 HAR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0780" y="4914970"/>
            <a:ext cx="63341" cy="63341"/>
          </a:xfrm>
          <a:prstGeom prst="roundRect">
            <a:avLst>
              <a:gd name="adj" fmla="val 721807"/>
            </a:avLst>
          </a:prstGeom>
          <a:solidFill>
            <a:srgbClr val="1B5F39"/>
          </a:solidFill>
          <a:ln/>
        </p:spPr>
      </p:sp>
      <p:sp>
        <p:nvSpPr>
          <p:cNvPr id="17" name="Text 15"/>
          <p:cNvSpPr/>
          <p:nvPr/>
        </p:nvSpPr>
        <p:spPr>
          <a:xfrm>
            <a:off x="1050803" y="4847699"/>
            <a:ext cx="1584722" cy="198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定期更新 Mock 資料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50803" y="5172383"/>
            <a:ext cx="6190417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確保測試資料與實際 API 格式保持一致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0780" y="5696020"/>
            <a:ext cx="63341" cy="63341"/>
          </a:xfrm>
          <a:prstGeom prst="roundRect">
            <a:avLst>
              <a:gd name="adj" fmla="val 721807"/>
            </a:avLst>
          </a:prstGeom>
          <a:solidFill>
            <a:srgbClr val="1B5F39"/>
          </a:solidFill>
          <a:ln/>
        </p:spPr>
      </p:sp>
      <p:sp>
        <p:nvSpPr>
          <p:cNvPr id="20" name="Text 18"/>
          <p:cNvSpPr/>
          <p:nvPr/>
        </p:nvSpPr>
        <p:spPr>
          <a:xfrm>
            <a:off x="1050803" y="5628749"/>
            <a:ext cx="1879402" cy="198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在測試報告標註 Mock 範圍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50803" y="5953433"/>
            <a:ext cx="6190417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清楚標示哪些 API 使用 Mock,哪些走真實環境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77482" y="1249204"/>
            <a:ext cx="1901666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✗ 避免做法 (DON'T)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665740" y="1884899"/>
            <a:ext cx="63341" cy="63341"/>
          </a:xfrm>
          <a:prstGeom prst="roundRect">
            <a:avLst>
              <a:gd name="adj" fmla="val 721807"/>
            </a:avLst>
          </a:prstGeom>
          <a:solidFill>
            <a:srgbClr val="1B5F39"/>
          </a:solidFill>
          <a:ln/>
        </p:spPr>
      </p:sp>
      <p:sp>
        <p:nvSpPr>
          <p:cNvPr id="24" name="Text 22"/>
          <p:cNvSpPr/>
          <p:nvPr/>
        </p:nvSpPr>
        <p:spPr>
          <a:xfrm>
            <a:off x="7775082" y="1723499"/>
            <a:ext cx="1761768" cy="198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在 E2E 測試中走真實金流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775082" y="2048183"/>
            <a:ext cx="6190417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會產生實際交易費用與難以清理的記錄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665740" y="2665949"/>
            <a:ext cx="63341" cy="63341"/>
          </a:xfrm>
          <a:prstGeom prst="roundRect">
            <a:avLst>
              <a:gd name="adj" fmla="val 721807"/>
            </a:avLst>
          </a:prstGeom>
          <a:solidFill>
            <a:srgbClr val="1B5F39"/>
          </a:solidFill>
          <a:ln/>
        </p:spPr>
      </p:sp>
      <p:sp>
        <p:nvSpPr>
          <p:cNvPr id="27" name="Text 25"/>
          <p:cNvSpPr/>
          <p:nvPr/>
        </p:nvSpPr>
        <p:spPr>
          <a:xfrm>
            <a:off x="7775082" y="2504549"/>
            <a:ext cx="1584722" cy="198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發送真實 OTP 簡訊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775082" y="2829233"/>
            <a:ext cx="6190417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每次測試都會產生簡訊費用,且無法自動化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665740" y="3446999"/>
            <a:ext cx="63341" cy="63341"/>
          </a:xfrm>
          <a:prstGeom prst="roundRect">
            <a:avLst>
              <a:gd name="adj" fmla="val 721807"/>
            </a:avLst>
          </a:prstGeom>
          <a:solidFill>
            <a:srgbClr val="1B5F39"/>
          </a:solidFill>
          <a:ln/>
        </p:spPr>
      </p:sp>
      <p:sp>
        <p:nvSpPr>
          <p:cNvPr id="30" name="Text 28"/>
          <p:cNvSpPr/>
          <p:nvPr/>
        </p:nvSpPr>
        <p:spPr>
          <a:xfrm>
            <a:off x="7775082" y="3285599"/>
            <a:ext cx="1584722" cy="198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消耗限量優惠券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775082" y="3610283"/>
            <a:ext cx="6190417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測試會影響真實用戶權益與行銷活動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665740" y="4228049"/>
            <a:ext cx="63341" cy="63341"/>
          </a:xfrm>
          <a:prstGeom prst="roundRect">
            <a:avLst>
              <a:gd name="adj" fmla="val 721807"/>
            </a:avLst>
          </a:prstGeom>
          <a:solidFill>
            <a:srgbClr val="1B5F39"/>
          </a:solidFill>
          <a:ln/>
        </p:spPr>
      </p:sp>
      <p:sp>
        <p:nvSpPr>
          <p:cNvPr id="33" name="Text 31"/>
          <p:cNvSpPr/>
          <p:nvPr/>
        </p:nvSpPr>
        <p:spPr>
          <a:xfrm>
            <a:off x="7775082" y="4066649"/>
            <a:ext cx="1742003" cy="198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產生真實訂單與交易記錄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775082" y="4391333"/>
            <a:ext cx="6190417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污染資料庫,影響報表統計與業務分析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665740" y="5009099"/>
            <a:ext cx="63341" cy="63341"/>
          </a:xfrm>
          <a:prstGeom prst="roundRect">
            <a:avLst>
              <a:gd name="adj" fmla="val 721807"/>
            </a:avLst>
          </a:prstGeom>
          <a:solidFill>
            <a:srgbClr val="1B5F39"/>
          </a:solidFill>
          <a:ln/>
        </p:spPr>
      </p:sp>
      <p:sp>
        <p:nvSpPr>
          <p:cNvPr id="36" name="Text 34"/>
          <p:cNvSpPr/>
          <p:nvPr/>
        </p:nvSpPr>
        <p:spPr>
          <a:xfrm>
            <a:off x="7775082" y="4847699"/>
            <a:ext cx="1584722" cy="198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依賴外部服務穩定性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775082" y="5172383"/>
            <a:ext cx="6190417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Google OAuth、第三方 API 的不穩定會導致測試失敗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665740" y="5790149"/>
            <a:ext cx="63341" cy="63341"/>
          </a:xfrm>
          <a:prstGeom prst="roundRect">
            <a:avLst>
              <a:gd name="adj" fmla="val 721807"/>
            </a:avLst>
          </a:prstGeom>
          <a:solidFill>
            <a:srgbClr val="1B5F39"/>
          </a:solidFill>
          <a:ln/>
        </p:spPr>
      </p:sp>
      <p:sp>
        <p:nvSpPr>
          <p:cNvPr id="39" name="Text 37"/>
          <p:cNvSpPr/>
          <p:nvPr/>
        </p:nvSpPr>
        <p:spPr>
          <a:xfrm>
            <a:off x="7775082" y="5628749"/>
            <a:ext cx="1900357" cy="198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在正式環境執行破壞性測試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7775082" y="5953433"/>
            <a:ext cx="6190417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可能造成無法挽回的資料損失或業務影響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80098" y="6491269"/>
            <a:ext cx="13070205" cy="23455"/>
          </a:xfrm>
          <a:prstGeom prst="rect">
            <a:avLst/>
          </a:prstGeom>
          <a:solidFill>
            <a:srgbClr val="2C2821">
              <a:alpha val="5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80098" y="6720559"/>
            <a:ext cx="4251008" cy="418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50"/>
              </a:lnSpc>
              <a:buNone/>
            </a:pPr>
            <a:r>
              <a:rPr lang="en-US" sz="4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50-80%</a:t>
            </a:r>
            <a:endParaRPr lang="en-US" sz="4000" dirty="0"/>
          </a:p>
        </p:txBody>
      </p:sp>
      <p:sp>
        <p:nvSpPr>
          <p:cNvPr id="43" name="Text 41"/>
          <p:cNvSpPr/>
          <p:nvPr/>
        </p:nvSpPr>
        <p:spPr>
          <a:xfrm>
            <a:off x="2113240" y="7310626"/>
            <a:ext cx="1584722" cy="198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測試執行速度提升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780098" y="7584589"/>
            <a:ext cx="4251008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無需等待真實 API 回應,大幅縮短測試時間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189577" y="6720559"/>
            <a:ext cx="4251127" cy="418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50"/>
              </a:lnSpc>
              <a:buNone/>
            </a:pPr>
            <a:r>
              <a:rPr lang="en-US" sz="4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90%+</a:t>
            </a:r>
            <a:endParaRPr lang="en-US" sz="4000" dirty="0"/>
          </a:p>
        </p:txBody>
      </p:sp>
      <p:sp>
        <p:nvSpPr>
          <p:cNvPr id="46" name="Text 44"/>
          <p:cNvSpPr/>
          <p:nvPr/>
        </p:nvSpPr>
        <p:spPr>
          <a:xfrm>
            <a:off x="6522720" y="7310626"/>
            <a:ext cx="1584722" cy="198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測試穩定性提升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5189577" y="7584589"/>
            <a:ext cx="4251127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不受外部服務影響,測試結果可預測且可重現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599176" y="6720559"/>
            <a:ext cx="4251127" cy="418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50"/>
              </a:lnSpc>
              <a:buNone/>
            </a:pPr>
            <a:r>
              <a:rPr lang="en-US" sz="4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100%</a:t>
            </a:r>
            <a:endParaRPr lang="en-US" sz="4000" dirty="0"/>
          </a:p>
        </p:txBody>
      </p:sp>
      <p:sp>
        <p:nvSpPr>
          <p:cNvPr id="49" name="Text 47"/>
          <p:cNvSpPr/>
          <p:nvPr/>
        </p:nvSpPr>
        <p:spPr>
          <a:xfrm>
            <a:off x="10932319" y="7310626"/>
            <a:ext cx="1584722" cy="198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成本降低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9599176" y="7584589"/>
            <a:ext cx="4251127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無簡訊費、金流測試費,避免資料污染與清理成本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1114</Words>
  <Application>Microsoft Office PowerPoint</Application>
  <PresentationFormat>自訂</PresentationFormat>
  <Paragraphs>211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Lora</vt:lpstr>
      <vt:lpstr>Consolas</vt:lpstr>
      <vt:lpstr>Alice</vt:lpstr>
      <vt:lpstr>Arial</vt:lpstr>
      <vt:lpstr>Alice Light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浩瑜 郝</cp:lastModifiedBy>
  <cp:revision>2</cp:revision>
  <dcterms:created xsi:type="dcterms:W3CDTF">2025-10-29T00:48:30Z</dcterms:created>
  <dcterms:modified xsi:type="dcterms:W3CDTF">2025-10-29T03:53:34Z</dcterms:modified>
</cp:coreProperties>
</file>