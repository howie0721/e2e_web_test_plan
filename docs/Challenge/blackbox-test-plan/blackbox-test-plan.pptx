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4630400" cy="8229600"/>
  <p:notesSz cx="8229600" cy="14630400"/>
  <p:embeddedFontLst>
    <p:embeddedFont>
      <p:font typeface="Alice"/>
      <p:regular r:id="rId17"/>
    </p:embeddedFont>
    <p:embeddedFont>
      <p:font typeface="Alice"/>
      <p:regular r:id="rId18"/>
    </p:embeddedFont>
    <p:embeddedFont>
      <p:font typeface="Lora"/>
      <p:regular r:id="rId19"/>
    </p:embeddedFont>
    <p:embeddedFont>
      <p:font typeface="Lora"/>
      <p:regular r:id="rId20"/>
    </p:embeddedFont>
    <p:embeddedFont>
      <p:font typeface="Lora"/>
      <p:regular r:id="rId21"/>
    </p:embeddedFont>
    <p:embeddedFont>
      <p:font typeface="Lora"/>
      <p:regular r:id="rId22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Relationship Id="rId22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svg"/><Relationship Id="rId4" Type="http://schemas.openxmlformats.org/officeDocument/2006/relationships/image" Target="../media/image-4-4.png"/><Relationship Id="rId5" Type="http://schemas.openxmlformats.org/officeDocument/2006/relationships/image" Target="../media/image-4-5.svg"/><Relationship Id="rId6" Type="http://schemas.openxmlformats.org/officeDocument/2006/relationships/image" Target="../media/image-4-6.png"/><Relationship Id="rId7" Type="http://schemas.openxmlformats.org/officeDocument/2006/relationships/image" Target="../media/image-4-7.svg"/><Relationship Id="rId8" Type="http://schemas.openxmlformats.org/officeDocument/2006/relationships/slideLayout" Target="../slideLayouts/slideLayout5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9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0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3338393"/>
            <a:ext cx="6945987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黑箱測試分析與邊界值測試規劃</a:t>
            </a:r>
            <a:endParaRPr lang="en-US" sz="3900" dirty="0"/>
          </a:p>
        </p:txBody>
      </p:sp>
      <p:sp>
        <p:nvSpPr>
          <p:cNvPr id="4" name="Text 1"/>
          <p:cNvSpPr/>
          <p:nvPr/>
        </p:nvSpPr>
        <p:spPr>
          <a:xfrm>
            <a:off x="6280190" y="4256127"/>
            <a:ext cx="755642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針對電商系統進行全面的黑箱測試分析,涵蓋安全性、邊界值、資料一致性與異常處理等關鍵測試面向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214324"/>
            <a:ext cx="3969425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1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測試內容大綱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93790" y="3107293"/>
            <a:ext cx="198358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01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93790" y="3421618"/>
            <a:ext cx="6422231" cy="2286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5" name="Text 3"/>
          <p:cNvSpPr/>
          <p:nvPr/>
        </p:nvSpPr>
        <p:spPr>
          <a:xfrm>
            <a:off x="793790" y="3566517"/>
            <a:ext cx="2728079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潛在錯誤與系統漏洞分析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793790" y="3995738"/>
            <a:ext cx="642223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識別輸入驗證、權限控管、Session管理等8大風險領域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414379" y="3107293"/>
            <a:ext cx="198358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02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414379" y="3421618"/>
            <a:ext cx="6422231" cy="2286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9" name="Text 7"/>
          <p:cNvSpPr/>
          <p:nvPr/>
        </p:nvSpPr>
        <p:spPr>
          <a:xfrm>
            <a:off x="7414379" y="3566517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邊界值測試規劃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7414379" y="3995738"/>
            <a:ext cx="642223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針對手機號碼、Email、OTP、購物車等關鍵欄位進行邊界值設計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793790" y="4660463"/>
            <a:ext cx="198358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03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793790" y="4974788"/>
            <a:ext cx="6422231" cy="2286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13" name="Text 11"/>
          <p:cNvSpPr/>
          <p:nvPr/>
        </p:nvSpPr>
        <p:spPr>
          <a:xfrm>
            <a:off x="793790" y="5119687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測試案例設計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793790" y="5548908"/>
            <a:ext cx="642223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涵蓋登入、購物車、結帳、權限與網路異常等完整測試場景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7414379" y="4660463"/>
            <a:ext cx="198358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04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7414379" y="4974788"/>
            <a:ext cx="6422231" cy="2286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17" name="Text 15"/>
          <p:cNvSpPr/>
          <p:nvPr/>
        </p:nvSpPr>
        <p:spPr>
          <a:xfrm>
            <a:off x="7414379" y="5119687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測試優先級與建議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7414379" y="5548908"/>
            <a:ext cx="642223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依據風險等級制定P0至P2優先級,並提供實作建議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955483"/>
            <a:ext cx="4365188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1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潛在錯誤與系統漏洞分析</a:t>
            </a:r>
            <a:endParaRPr lang="en-US" sz="3100" dirty="0"/>
          </a:p>
        </p:txBody>
      </p:sp>
      <p:sp>
        <p:nvSpPr>
          <p:cNvPr id="4" name="Text 1"/>
          <p:cNvSpPr/>
          <p:nvPr/>
        </p:nvSpPr>
        <p:spPr>
          <a:xfrm>
            <a:off x="6280190" y="2947630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高風險漏洞類型</a:t>
            </a:r>
            <a:endParaRPr lang="en-US" sz="1950" dirty="0"/>
          </a:p>
        </p:txBody>
      </p:sp>
      <p:sp>
        <p:nvSpPr>
          <p:cNvPr id="5" name="Text 2"/>
          <p:cNvSpPr/>
          <p:nvPr/>
        </p:nvSpPr>
        <p:spPr>
          <a:xfrm>
            <a:off x="6280190" y="3456146"/>
            <a:ext cx="3536156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輸入驗證不足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:可能導致SQL Injection、異常資料儲存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6280190" y="4160639"/>
            <a:ext cx="3536156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權限控管不嚴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:未授權存取敏感資料、繞過付費機制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6280190" y="4865132"/>
            <a:ext cx="3536156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Session/Token管理不當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:Session Fixation、Token重播攻擊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6280190" y="5569625"/>
            <a:ext cx="3536156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CSRF/XSS攻擊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:惡意腳本注入、偽造用戶操作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0308074" y="2947630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資料與流程風險</a:t>
            </a:r>
            <a:endParaRPr lang="en-US" sz="1950" dirty="0"/>
          </a:p>
        </p:txBody>
      </p:sp>
      <p:sp>
        <p:nvSpPr>
          <p:cNvPr id="10" name="Text 7"/>
          <p:cNvSpPr/>
          <p:nvPr/>
        </p:nvSpPr>
        <p:spPr>
          <a:xfrm>
            <a:off x="10308074" y="3456146"/>
            <a:ext cx="3536156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錯誤訊息洩漏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:暴露資料庫結構、系統版本資訊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10308074" y="4160639"/>
            <a:ext cx="3536156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資料一致性問題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:多裝置操作導致購物車不同步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10308074" y="4865132"/>
            <a:ext cx="3536156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異常處理不足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:API timeout、網路斷線未妥善處理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10308074" y="5569625"/>
            <a:ext cx="3536156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重複提交防護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:訂單重複、金額重複扣款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00" cy="248090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3830955"/>
            <a:ext cx="3969425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1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輸入驗證測試重點</a:t>
            </a:r>
            <a:endParaRPr lang="en-US" sz="3100" dirty="0"/>
          </a:p>
        </p:txBody>
      </p:sp>
      <p:sp>
        <p:nvSpPr>
          <p:cNvPr id="4" name="Shape 1"/>
          <p:cNvSpPr/>
          <p:nvPr/>
        </p:nvSpPr>
        <p:spPr>
          <a:xfrm>
            <a:off x="793790" y="4624745"/>
            <a:ext cx="4215289" cy="2254687"/>
          </a:xfrm>
          <a:prstGeom prst="roundRect">
            <a:avLst>
              <a:gd name="adj" fmla="val 1320"/>
            </a:avLst>
          </a:prstGeom>
          <a:solidFill>
            <a:srgbClr val="F0EDE6"/>
          </a:solidFill>
          <a:ln/>
        </p:spPr>
      </p:sp>
      <p:sp>
        <p:nvSpPr>
          <p:cNvPr id="5" name="Shape 2"/>
          <p:cNvSpPr/>
          <p:nvPr/>
        </p:nvSpPr>
        <p:spPr>
          <a:xfrm>
            <a:off x="992148" y="4823103"/>
            <a:ext cx="595313" cy="595313"/>
          </a:xfrm>
          <a:prstGeom prst="roundRect">
            <a:avLst>
              <a:gd name="adj" fmla="val 15358451"/>
            </a:avLst>
          </a:prstGeom>
          <a:solidFill>
            <a:srgbClr val="1B5F39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55859" y="4986695"/>
            <a:ext cx="267891" cy="26789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2148" y="5616773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特殊字元測試</a:t>
            </a:r>
            <a:endParaRPr lang="en-US" sz="1950" dirty="0"/>
          </a:p>
        </p:txBody>
      </p:sp>
      <p:sp>
        <p:nvSpPr>
          <p:cNvPr id="8" name="Text 4"/>
          <p:cNvSpPr/>
          <p:nvPr/>
        </p:nvSpPr>
        <p:spPr>
          <a:xfrm>
            <a:off x="992148" y="6045994"/>
            <a:ext cx="3818573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測試SQL Injection字串如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highlight>
                  <a:srgbClr val="EFEEE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' OR 1=1 --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,XSS攻擊如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highlight>
                  <a:srgbClr val="EFEEE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&lt;script&gt;alert('XSS')&lt;/script&gt;</a:t>
            </a:r>
            <a:endParaRPr lang="en-US" sz="1550" dirty="0"/>
          </a:p>
        </p:txBody>
      </p:sp>
      <p:sp>
        <p:nvSpPr>
          <p:cNvPr id="9" name="Shape 5"/>
          <p:cNvSpPr/>
          <p:nvPr/>
        </p:nvSpPr>
        <p:spPr>
          <a:xfrm>
            <a:off x="5207437" y="4624745"/>
            <a:ext cx="4215408" cy="2254687"/>
          </a:xfrm>
          <a:prstGeom prst="roundRect">
            <a:avLst>
              <a:gd name="adj" fmla="val 1320"/>
            </a:avLst>
          </a:prstGeom>
          <a:solidFill>
            <a:srgbClr val="F0EDE6"/>
          </a:solidFill>
          <a:ln/>
        </p:spPr>
      </p:sp>
      <p:sp>
        <p:nvSpPr>
          <p:cNvPr id="10" name="Shape 6"/>
          <p:cNvSpPr/>
          <p:nvPr/>
        </p:nvSpPr>
        <p:spPr>
          <a:xfrm>
            <a:off x="5405795" y="4823103"/>
            <a:ext cx="595313" cy="595313"/>
          </a:xfrm>
          <a:prstGeom prst="roundRect">
            <a:avLst>
              <a:gd name="adj" fmla="val 15358451"/>
            </a:avLst>
          </a:prstGeom>
          <a:solidFill>
            <a:srgbClr val="1B5F39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69506" y="4986695"/>
            <a:ext cx="267891" cy="267891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405795" y="5616773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長度邊界測試</a:t>
            </a:r>
            <a:endParaRPr lang="en-US" sz="1950" dirty="0"/>
          </a:p>
        </p:txBody>
      </p:sp>
      <p:sp>
        <p:nvSpPr>
          <p:cNvPr id="13" name="Text 8"/>
          <p:cNvSpPr/>
          <p:nvPr/>
        </p:nvSpPr>
        <p:spPr>
          <a:xfrm>
            <a:off x="5405795" y="6045994"/>
            <a:ext cx="3818692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驗證超長字串(1000+字元)、空值、最短/最長長度限制</a:t>
            </a:r>
            <a:endParaRPr lang="en-US" sz="1550" dirty="0"/>
          </a:p>
        </p:txBody>
      </p:sp>
      <p:sp>
        <p:nvSpPr>
          <p:cNvPr id="14" name="Shape 9"/>
          <p:cNvSpPr/>
          <p:nvPr/>
        </p:nvSpPr>
        <p:spPr>
          <a:xfrm>
            <a:off x="9621203" y="4624745"/>
            <a:ext cx="4215289" cy="2254687"/>
          </a:xfrm>
          <a:prstGeom prst="roundRect">
            <a:avLst>
              <a:gd name="adj" fmla="val 1320"/>
            </a:avLst>
          </a:prstGeom>
          <a:solidFill>
            <a:srgbClr val="F0EDE6"/>
          </a:solidFill>
          <a:ln/>
        </p:spPr>
      </p:sp>
      <p:sp>
        <p:nvSpPr>
          <p:cNvPr id="15" name="Shape 10"/>
          <p:cNvSpPr/>
          <p:nvPr/>
        </p:nvSpPr>
        <p:spPr>
          <a:xfrm>
            <a:off x="9819561" y="4823103"/>
            <a:ext cx="595313" cy="595313"/>
          </a:xfrm>
          <a:prstGeom prst="roundRect">
            <a:avLst>
              <a:gd name="adj" fmla="val 15358451"/>
            </a:avLst>
          </a:prstGeom>
          <a:solidFill>
            <a:srgbClr val="1B5F3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983272" y="4986695"/>
            <a:ext cx="267891" cy="267891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819561" y="5616773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字元編碼測試</a:t>
            </a:r>
            <a:endParaRPr lang="en-US" sz="1950" dirty="0"/>
          </a:p>
        </p:txBody>
      </p:sp>
      <p:sp>
        <p:nvSpPr>
          <p:cNvPr id="18" name="Text 12"/>
          <p:cNvSpPr/>
          <p:nvPr/>
        </p:nvSpPr>
        <p:spPr>
          <a:xfrm>
            <a:off x="9819561" y="6045994"/>
            <a:ext cx="3818573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測試Unicode、Emoji、全形/半形混用等特殊編碼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41033"/>
            <a:ext cx="4365188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1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關鍵欄位邊界值測試矩陣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93790" y="1216462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3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手機號碼格式測試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793790" y="1886188"/>
            <a:ext cx="13042821" cy="4635818"/>
          </a:xfrm>
          <a:prstGeom prst="roundRect">
            <a:avLst>
              <a:gd name="adj" fmla="val 642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1410" y="1893808"/>
            <a:ext cx="13027581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999887" y="2020491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測試項目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4911923" y="2020491"/>
            <a:ext cx="480667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測試值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0122932" y="2020491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預期結果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801410" y="2464713"/>
            <a:ext cx="13027581" cy="57852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999887" y="2591395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正常格式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911923" y="2591395"/>
            <a:ext cx="480667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0912345678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0122932" y="2591395"/>
            <a:ext cx="3507700" cy="325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✅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通過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801410" y="3043237"/>
            <a:ext cx="13027581" cy="57852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999887" y="3169920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國碼格式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911923" y="3169920"/>
            <a:ext cx="480667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886912345678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0122932" y="3169920"/>
            <a:ext cx="3507700" cy="325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✅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通過或格式化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801410" y="3621762"/>
            <a:ext cx="13027581" cy="57852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999887" y="3748445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最短長度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911923" y="3748445"/>
            <a:ext cx="480667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091234567 (9位)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10122932" y="3748445"/>
            <a:ext cx="3507700" cy="325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❌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拒絕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801410" y="4200287"/>
            <a:ext cx="13027581" cy="57852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999887" y="4326969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最長長度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911923" y="4326969"/>
            <a:ext cx="480667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09123456789 (11位)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10122932" y="4326969"/>
            <a:ext cx="3507700" cy="325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❌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拒絕</a:t>
            </a:r>
            <a:endParaRPr lang="en-US" sz="1550" dirty="0"/>
          </a:p>
        </p:txBody>
      </p:sp>
      <p:sp>
        <p:nvSpPr>
          <p:cNvPr id="25" name="Shape 23"/>
          <p:cNvSpPr/>
          <p:nvPr/>
        </p:nvSpPr>
        <p:spPr>
          <a:xfrm>
            <a:off x="801410" y="4778812"/>
            <a:ext cx="13027581" cy="57852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999887" y="4905494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空值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4911923" y="4905494"/>
            <a:ext cx="480667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""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10122932" y="4905494"/>
            <a:ext cx="3507700" cy="325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❌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拒絕,提示必填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801410" y="5357336"/>
            <a:ext cx="13027581" cy="57852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999887" y="5484019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特殊字元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4911923" y="5484019"/>
            <a:ext cx="480667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0912-345-678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10122932" y="5484019"/>
            <a:ext cx="3507700" cy="325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❌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拒絕或自動過濾</a:t>
            </a:r>
            <a:endParaRPr lang="en-US" sz="1550" dirty="0"/>
          </a:p>
        </p:txBody>
      </p:sp>
      <p:sp>
        <p:nvSpPr>
          <p:cNvPr id="33" name="Shape 31"/>
          <p:cNvSpPr/>
          <p:nvPr/>
        </p:nvSpPr>
        <p:spPr>
          <a:xfrm>
            <a:off x="801410" y="5935861"/>
            <a:ext cx="13027581" cy="57852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999887" y="6062543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字母混用</a:t>
            </a:r>
            <a:endParaRPr lang="en-US" sz="1550" dirty="0"/>
          </a:p>
        </p:txBody>
      </p:sp>
      <p:sp>
        <p:nvSpPr>
          <p:cNvPr id="35" name="Text 33"/>
          <p:cNvSpPr/>
          <p:nvPr/>
        </p:nvSpPr>
        <p:spPr>
          <a:xfrm>
            <a:off x="4911923" y="6062543"/>
            <a:ext cx="480667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091234567A</a:t>
            </a:r>
            <a:endParaRPr lang="en-US" sz="1550" dirty="0"/>
          </a:p>
        </p:txBody>
      </p:sp>
      <p:sp>
        <p:nvSpPr>
          <p:cNvPr id="36" name="Text 34"/>
          <p:cNvSpPr/>
          <p:nvPr/>
        </p:nvSpPr>
        <p:spPr>
          <a:xfrm>
            <a:off x="10122932" y="6062543"/>
            <a:ext cx="3507700" cy="325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❌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拒絕</a:t>
            </a:r>
            <a:endParaRPr lang="en-US" sz="1550" dirty="0"/>
          </a:p>
        </p:txBody>
      </p:sp>
      <p:sp>
        <p:nvSpPr>
          <p:cNvPr id="37" name="Shape 35"/>
          <p:cNvSpPr/>
          <p:nvPr/>
        </p:nvSpPr>
        <p:spPr>
          <a:xfrm>
            <a:off x="793790" y="6745248"/>
            <a:ext cx="13042821" cy="843201"/>
          </a:xfrm>
          <a:prstGeom prst="roundRect">
            <a:avLst>
              <a:gd name="adj" fmla="val 3531"/>
            </a:avLst>
          </a:prstGeom>
          <a:solidFill>
            <a:srgbClr val="C3EED6"/>
          </a:solidFill>
          <a:ln/>
        </p:spPr>
      </p:sp>
      <p:pic>
        <p:nvPicPr>
          <p:cNvPr id="3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48" y="7048143"/>
            <a:ext cx="248007" cy="198358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1438513" y="6993136"/>
            <a:ext cx="12199739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測試策略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:使用參數化測試(data-driven)方式,覆蓋所有邊界條件與異常格式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922496"/>
            <a:ext cx="4733092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1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OTP驗證與購物車測試設計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93790" y="1914644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OTP驗證邊界值測試</a:t>
            </a:r>
            <a:endParaRPr lang="en-US" sz="1950" dirty="0"/>
          </a:p>
        </p:txBody>
      </p:sp>
      <p:sp>
        <p:nvSpPr>
          <p:cNvPr id="4" name="Shape 2"/>
          <p:cNvSpPr/>
          <p:nvPr/>
        </p:nvSpPr>
        <p:spPr>
          <a:xfrm>
            <a:off x="793790" y="2448044"/>
            <a:ext cx="6279356" cy="4057293"/>
          </a:xfrm>
          <a:prstGeom prst="roundRect">
            <a:avLst>
              <a:gd name="adj" fmla="val 734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1410" y="2455664"/>
            <a:ext cx="6264116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999768" y="2582347"/>
            <a:ext cx="273153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測試場景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4135636" y="2582347"/>
            <a:ext cx="273153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預期行為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801410" y="3026569"/>
            <a:ext cx="6264116" cy="57852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999768" y="3153251"/>
            <a:ext cx="273153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正確OTP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135636" y="3153251"/>
            <a:ext cx="2731532" cy="325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✅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通過驗證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01410" y="3605093"/>
            <a:ext cx="6264116" cy="57852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999768" y="3731776"/>
            <a:ext cx="273153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錯誤OTP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135636" y="3731776"/>
            <a:ext cx="2731532" cy="325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❌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提示錯誤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801410" y="4183618"/>
            <a:ext cx="6264116" cy="57852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999768" y="4310301"/>
            <a:ext cx="273153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過期OTP (5分鐘)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135636" y="4310301"/>
            <a:ext cx="2731532" cy="325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❌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提示過期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801410" y="4762143"/>
            <a:ext cx="6264116" cy="57852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999768" y="4888825"/>
            <a:ext cx="273153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空值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135636" y="4888825"/>
            <a:ext cx="2731532" cy="325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❌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提示必填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801410" y="5340668"/>
            <a:ext cx="6264116" cy="57852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999768" y="5467350"/>
            <a:ext cx="273153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不足位數 (12345)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4135636" y="5467350"/>
            <a:ext cx="2731532" cy="325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❌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拒絕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801410" y="5919192"/>
            <a:ext cx="6264116" cy="57852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999768" y="6045875"/>
            <a:ext cx="273153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連續錯誤5次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4135636" y="6045875"/>
            <a:ext cx="2731532" cy="325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🔒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鎖定或重發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7564874" y="1914644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購物車數量邊界測試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7564874" y="2448044"/>
            <a:ext cx="6279356" cy="4635818"/>
          </a:xfrm>
          <a:prstGeom prst="roundRect">
            <a:avLst>
              <a:gd name="adj" fmla="val 642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572494" y="2455664"/>
            <a:ext cx="6264116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7770852" y="2582347"/>
            <a:ext cx="273153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測試值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10906720" y="2582347"/>
            <a:ext cx="273153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預期結果</a:t>
            </a:r>
            <a:endParaRPr lang="en-US" sz="1550" dirty="0"/>
          </a:p>
        </p:txBody>
      </p:sp>
      <p:sp>
        <p:nvSpPr>
          <p:cNvPr id="31" name="Shape 29"/>
          <p:cNvSpPr/>
          <p:nvPr/>
        </p:nvSpPr>
        <p:spPr>
          <a:xfrm>
            <a:off x="7572494" y="3026569"/>
            <a:ext cx="6264116" cy="57852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7770852" y="3153251"/>
            <a:ext cx="273153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正常數量 (1,5,10)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10906720" y="3153251"/>
            <a:ext cx="2731532" cy="325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✅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通過</a:t>
            </a:r>
            <a:endParaRPr lang="en-US" sz="1550" dirty="0"/>
          </a:p>
        </p:txBody>
      </p:sp>
      <p:sp>
        <p:nvSpPr>
          <p:cNvPr id="34" name="Shape 32"/>
          <p:cNvSpPr/>
          <p:nvPr/>
        </p:nvSpPr>
        <p:spPr>
          <a:xfrm>
            <a:off x="7572494" y="3605093"/>
            <a:ext cx="6264116" cy="57852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7770852" y="3731776"/>
            <a:ext cx="273153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0</a:t>
            </a:r>
            <a:endParaRPr lang="en-US" sz="1550" dirty="0"/>
          </a:p>
        </p:txBody>
      </p:sp>
      <p:sp>
        <p:nvSpPr>
          <p:cNvPr id="36" name="Text 34"/>
          <p:cNvSpPr/>
          <p:nvPr/>
        </p:nvSpPr>
        <p:spPr>
          <a:xfrm>
            <a:off x="10906720" y="3731776"/>
            <a:ext cx="2731532" cy="325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❌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拒絕或移除</a:t>
            </a:r>
            <a:endParaRPr lang="en-US" sz="1550" dirty="0"/>
          </a:p>
        </p:txBody>
      </p:sp>
      <p:sp>
        <p:nvSpPr>
          <p:cNvPr id="37" name="Shape 35"/>
          <p:cNvSpPr/>
          <p:nvPr/>
        </p:nvSpPr>
        <p:spPr>
          <a:xfrm>
            <a:off x="7572494" y="4183618"/>
            <a:ext cx="6264116" cy="57852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7770852" y="4310301"/>
            <a:ext cx="273153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負數 (-1)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10906720" y="4310301"/>
            <a:ext cx="2731532" cy="325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❌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拒絕</a:t>
            </a:r>
            <a:endParaRPr lang="en-US" sz="1550" dirty="0"/>
          </a:p>
        </p:txBody>
      </p:sp>
      <p:sp>
        <p:nvSpPr>
          <p:cNvPr id="40" name="Shape 38"/>
          <p:cNvSpPr/>
          <p:nvPr/>
        </p:nvSpPr>
        <p:spPr>
          <a:xfrm>
            <a:off x="7572494" y="4762143"/>
            <a:ext cx="6264116" cy="57852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7770852" y="4888825"/>
            <a:ext cx="273153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超過庫存 (9999)</a:t>
            </a:r>
            <a:endParaRPr lang="en-US" sz="1550" dirty="0"/>
          </a:p>
        </p:txBody>
      </p:sp>
      <p:sp>
        <p:nvSpPr>
          <p:cNvPr id="42" name="Text 40"/>
          <p:cNvSpPr/>
          <p:nvPr/>
        </p:nvSpPr>
        <p:spPr>
          <a:xfrm>
            <a:off x="10906720" y="4888825"/>
            <a:ext cx="2731532" cy="325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❌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限制最大值</a:t>
            </a:r>
            <a:endParaRPr lang="en-US" sz="1550" dirty="0"/>
          </a:p>
        </p:txBody>
      </p:sp>
      <p:sp>
        <p:nvSpPr>
          <p:cNvPr id="43" name="Shape 41"/>
          <p:cNvSpPr/>
          <p:nvPr/>
        </p:nvSpPr>
        <p:spPr>
          <a:xfrm>
            <a:off x="7572494" y="5340668"/>
            <a:ext cx="6264116" cy="57852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7770852" y="5467350"/>
            <a:ext cx="273153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非數字 (abc)</a:t>
            </a:r>
            <a:endParaRPr lang="en-US" sz="1550" dirty="0"/>
          </a:p>
        </p:txBody>
      </p:sp>
      <p:sp>
        <p:nvSpPr>
          <p:cNvPr id="45" name="Text 43"/>
          <p:cNvSpPr/>
          <p:nvPr/>
        </p:nvSpPr>
        <p:spPr>
          <a:xfrm>
            <a:off x="10906720" y="5467350"/>
            <a:ext cx="2731532" cy="325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❌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拒絕</a:t>
            </a:r>
            <a:endParaRPr lang="en-US" sz="1550" dirty="0"/>
          </a:p>
        </p:txBody>
      </p:sp>
      <p:sp>
        <p:nvSpPr>
          <p:cNvPr id="46" name="Shape 44"/>
          <p:cNvSpPr/>
          <p:nvPr/>
        </p:nvSpPr>
        <p:spPr>
          <a:xfrm>
            <a:off x="7572494" y="5919192"/>
            <a:ext cx="6264116" cy="57852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7770852" y="6045875"/>
            <a:ext cx="273153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小數 (1.5)</a:t>
            </a:r>
            <a:endParaRPr lang="en-US" sz="1550" dirty="0"/>
          </a:p>
        </p:txBody>
      </p:sp>
      <p:sp>
        <p:nvSpPr>
          <p:cNvPr id="48" name="Text 46"/>
          <p:cNvSpPr/>
          <p:nvPr/>
        </p:nvSpPr>
        <p:spPr>
          <a:xfrm>
            <a:off x="10906720" y="6045875"/>
            <a:ext cx="2731532" cy="325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❌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拒絕或四捨五入</a:t>
            </a:r>
            <a:endParaRPr lang="en-US" sz="1550" dirty="0"/>
          </a:p>
        </p:txBody>
      </p:sp>
      <p:sp>
        <p:nvSpPr>
          <p:cNvPr id="49" name="Shape 47"/>
          <p:cNvSpPr/>
          <p:nvPr/>
        </p:nvSpPr>
        <p:spPr>
          <a:xfrm>
            <a:off x="7572494" y="6497717"/>
            <a:ext cx="6264116" cy="57852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7770852" y="6624399"/>
            <a:ext cx="273153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購物車上限 (100項)</a:t>
            </a:r>
            <a:endParaRPr lang="en-US" sz="1550" dirty="0"/>
          </a:p>
        </p:txBody>
      </p:sp>
      <p:sp>
        <p:nvSpPr>
          <p:cNvPr id="51" name="Text 49"/>
          <p:cNvSpPr/>
          <p:nvPr/>
        </p:nvSpPr>
        <p:spPr>
          <a:xfrm>
            <a:off x="10906720" y="6624399"/>
            <a:ext cx="2731532" cy="325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⚠️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提示上限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080849"/>
            <a:ext cx="3969425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1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安全性測試案例實作</a:t>
            </a:r>
            <a:endParaRPr lang="en-US" sz="3100" dirty="0"/>
          </a:p>
        </p:txBody>
      </p:sp>
      <p:sp>
        <p:nvSpPr>
          <p:cNvPr id="4" name="Shape 1"/>
          <p:cNvSpPr/>
          <p:nvPr/>
        </p:nvSpPr>
        <p:spPr>
          <a:xfrm>
            <a:off x="6280190" y="1874639"/>
            <a:ext cx="7556421" cy="1625798"/>
          </a:xfrm>
          <a:prstGeom prst="roundRect">
            <a:avLst>
              <a:gd name="adj" fmla="val 1831"/>
            </a:avLst>
          </a:prstGeom>
          <a:solidFill>
            <a:srgbClr val="FCFBF8"/>
          </a:solidFill>
          <a:ln w="22860">
            <a:solidFill>
              <a:srgbClr val="D6D3CC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303050" y="1897499"/>
            <a:ext cx="793790" cy="1580078"/>
          </a:xfrm>
          <a:prstGeom prst="roundRect">
            <a:avLst>
              <a:gd name="adj" fmla="val 295"/>
            </a:avLst>
          </a:prstGeom>
          <a:solidFill>
            <a:srgbClr val="F0EDE6"/>
          </a:solidFill>
          <a:ln/>
        </p:spPr>
      </p:sp>
      <p:sp>
        <p:nvSpPr>
          <p:cNvPr id="6" name="Text 3"/>
          <p:cNvSpPr/>
          <p:nvPr/>
        </p:nvSpPr>
        <p:spPr>
          <a:xfrm>
            <a:off x="6551057" y="2501503"/>
            <a:ext cx="297656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3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1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7295198" y="2095857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未登入存取會員頁</a:t>
            </a:r>
            <a:endParaRPr lang="en-US" sz="1950" dirty="0"/>
          </a:p>
        </p:txBody>
      </p:sp>
      <p:sp>
        <p:nvSpPr>
          <p:cNvPr id="8" name="Text 5"/>
          <p:cNvSpPr/>
          <p:nvPr/>
        </p:nvSpPr>
        <p:spPr>
          <a:xfrm>
            <a:off x="7295198" y="2525078"/>
            <a:ext cx="632019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測試步驟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:清除cookies/storage後直接訪問/my-account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7295198" y="2961680"/>
            <a:ext cx="632019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預期結果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:自動跳轉至登入頁,阻擋未授權存取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280190" y="3698796"/>
            <a:ext cx="7556421" cy="1625798"/>
          </a:xfrm>
          <a:prstGeom prst="roundRect">
            <a:avLst>
              <a:gd name="adj" fmla="val 1831"/>
            </a:avLst>
          </a:prstGeom>
          <a:solidFill>
            <a:srgbClr val="FCFBF8"/>
          </a:solidFill>
          <a:ln w="22860">
            <a:solidFill>
              <a:srgbClr val="D6D3C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03050" y="3721656"/>
            <a:ext cx="793790" cy="1580078"/>
          </a:xfrm>
          <a:prstGeom prst="roundRect">
            <a:avLst>
              <a:gd name="adj" fmla="val 295"/>
            </a:avLst>
          </a:prstGeom>
          <a:solidFill>
            <a:srgbClr val="F0EDE6"/>
          </a:solidFill>
          <a:ln/>
        </p:spPr>
      </p:sp>
      <p:sp>
        <p:nvSpPr>
          <p:cNvPr id="12" name="Text 9"/>
          <p:cNvSpPr/>
          <p:nvPr/>
        </p:nvSpPr>
        <p:spPr>
          <a:xfrm>
            <a:off x="6551057" y="4325660"/>
            <a:ext cx="297656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3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2</a:t>
            </a:r>
            <a:endParaRPr lang="en-US" sz="2300" dirty="0"/>
          </a:p>
        </p:txBody>
      </p:sp>
      <p:sp>
        <p:nvSpPr>
          <p:cNvPr id="13" name="Text 10"/>
          <p:cNvSpPr/>
          <p:nvPr/>
        </p:nvSpPr>
        <p:spPr>
          <a:xfrm>
            <a:off x="7295198" y="3920014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Token竄改測試</a:t>
            </a:r>
            <a:endParaRPr lang="en-US" sz="1950" dirty="0"/>
          </a:p>
        </p:txBody>
      </p:sp>
      <p:sp>
        <p:nvSpPr>
          <p:cNvPr id="14" name="Text 11"/>
          <p:cNvSpPr/>
          <p:nvPr/>
        </p:nvSpPr>
        <p:spPr>
          <a:xfrm>
            <a:off x="7295198" y="4349234"/>
            <a:ext cx="632019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測試步驟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:登入後修改localStorage的token,呼叫購物車API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7295198" y="4785836"/>
            <a:ext cx="632019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預期結果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:回傳401 Unauthorized,拒絕無效token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280190" y="5522952"/>
            <a:ext cx="7556421" cy="1625798"/>
          </a:xfrm>
          <a:prstGeom prst="roundRect">
            <a:avLst>
              <a:gd name="adj" fmla="val 1831"/>
            </a:avLst>
          </a:prstGeom>
          <a:solidFill>
            <a:srgbClr val="FCFBF8"/>
          </a:solidFill>
          <a:ln w="22860">
            <a:solidFill>
              <a:srgbClr val="D6D3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03050" y="5545812"/>
            <a:ext cx="793790" cy="1580078"/>
          </a:xfrm>
          <a:prstGeom prst="roundRect">
            <a:avLst>
              <a:gd name="adj" fmla="val 295"/>
            </a:avLst>
          </a:prstGeom>
          <a:solidFill>
            <a:srgbClr val="F0EDE6"/>
          </a:solidFill>
          <a:ln/>
        </p:spPr>
      </p:sp>
      <p:sp>
        <p:nvSpPr>
          <p:cNvPr id="18" name="Text 15"/>
          <p:cNvSpPr/>
          <p:nvPr/>
        </p:nvSpPr>
        <p:spPr>
          <a:xfrm>
            <a:off x="6551057" y="6149816"/>
            <a:ext cx="297656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3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3</a:t>
            </a:r>
            <a:endParaRPr lang="en-US" sz="2300" dirty="0"/>
          </a:p>
        </p:txBody>
      </p:sp>
      <p:sp>
        <p:nvSpPr>
          <p:cNvPr id="19" name="Text 16"/>
          <p:cNvSpPr/>
          <p:nvPr/>
        </p:nvSpPr>
        <p:spPr>
          <a:xfrm>
            <a:off x="7295198" y="5744170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XSS注入測試</a:t>
            </a:r>
            <a:endParaRPr lang="en-US" sz="1950" dirty="0"/>
          </a:p>
        </p:txBody>
      </p:sp>
      <p:sp>
        <p:nvSpPr>
          <p:cNvPr id="20" name="Text 17"/>
          <p:cNvSpPr/>
          <p:nvPr/>
        </p:nvSpPr>
        <p:spPr>
          <a:xfrm>
            <a:off x="7295198" y="6173391"/>
            <a:ext cx="632019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測試步驟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:在商品評論輸入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highlight>
                  <a:srgbClr val="EFEEE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&lt;script&gt;alert('XSS')&lt;/script&gt;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7295198" y="6609993"/>
            <a:ext cx="632019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預期結果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:腳本被轉義,不執行惡意代碼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0180" y="336947"/>
            <a:ext cx="2940368" cy="306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多裝置同步與異常處理測試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490180" y="692229"/>
            <a:ext cx="1838325" cy="2297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資料一致性測試場景</a:t>
            </a:r>
            <a:endParaRPr lang="en-US" sz="1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0180" y="1105853"/>
            <a:ext cx="4549973" cy="4901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12696" y="1718548"/>
            <a:ext cx="1531977" cy="1914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多分頁同步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12696" y="1983462"/>
            <a:ext cx="4304943" cy="195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分頁A加入商品後,分頁B應自動顯示更新</a:t>
            </a:r>
            <a:endParaRPr lang="en-US" sz="9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154" y="1105853"/>
            <a:ext cx="4549973" cy="4901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162669" y="1718548"/>
            <a:ext cx="1531977" cy="1914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多裝置同步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5162669" y="1983462"/>
            <a:ext cx="4304943" cy="195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手機與電腦同時操作,購物車應即時同步</a:t>
            </a:r>
            <a:endParaRPr lang="en-US" sz="9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0127" y="1105853"/>
            <a:ext cx="4549973" cy="4901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712643" y="1718548"/>
            <a:ext cx="1531977" cy="1914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斷線重連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9712643" y="1983462"/>
            <a:ext cx="4304943" cy="195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網路中斷後重連,自動重試或提示重新整理</a:t>
            </a:r>
            <a:endParaRPr lang="en-US" sz="950" dirty="0"/>
          </a:p>
        </p:txBody>
      </p:sp>
      <p:sp>
        <p:nvSpPr>
          <p:cNvPr id="13" name="Shape 8"/>
          <p:cNvSpPr/>
          <p:nvPr/>
        </p:nvSpPr>
        <p:spPr>
          <a:xfrm>
            <a:off x="490180" y="2501068"/>
            <a:ext cx="13650039" cy="22860"/>
          </a:xfrm>
          <a:prstGeom prst="rect">
            <a:avLst/>
          </a:prstGeom>
          <a:solidFill>
            <a:srgbClr val="2C2821">
              <a:alpha val="50000"/>
            </a:srgbClr>
          </a:solidFill>
          <a:ln/>
        </p:spPr>
      </p:sp>
      <p:sp>
        <p:nvSpPr>
          <p:cNvPr id="14" name="Text 9"/>
          <p:cNvSpPr/>
          <p:nvPr/>
        </p:nvSpPr>
        <p:spPr>
          <a:xfrm>
            <a:off x="490180" y="2784277"/>
            <a:ext cx="1531977" cy="1914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網路異常測試方法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490180" y="3098244"/>
            <a:ext cx="6675596" cy="195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500"/>
              </a:lnSpc>
              <a:buSzPct val="100000"/>
              <a:buFont typeface="+mj-lt"/>
              <a:buAutoNum type="arabicPeriod" startAt="1"/>
            </a:pPr>
            <a:r>
              <a:rPr lang="en-US" sz="9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使用Chrome DevTools模擬Slow 3G或Offline</a:t>
            </a:r>
            <a:endParaRPr lang="en-US" sz="950" dirty="0"/>
          </a:p>
        </p:txBody>
      </p:sp>
      <p:sp>
        <p:nvSpPr>
          <p:cNvPr id="16" name="Text 11"/>
          <p:cNvSpPr/>
          <p:nvPr/>
        </p:nvSpPr>
        <p:spPr>
          <a:xfrm>
            <a:off x="490180" y="3337084"/>
            <a:ext cx="6675596" cy="195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500"/>
              </a:lnSpc>
              <a:buSzPct val="100000"/>
              <a:buFont typeface="+mj-lt"/>
              <a:buAutoNum type="arabicPeriod" startAt="2"/>
            </a:pPr>
            <a:r>
              <a:rPr lang="en-US" sz="9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測試API timeout處理機制</a:t>
            </a:r>
            <a:endParaRPr lang="en-US" sz="950" dirty="0"/>
          </a:p>
        </p:txBody>
      </p:sp>
      <p:sp>
        <p:nvSpPr>
          <p:cNvPr id="17" name="Text 12"/>
          <p:cNvSpPr/>
          <p:nvPr/>
        </p:nvSpPr>
        <p:spPr>
          <a:xfrm>
            <a:off x="490180" y="3575923"/>
            <a:ext cx="6675596" cy="195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500"/>
              </a:lnSpc>
              <a:buSzPct val="100000"/>
              <a:buFont typeface="+mj-lt"/>
              <a:buAutoNum type="arabicPeriod" startAt="3"/>
            </a:pPr>
            <a:r>
              <a:rPr lang="en-US" sz="9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驗證重試邏輯與錯誤提示</a:t>
            </a:r>
            <a:endParaRPr lang="en-US" sz="950" dirty="0"/>
          </a:p>
        </p:txBody>
      </p:sp>
      <p:sp>
        <p:nvSpPr>
          <p:cNvPr id="18" name="Text 13"/>
          <p:cNvSpPr/>
          <p:nvPr/>
        </p:nvSpPr>
        <p:spPr>
          <a:xfrm>
            <a:off x="490180" y="3814762"/>
            <a:ext cx="6675596" cy="195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500"/>
              </a:lnSpc>
              <a:buSzPct val="100000"/>
              <a:buFont typeface="+mj-lt"/>
              <a:buAutoNum type="arabicPeriod" startAt="4"/>
            </a:pPr>
            <a:r>
              <a:rPr lang="en-US" sz="9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檢查斷線後資料完整性</a:t>
            </a:r>
            <a:endParaRPr lang="en-US" sz="95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2243" y="2799636"/>
            <a:ext cx="6675596" cy="667559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161931"/>
            <a:ext cx="4762024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1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測試優先級分級與實作建議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2967514" y="2054900"/>
            <a:ext cx="2173724" cy="1143476"/>
          </a:xfrm>
          <a:prstGeom prst="roundRect">
            <a:avLst>
              <a:gd name="adj" fmla="val 2604"/>
            </a:avLst>
          </a:prstGeom>
          <a:solidFill>
            <a:srgbClr val="F0EDE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14775" y="2487097"/>
            <a:ext cx="279083" cy="2790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339596" y="2253258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P0 - 高優先級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5339596" y="2682478"/>
            <a:ext cx="509587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登入/登出、購物車、結帳流程、權限驗證、重複提交防護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5240417" y="3188851"/>
            <a:ext cx="8497014" cy="11430"/>
          </a:xfrm>
          <a:prstGeom prst="roundRect">
            <a:avLst>
              <a:gd name="adj" fmla="val 260465"/>
            </a:avLst>
          </a:prstGeom>
          <a:solidFill>
            <a:srgbClr val="D6D3CC"/>
          </a:solidFill>
          <a:ln/>
        </p:spPr>
      </p:sp>
      <p:sp>
        <p:nvSpPr>
          <p:cNvPr id="8" name="Shape 5"/>
          <p:cNvSpPr/>
          <p:nvPr/>
        </p:nvSpPr>
        <p:spPr>
          <a:xfrm>
            <a:off x="1880592" y="3297555"/>
            <a:ext cx="4347567" cy="1143476"/>
          </a:xfrm>
          <a:prstGeom prst="roundRect">
            <a:avLst>
              <a:gd name="adj" fmla="val 2604"/>
            </a:avLst>
          </a:prstGeom>
          <a:solidFill>
            <a:srgbClr val="F0EDE6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14775" y="3729752"/>
            <a:ext cx="279083" cy="2790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26518" y="3495913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P1 - 中優先級</a:t>
            </a:r>
            <a:endParaRPr lang="en-US" sz="1950" dirty="0"/>
          </a:p>
        </p:txBody>
      </p:sp>
      <p:sp>
        <p:nvSpPr>
          <p:cNvPr id="11" name="Text 7"/>
          <p:cNvSpPr/>
          <p:nvPr/>
        </p:nvSpPr>
        <p:spPr>
          <a:xfrm>
            <a:off x="6426518" y="3925133"/>
            <a:ext cx="4958953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邊界值測試、多裝置同步、網路異常處理、錯誤訊息檢查</a:t>
            </a:r>
            <a:endParaRPr lang="en-US" sz="1550" dirty="0"/>
          </a:p>
        </p:txBody>
      </p:sp>
      <p:sp>
        <p:nvSpPr>
          <p:cNvPr id="12" name="Shape 8"/>
          <p:cNvSpPr/>
          <p:nvPr/>
        </p:nvSpPr>
        <p:spPr>
          <a:xfrm>
            <a:off x="6327338" y="4431506"/>
            <a:ext cx="7410093" cy="11430"/>
          </a:xfrm>
          <a:prstGeom prst="roundRect">
            <a:avLst>
              <a:gd name="adj" fmla="val 260465"/>
            </a:avLst>
          </a:prstGeom>
          <a:solidFill>
            <a:srgbClr val="D6D3CC"/>
          </a:solidFill>
          <a:ln/>
        </p:spPr>
      </p:sp>
      <p:sp>
        <p:nvSpPr>
          <p:cNvPr id="13" name="Shape 9"/>
          <p:cNvSpPr/>
          <p:nvPr/>
        </p:nvSpPr>
        <p:spPr>
          <a:xfrm>
            <a:off x="793790" y="4540210"/>
            <a:ext cx="6521410" cy="1143476"/>
          </a:xfrm>
          <a:prstGeom prst="roundRect">
            <a:avLst>
              <a:gd name="adj" fmla="val 2604"/>
            </a:avLst>
          </a:prstGeom>
          <a:solidFill>
            <a:srgbClr val="F0EDE6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14894" y="4972407"/>
            <a:ext cx="279083" cy="27908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513558" y="4738568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P2 - 低優先級</a:t>
            </a:r>
            <a:endParaRPr lang="en-US" sz="1950" dirty="0"/>
          </a:p>
        </p:txBody>
      </p:sp>
      <p:sp>
        <p:nvSpPr>
          <p:cNvPr id="16" name="Text 11"/>
          <p:cNvSpPr/>
          <p:nvPr/>
        </p:nvSpPr>
        <p:spPr>
          <a:xfrm>
            <a:off x="7513558" y="5167789"/>
            <a:ext cx="3799403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UI/UX細節、效能測試、瀏覽器相容性測試</a:t>
            </a:r>
            <a:endParaRPr lang="en-US" sz="1550" dirty="0"/>
          </a:p>
        </p:txBody>
      </p:sp>
      <p:sp>
        <p:nvSpPr>
          <p:cNvPr id="17" name="Shape 12"/>
          <p:cNvSpPr/>
          <p:nvPr/>
        </p:nvSpPr>
        <p:spPr>
          <a:xfrm>
            <a:off x="793790" y="5906929"/>
            <a:ext cx="13042821" cy="1160740"/>
          </a:xfrm>
          <a:prstGeom prst="roundRect">
            <a:avLst>
              <a:gd name="adj" fmla="val 2565"/>
            </a:avLst>
          </a:prstGeom>
          <a:solidFill>
            <a:srgbClr val="C3EED6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48" y="6209824"/>
            <a:ext cx="248007" cy="19835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38513" y="6154817"/>
            <a:ext cx="12199739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自動化策略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:P0測試案例優先自動化,減少回歸測試時間。使用Playwright的參數化測試(test.describe.parallel)實作邊界值測試,並整合CI/CD持續監控品質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716518"/>
            <a:ext cx="3969425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1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黑箱測試檢查清單總結</a:t>
            </a:r>
            <a:endParaRPr lang="en-US" sz="3100" dirty="0"/>
          </a:p>
        </p:txBody>
      </p:sp>
      <p:sp>
        <p:nvSpPr>
          <p:cNvPr id="4" name="Text 1"/>
          <p:cNvSpPr/>
          <p:nvPr/>
        </p:nvSpPr>
        <p:spPr>
          <a:xfrm>
            <a:off x="793790" y="1708666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輸入驗證檢查項目</a:t>
            </a:r>
            <a:endParaRPr lang="en-US" sz="1950" dirty="0"/>
          </a:p>
        </p:txBody>
      </p:sp>
      <p:sp>
        <p:nvSpPr>
          <p:cNvPr id="5" name="Text 2"/>
          <p:cNvSpPr/>
          <p:nvPr/>
        </p:nvSpPr>
        <p:spPr>
          <a:xfrm>
            <a:off x="793790" y="2217182"/>
            <a:ext cx="353615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✓ 空值與超長字串測試(1000+字元)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793790" y="2604135"/>
            <a:ext cx="353615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✓ 特殊字元測試(&lt;&gt;'"&amp;)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793790" y="2991088"/>
            <a:ext cx="353615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✓ SQL Injection測試(' OR 1=1 --)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793790" y="3378041"/>
            <a:ext cx="3536156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✓ XSS測試(&lt;script&gt;alert()&lt;/script&gt;)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793790" y="4082534"/>
            <a:ext cx="353615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✓ Unicode/Emoji編碼測試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793790" y="4598432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權限與認證檢查</a:t>
            </a:r>
            <a:endParaRPr lang="en-US" sz="1950" dirty="0"/>
          </a:p>
        </p:txBody>
      </p:sp>
      <p:sp>
        <p:nvSpPr>
          <p:cNvPr id="11" name="Text 8"/>
          <p:cNvSpPr/>
          <p:nvPr/>
        </p:nvSpPr>
        <p:spPr>
          <a:xfrm>
            <a:off x="793790" y="5106948"/>
            <a:ext cx="353615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✓ 未登入存取敏感頁面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793790" y="5493901"/>
            <a:ext cx="353615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✓ Token過期與竄改處理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793790" y="5880854"/>
            <a:ext cx="353615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✓ 登出後Token失效驗證</a:t>
            </a:r>
            <a:endParaRPr lang="en-US" sz="1550" dirty="0"/>
          </a:p>
        </p:txBody>
      </p:sp>
      <p:sp>
        <p:nvSpPr>
          <p:cNvPr id="14" name="Text 11"/>
          <p:cNvSpPr/>
          <p:nvPr/>
        </p:nvSpPr>
        <p:spPr>
          <a:xfrm>
            <a:off x="793790" y="6267807"/>
            <a:ext cx="353615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✓ 同帳號多裝置測試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4821674" y="1708666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邊界值檢查項目</a:t>
            </a:r>
            <a:endParaRPr lang="en-US" sz="1950" dirty="0"/>
          </a:p>
        </p:txBody>
      </p:sp>
      <p:sp>
        <p:nvSpPr>
          <p:cNvPr id="16" name="Text 13"/>
          <p:cNvSpPr/>
          <p:nvPr/>
        </p:nvSpPr>
        <p:spPr>
          <a:xfrm>
            <a:off x="4821674" y="2217182"/>
            <a:ext cx="353615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✓ 0、1、最大值、超過最大值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4821674" y="2604135"/>
            <a:ext cx="353615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✓ 負數、小數、非數字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4821674" y="2991088"/>
            <a:ext cx="353615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✓ 最短/最長字串長度</a:t>
            </a:r>
            <a:endParaRPr lang="en-US" sz="1550" dirty="0"/>
          </a:p>
        </p:txBody>
      </p:sp>
      <p:sp>
        <p:nvSpPr>
          <p:cNvPr id="19" name="Text 16"/>
          <p:cNvSpPr/>
          <p:nvPr/>
        </p:nvSpPr>
        <p:spPr>
          <a:xfrm>
            <a:off x="4821674" y="3506986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異常處理與一致性</a:t>
            </a:r>
            <a:endParaRPr lang="en-US" sz="1950" dirty="0"/>
          </a:p>
        </p:txBody>
      </p:sp>
      <p:sp>
        <p:nvSpPr>
          <p:cNvPr id="20" name="Text 17"/>
          <p:cNvSpPr/>
          <p:nvPr/>
        </p:nvSpPr>
        <p:spPr>
          <a:xfrm>
            <a:off x="4821674" y="4015502"/>
            <a:ext cx="353615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✓ 網路斷線與API Timeout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4821674" y="4402455"/>
            <a:ext cx="353615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✓ 伺服器500錯誤處理</a:t>
            </a:r>
            <a:endParaRPr lang="en-US" sz="1550" dirty="0"/>
          </a:p>
        </p:txBody>
      </p:sp>
      <p:sp>
        <p:nvSpPr>
          <p:cNvPr id="22" name="Text 19"/>
          <p:cNvSpPr/>
          <p:nvPr/>
        </p:nvSpPr>
        <p:spPr>
          <a:xfrm>
            <a:off x="4821674" y="4789408"/>
            <a:ext cx="353615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✓ 重複提交防護機制</a:t>
            </a:r>
            <a:endParaRPr lang="en-US" sz="1550" dirty="0"/>
          </a:p>
        </p:txBody>
      </p:sp>
      <p:sp>
        <p:nvSpPr>
          <p:cNvPr id="23" name="Text 20"/>
          <p:cNvSpPr/>
          <p:nvPr/>
        </p:nvSpPr>
        <p:spPr>
          <a:xfrm>
            <a:off x="4821674" y="5176361"/>
            <a:ext cx="353615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✓ 多分頁/多裝置同步</a:t>
            </a:r>
            <a:endParaRPr lang="en-US" sz="1550" dirty="0"/>
          </a:p>
        </p:txBody>
      </p:sp>
      <p:sp>
        <p:nvSpPr>
          <p:cNvPr id="24" name="Text 21"/>
          <p:cNvSpPr/>
          <p:nvPr/>
        </p:nvSpPr>
        <p:spPr>
          <a:xfrm>
            <a:off x="4821674" y="5563314"/>
            <a:ext cx="353615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✓ 並發操作資料一致性</a:t>
            </a:r>
            <a:endParaRPr lang="en-US" sz="1550" dirty="0"/>
          </a:p>
        </p:txBody>
      </p:sp>
      <p:sp>
        <p:nvSpPr>
          <p:cNvPr id="25" name="Text 22"/>
          <p:cNvSpPr/>
          <p:nvPr/>
        </p:nvSpPr>
        <p:spPr>
          <a:xfrm>
            <a:off x="793790" y="6878003"/>
            <a:ext cx="755642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本文件涵蓋完整的黑箱測試分析與邊界值測試規劃,部分測試案例已實作於/tests目錄,其餘可依優先級逐步補充至自動化測試套件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2025-10-29T00:09:33Z</dcterms:created>
  <dcterms:modified xsi:type="dcterms:W3CDTF">2025-10-29T00:09:33Z</dcterms:modified>
</cp:coreProperties>
</file>