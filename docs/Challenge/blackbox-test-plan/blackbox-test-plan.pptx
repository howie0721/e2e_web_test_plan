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ice" pitchFamily="2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Lora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11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7019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0657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561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88549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9640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21931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2700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73388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1006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1740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92010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621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913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125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268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194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129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68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6075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213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37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116D0-7E38-4023-B108-6E1F48545C66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A1E25-0A96-4386-B310-99CCD780C3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623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3338393"/>
            <a:ext cx="694598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黑箱測試分析與邊界值測試規劃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25612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針對電商系統進行全面的黑箱測試分析,涵蓋安全性、邊界值、資料一致性與異常處理等關鍵測試面向</a:t>
            </a:r>
            <a:endParaRPr lang="en-US" sz="15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207945D-A8A2-85AA-C42E-5F1156AAD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4324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2" charset="0"/>
                <a:ea typeface="Alice" pitchFamily="2" charset="0"/>
                <a:cs typeface="Alice" pitchFamily="34" charset="-120"/>
              </a:rPr>
              <a:t>測試內容大綱</a:t>
            </a:r>
            <a:endParaRPr lang="en-US" sz="310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10729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latin typeface="Alice" pitchFamily="2" charset="0"/>
                <a:ea typeface="Alice" pitchFamily="2" charset="0"/>
              </a:rPr>
              <a:t>01</a:t>
            </a:r>
          </a:p>
        </p:txBody>
      </p:sp>
      <p:sp>
        <p:nvSpPr>
          <p:cNvPr id="4" name="Shape 2"/>
          <p:cNvSpPr/>
          <p:nvPr/>
        </p:nvSpPr>
        <p:spPr>
          <a:xfrm>
            <a:off x="793790" y="3421618"/>
            <a:ext cx="642223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566517"/>
            <a:ext cx="272807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Alice" pitchFamily="34" charset="-120"/>
              </a:rPr>
              <a:t>潛在錯誤與系統漏洞分析</a:t>
            </a:r>
            <a:endParaRPr lang="en-US" sz="195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995738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Lora" pitchFamily="34" charset="-120"/>
              </a:rPr>
              <a:t>識別輸入驗證、權限控管、Session管理等8大風險領域</a:t>
            </a:r>
            <a:endParaRPr lang="en-US" sz="155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14379" y="310729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Alice Light" pitchFamily="34" charset="-120"/>
              </a:rPr>
              <a:t>02</a:t>
            </a:r>
            <a:endParaRPr lang="en-US" sz="155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14379" y="3421618"/>
            <a:ext cx="642223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7414379" y="35665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Alice" pitchFamily="34" charset="-120"/>
              </a:rPr>
              <a:t>邊界值測試規劃</a:t>
            </a:r>
            <a:endParaRPr lang="en-US" sz="195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14379" y="3995738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Lora" pitchFamily="34" charset="-120"/>
              </a:rPr>
              <a:t>針對手機號碼、Email、OTP、購物車等關鍵欄位進行邊界值設計</a:t>
            </a:r>
            <a:endParaRPr lang="en-US" sz="155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66046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latin typeface="Alice" pitchFamily="2" charset="0"/>
                <a:ea typeface="Alice" pitchFamily="2" charset="0"/>
              </a:rPr>
              <a:t>03</a:t>
            </a:r>
          </a:p>
        </p:txBody>
      </p:sp>
      <p:sp>
        <p:nvSpPr>
          <p:cNvPr id="12" name="Shape 10"/>
          <p:cNvSpPr/>
          <p:nvPr/>
        </p:nvSpPr>
        <p:spPr>
          <a:xfrm>
            <a:off x="793790" y="4974788"/>
            <a:ext cx="642223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1196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Alice" pitchFamily="34" charset="-120"/>
              </a:rPr>
              <a:t>測試案例設計</a:t>
            </a:r>
            <a:endParaRPr lang="en-US" sz="195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548908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Lora" pitchFamily="34" charset="-120"/>
              </a:rPr>
              <a:t>涵蓋登入、購物車、結帳、權限與網路異常等完整測試場景</a:t>
            </a:r>
            <a:endParaRPr lang="en-US" sz="155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14379" y="466046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latin typeface="Alice" pitchFamily="2" charset="0"/>
                <a:ea typeface="Alice" pitchFamily="2" charset="0"/>
              </a:rPr>
              <a:t>04</a:t>
            </a:r>
          </a:p>
        </p:txBody>
      </p:sp>
      <p:sp>
        <p:nvSpPr>
          <p:cNvPr id="16" name="Shape 14"/>
          <p:cNvSpPr/>
          <p:nvPr/>
        </p:nvSpPr>
        <p:spPr>
          <a:xfrm>
            <a:off x="7414379" y="4974788"/>
            <a:ext cx="642223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7414379" y="51196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Alice" pitchFamily="34" charset="-120"/>
              </a:rPr>
              <a:t>測試優先級與建議</a:t>
            </a:r>
            <a:endParaRPr lang="en-US" sz="195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14379" y="5548908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Lora" pitchFamily="34" charset="-120"/>
              </a:rPr>
              <a:t>依據風險等級制定P0至P2優先級,並提供實作建議</a:t>
            </a:r>
            <a:endParaRPr lang="en-US" sz="1550" dirty="0">
              <a:latin typeface="Alice" pitchFamily="2" charset="0"/>
              <a:ea typeface="Alice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55483"/>
            <a:ext cx="436518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潛在錯誤與系統漏洞分析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80190" y="29476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高風險漏洞類型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3456146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輸入驗證不足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:可能導致SQL Injection、異常資料儲存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160639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權限控管不嚴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:未授權存取敏感資料、繞過付費機制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4865132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Session/Token管理不當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:Session Fixation、Token重播攻擊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5569625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CSRF/XSS攻擊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:惡意腳本注入、偽造用戶操作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08074" y="29476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資料與流程風險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308074" y="3456146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錯誤訊息洩漏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:暴露資料庫結構、系統版本資訊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308074" y="4160639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資料一致性問題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:多裝置操作導致購物車不同步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308074" y="4865132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異常處理不足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:API timeout、網路斷線未妥善處理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308074" y="5569625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重複提交防護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:訂單重複、金額重複扣款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82888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輸入驗證測試重點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93790" y="4624745"/>
            <a:ext cx="4215289" cy="2582879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5" name="Shape 2"/>
          <p:cNvSpPr/>
          <p:nvPr/>
        </p:nvSpPr>
        <p:spPr>
          <a:xfrm>
            <a:off x="992148" y="482310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5859" y="4986695"/>
            <a:ext cx="267891" cy="2678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148" y="56167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特殊字元測試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92148" y="604599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測試SQL Injection字串如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 OR 1=1 --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,XSS攻擊如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&lt;script&gt;alert('XSS')&lt;/script&gt;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5207437" y="4624745"/>
            <a:ext cx="4215408" cy="2582879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0" name="Shape 6"/>
          <p:cNvSpPr/>
          <p:nvPr/>
        </p:nvSpPr>
        <p:spPr>
          <a:xfrm>
            <a:off x="5405795" y="482310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9506" y="4986695"/>
            <a:ext cx="267891" cy="2678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05795" y="56167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長度邊界測試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5405795" y="6045994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驗證超長字串(1000+字元)、空值、最短/最長長度限制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9621203" y="4624745"/>
            <a:ext cx="4215289" cy="2582879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5" name="Shape 10"/>
          <p:cNvSpPr/>
          <p:nvPr/>
        </p:nvSpPr>
        <p:spPr>
          <a:xfrm>
            <a:off x="9819561" y="482310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83272" y="4986695"/>
            <a:ext cx="267891" cy="2678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19561" y="56167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字元編碼測試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9819561" y="604599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測試Unicode、Emoji、全形/半形混用等特殊編碼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1033"/>
            <a:ext cx="436518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關鍵欄位邊界值測試矩陣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2164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手機號碼格式測試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1886188"/>
            <a:ext cx="13042821" cy="4635818"/>
          </a:xfrm>
          <a:prstGeom prst="roundRect">
            <a:avLst>
              <a:gd name="adj" fmla="val 6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1893808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9887" y="2020491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測試項目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911923" y="2020491"/>
            <a:ext cx="48066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測試值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122932" y="2020491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2464713"/>
            <a:ext cx="13027581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9887" y="2591395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正常格式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911923" y="2591395"/>
            <a:ext cx="48066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0912345678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122932" y="2591395"/>
            <a:ext cx="350770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通過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3043237"/>
            <a:ext cx="13027581" cy="578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9887" y="3169920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國碼格式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11923" y="3169920"/>
            <a:ext cx="48066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886912345678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122932" y="3169920"/>
            <a:ext cx="350770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通過或格式化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3621762"/>
            <a:ext cx="13027581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9887" y="3748445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最短長度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911923" y="3748445"/>
            <a:ext cx="48066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091234567 (9位)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122932" y="3748445"/>
            <a:ext cx="350770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拒絕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4200287"/>
            <a:ext cx="13027581" cy="578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9887" y="4326969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最長長度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911923" y="4326969"/>
            <a:ext cx="48066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09123456789 (11位)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122932" y="4326969"/>
            <a:ext cx="350770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拒絕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01410" y="4778812"/>
            <a:ext cx="13027581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99887" y="4905494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空值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911923" y="4905494"/>
            <a:ext cx="48066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""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0122932" y="4905494"/>
            <a:ext cx="350770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拒絕,提示必填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01410" y="5357336"/>
            <a:ext cx="13027581" cy="578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99887" y="5484019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特殊字元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911923" y="5484019"/>
            <a:ext cx="48066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0912-345-678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0122932" y="5484019"/>
            <a:ext cx="350770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拒絕或自動過濾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801410" y="5935861"/>
            <a:ext cx="13027581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99887" y="6062543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字母混用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4911923" y="6062543"/>
            <a:ext cx="48066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091234567A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0122932" y="6062543"/>
            <a:ext cx="350770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拒絕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793790" y="6745248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C3EED6"/>
          </a:solidFill>
          <a:ln/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7048143"/>
            <a:ext cx="248007" cy="19835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438513" y="6993136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測試策略</a:t>
            </a: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:使用參數化測試(data-driven)方式,覆蓋所有邊界條件與異常格式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2496"/>
            <a:ext cx="473309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OTP驗證與購物車測試設計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9146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OTP驗證邊界值測試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448044"/>
            <a:ext cx="6279356" cy="4057293"/>
          </a:xfrm>
          <a:prstGeom prst="roundRect">
            <a:avLst>
              <a:gd name="adj" fmla="val 73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455664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9768" y="2582347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測試場景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135636" y="2582347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預期行為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3026569"/>
            <a:ext cx="6264116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9768" y="3153251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正確OTP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135636" y="3153251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通過驗證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3605093"/>
            <a:ext cx="6264116" cy="578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9768" y="3731776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錯誤OTP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35636" y="3731776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提示錯誤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4183618"/>
            <a:ext cx="6264116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99768" y="4310301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過期OTP (5分鐘)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135636" y="4310301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提示過期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4762143"/>
            <a:ext cx="6264116" cy="578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9768" y="4888825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空值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135636" y="4888825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提示必填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5340668"/>
            <a:ext cx="6264116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9768" y="5467350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不足位數 (12345)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135636" y="5467350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拒絕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01410" y="5919192"/>
            <a:ext cx="6264116" cy="578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9768" y="6045875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連續錯誤5次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135636" y="6045875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🔒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鎖定或重發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64874" y="19146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購物車數量邊界測試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7564874" y="2448044"/>
            <a:ext cx="6279356" cy="4635818"/>
          </a:xfrm>
          <a:prstGeom prst="roundRect">
            <a:avLst>
              <a:gd name="adj" fmla="val 6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2494" y="2455664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770852" y="2582347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測試值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0906720" y="2582347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572494" y="3026569"/>
            <a:ext cx="6264116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70852" y="3153251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正常數量 (1,5,10)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0906720" y="3153251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通過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572494" y="3605093"/>
            <a:ext cx="6264116" cy="578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770852" y="3731776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0906720" y="3731776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拒絕或移除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7572494" y="4183618"/>
            <a:ext cx="6264116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70852" y="4310301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負數 (-1)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0906720" y="4310301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拒絕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7572494" y="4762143"/>
            <a:ext cx="6264116" cy="578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770852" y="4888825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超過庫存 (9999)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10906720" y="4888825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限制最大值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7572494" y="5340668"/>
            <a:ext cx="6264116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770852" y="5467350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非數字 (abc)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10906720" y="5467350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拒絕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7572494" y="5919192"/>
            <a:ext cx="6264116" cy="578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770852" y="6045875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小數 (1.5)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10906720" y="6045875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拒絕或四捨五入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7572494" y="6497717"/>
            <a:ext cx="6264116" cy="5785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770852" y="6624399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購物車上限 (100項)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10906720" y="6624399"/>
            <a:ext cx="273153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⚠️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提示上限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084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安全性測試案例實作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280190" y="1874639"/>
            <a:ext cx="7556421" cy="1625798"/>
          </a:xfrm>
          <a:prstGeom prst="roundRect">
            <a:avLst>
              <a:gd name="adj" fmla="val 1831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03050" y="1897499"/>
            <a:ext cx="793790" cy="1580078"/>
          </a:xfrm>
          <a:prstGeom prst="roundRect">
            <a:avLst>
              <a:gd name="adj" fmla="val 295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6551057" y="250150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295198" y="20958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未登入存取會員頁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295198" y="2525078"/>
            <a:ext cx="63201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測試步驟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:清除cookies/storage後直接訪問/my-account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295198" y="2961680"/>
            <a:ext cx="63201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:自動跳轉至登入頁,阻擋未授權存取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80190" y="3698796"/>
            <a:ext cx="7556421" cy="1625798"/>
          </a:xfrm>
          <a:prstGeom prst="roundRect">
            <a:avLst>
              <a:gd name="adj" fmla="val 1831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3050" y="3721656"/>
            <a:ext cx="793790" cy="1580078"/>
          </a:xfrm>
          <a:prstGeom prst="roundRect">
            <a:avLst>
              <a:gd name="adj" fmla="val 295"/>
            </a:avLst>
          </a:prstGeom>
          <a:solidFill>
            <a:srgbClr val="F0EDE6"/>
          </a:solidFill>
          <a:ln/>
        </p:spPr>
      </p:sp>
      <p:sp>
        <p:nvSpPr>
          <p:cNvPr id="12" name="Text 9"/>
          <p:cNvSpPr/>
          <p:nvPr/>
        </p:nvSpPr>
        <p:spPr>
          <a:xfrm>
            <a:off x="6551057" y="432566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295198" y="39200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Token竄改測試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295198" y="4349234"/>
            <a:ext cx="63201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測試步驟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:登入後修改localStorage的token,呼叫購物車API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295198" y="4785836"/>
            <a:ext cx="63201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:回傳401 Unauthorized,拒絕無效token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280190" y="5522952"/>
            <a:ext cx="7556421" cy="1625798"/>
          </a:xfrm>
          <a:prstGeom prst="roundRect">
            <a:avLst>
              <a:gd name="adj" fmla="val 1831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3050" y="5545812"/>
            <a:ext cx="793790" cy="1580078"/>
          </a:xfrm>
          <a:prstGeom prst="roundRect">
            <a:avLst>
              <a:gd name="adj" fmla="val 295"/>
            </a:avLst>
          </a:prstGeom>
          <a:solidFill>
            <a:srgbClr val="F0EDE6"/>
          </a:solidFill>
          <a:ln/>
        </p:spPr>
      </p:sp>
      <p:sp>
        <p:nvSpPr>
          <p:cNvPr id="18" name="Text 15"/>
          <p:cNvSpPr/>
          <p:nvPr/>
        </p:nvSpPr>
        <p:spPr>
          <a:xfrm>
            <a:off x="6551057" y="614981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7295198" y="57441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XSS注入測試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7295198" y="6173391"/>
            <a:ext cx="63201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測試步驟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:在商品評論輸入</a:t>
            </a:r>
            <a:r>
              <a:rPr lang="en-US" sz="15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&lt;script&gt;alert('XSS')&lt;/script&gt;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295198" y="6609993"/>
            <a:ext cx="63201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</a:t>
            </a: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:腳本被轉義,不執行惡意代碼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179" y="1031369"/>
            <a:ext cx="2940368" cy="630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多裝置同步與異常處理測試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90179" y="1762134"/>
            <a:ext cx="1838325" cy="47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資料一致性測試場景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79" y="2624435"/>
            <a:ext cx="4549973" cy="6338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95" y="3510233"/>
            <a:ext cx="1531977" cy="393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多分頁同步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12696" y="4051191"/>
            <a:ext cx="4304943" cy="403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分頁A加入商品後,分頁B應自動顯示更新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153" y="2624435"/>
            <a:ext cx="4549973" cy="6338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62668" y="3510233"/>
            <a:ext cx="1531977" cy="393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多裝置同步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162669" y="4051191"/>
            <a:ext cx="4304943" cy="403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手機與電腦同時操作,購物車應即時同步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0126" y="2624435"/>
            <a:ext cx="4549973" cy="6338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2642" y="3510233"/>
            <a:ext cx="1531977" cy="393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斷線重連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712643" y="4051191"/>
            <a:ext cx="4304943" cy="403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網路中斷後重連,自動重試或提示重新整理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490180" y="4788241"/>
            <a:ext cx="13650039" cy="47020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490180" y="5370762"/>
            <a:ext cx="1531977" cy="393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網路異常測試方法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490180" y="6016548"/>
            <a:ext cx="6675596" cy="403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使用Chrome DevTools模擬Slow 3G或Offline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90180" y="6507809"/>
            <a:ext cx="6675596" cy="403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2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測試API timeout處理機制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90180" y="6999067"/>
            <a:ext cx="6675596" cy="403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3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驗證重試邏輯與錯誤提示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90180" y="7490326"/>
            <a:ext cx="6675596" cy="403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Font typeface="+mj-lt"/>
              <a:buAutoNum type="arabicPeriod" startAt="4"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檢查斷線後資料完整性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1931"/>
            <a:ext cx="476202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ea typeface="Alice" pitchFamily="34" charset="-122"/>
                <a:cs typeface="Alice" pitchFamily="34" charset="-120"/>
              </a:rPr>
              <a:t>測試優先級分級與實作建議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2967514" y="2054900"/>
            <a:ext cx="2173724" cy="1143476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4775" y="2487097"/>
            <a:ext cx="279083" cy="279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9596" y="22532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P0 - 高優先級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339596" y="2682478"/>
            <a:ext cx="50958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登入/登出、購物車、結帳流程、權限驗證、重複提交防護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240417" y="3188851"/>
            <a:ext cx="8497014" cy="11430"/>
          </a:xfrm>
          <a:prstGeom prst="roundRect">
            <a:avLst>
              <a:gd name="adj" fmla="val 260465"/>
            </a:avLst>
          </a:prstGeom>
          <a:solidFill>
            <a:srgbClr val="D6D3CC"/>
          </a:solidFill>
          <a:ln/>
        </p:spPr>
      </p:sp>
      <p:sp>
        <p:nvSpPr>
          <p:cNvPr id="8" name="Shape 5"/>
          <p:cNvSpPr/>
          <p:nvPr/>
        </p:nvSpPr>
        <p:spPr>
          <a:xfrm>
            <a:off x="1880592" y="3297555"/>
            <a:ext cx="4347567" cy="1143476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14775" y="3729752"/>
            <a:ext cx="279083" cy="2790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26518" y="34959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P1 - 中優先級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6426518" y="3925133"/>
            <a:ext cx="49589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邊界值測試、多裝置同步、網路異常處理、錯誤訊息檢查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327338" y="4431506"/>
            <a:ext cx="7410093" cy="11430"/>
          </a:xfrm>
          <a:prstGeom prst="roundRect">
            <a:avLst>
              <a:gd name="adj" fmla="val 260465"/>
            </a:avLst>
          </a:prstGeom>
          <a:solidFill>
            <a:srgbClr val="D6D3CC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4540210"/>
            <a:ext cx="6521410" cy="1143476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4894" y="4972407"/>
            <a:ext cx="279083" cy="2790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13558" y="47385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ea typeface="Alice" pitchFamily="34" charset="-122"/>
                <a:cs typeface="Alice" pitchFamily="34" charset="-120"/>
              </a:rPr>
              <a:t>P2 - 低優先級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7513558" y="5167789"/>
            <a:ext cx="37994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ea typeface="Lora" pitchFamily="34" charset="-122"/>
                <a:cs typeface="Lora" pitchFamily="34" charset="-120"/>
              </a:rPr>
              <a:t>UI/UX細節、效能測試、瀏覽器相容性測試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93790" y="5906929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C3EED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48" y="6209824"/>
            <a:ext cx="248007" cy="1983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38513" y="6154817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ea typeface="Lora" pitchFamily="34" charset="-122"/>
                <a:cs typeface="Lora" pitchFamily="34" charset="-120"/>
              </a:rPr>
              <a:t>自動化策略</a:t>
            </a:r>
            <a:r>
              <a:rPr lang="en-US" sz="1550" dirty="0">
                <a:solidFill>
                  <a:srgbClr val="000000"/>
                </a:solidFill>
                <a:ea typeface="Lora" pitchFamily="34" charset="-122"/>
                <a:cs typeface="Lora" pitchFamily="34" charset="-120"/>
              </a:rPr>
              <a:t>:P0測試案例優先自動化,減少回歸測試時間。使用Playwright的參數化測試(test.describe.parallel)實作邊界值測試,並整合CI/CD持續監控品質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2">
            <a:extLst>
              <a:ext uri="{FF2B5EF4-FFF2-40B4-BE49-F238E27FC236}">
                <a16:creationId xmlns:a16="http://schemas.microsoft.com/office/drawing/2014/main" id="{1A34BB3A-2932-71D3-EF5B-B3FDFD840695}"/>
              </a:ext>
            </a:extLst>
          </p:cNvPr>
          <p:cNvSpPr/>
          <p:nvPr/>
        </p:nvSpPr>
        <p:spPr>
          <a:xfrm>
            <a:off x="646627" y="6762913"/>
            <a:ext cx="7703583" cy="928804"/>
          </a:xfrm>
          <a:prstGeom prst="roundRect">
            <a:avLst>
              <a:gd name="adj" fmla="val 2565"/>
            </a:avLst>
          </a:prstGeom>
          <a:solidFill>
            <a:srgbClr val="C3EED6"/>
          </a:solidFill>
          <a:ln/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6518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黑箱測試檢查清單總結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17086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輸入驗證檢查項目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2217182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空值與超長字串測試(1000+字元)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2604135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特殊字元測試(&lt;&gt;'"&amp;)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299108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SQL Injection測試(' OR 1=1 --)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3378041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XSS測試(&lt;script&gt;alert()&lt;/script&gt;)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408253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Unicode/Emoji</a:t>
            </a:r>
            <a:r>
              <a:rPr lang="zh-TW" alt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550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編碼測試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45984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權限與認證檢查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93790" y="510694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未登入存取敏感頁面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93790" y="549390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Token過期與竄改處理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3790" y="588085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登出後Token失效驗證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93790" y="6267807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同帳號多裝置測試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821674" y="17086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邊界值檢查項目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4821674" y="2217182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0、1、最大值、超過最大值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821674" y="2604135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負數、小數、非數字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821674" y="299108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最短/最長字串長度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821674" y="35069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異常處理與一致性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4821674" y="4015502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網路斷線與API Timeout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821674" y="4402455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伺服器500錯誤處理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4821674" y="478940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重複提交防護機制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4821674" y="517636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多分頁/多裝置同步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4821674" y="556331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並發操作資料一致性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93790" y="687800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本文件涵蓋完整的黑箱測試分析與邊界值測試規劃,部分測試案例已實作於/tests目錄,其餘可依優先級逐步補充至自動化測試套件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520</Words>
  <Application>Microsoft Office PowerPoint</Application>
  <PresentationFormat>自訂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Consolas</vt:lpstr>
      <vt:lpstr>Calibri Light</vt:lpstr>
      <vt:lpstr>Alice</vt:lpstr>
      <vt:lpstr>Arial</vt:lpstr>
      <vt:lpstr>Lora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浩瑜 郝</cp:lastModifiedBy>
  <cp:revision>4</cp:revision>
  <dcterms:created xsi:type="dcterms:W3CDTF">2025-10-29T00:09:33Z</dcterms:created>
  <dcterms:modified xsi:type="dcterms:W3CDTF">2025-10-29T03:19:58Z</dcterms:modified>
</cp:coreProperties>
</file>