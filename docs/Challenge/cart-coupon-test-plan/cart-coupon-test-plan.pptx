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itchFamily="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itchFamily="2" charset="0"/>
      <p:regular r:id="rId18"/>
      <p:bold r:id="rId19"/>
      <p:italic r:id="rId20"/>
      <p:boldItalic r:id="rId21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14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購物車「選擇優惠券」測試案例規劃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本簡報針對電商購物車的優惠券選擇功能,提供完整的測試架構設計、變因分析與案例規劃。內容涵蓋測試分層設計、POM 架構、業務規則驗證及異常處理等面向,協助測試工程師建立全面且可維護的測試策略。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81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測試架構與分層設計</a:t>
            </a:r>
            <a:endParaRPr lang="en-US" sz="390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919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架構設計理念</a:t>
            </a:r>
            <a:endParaRPr lang="en-US" sz="230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462332"/>
            <a:ext cx="49265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採用 Page Object Model (POM) 模式,結合資料工廠模式與 API Stubbing 技術,建立可維護、可擴展的測試架構。測試資料與測試邏輯分離,提高程式碼重用性與測試穩定性。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11084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測試分層包含頁面物件層、測試資料層、輔助工具層及測試案例層,每層職責明確,降低維護成本。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2086" y="18919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目錄結構</a:t>
            </a:r>
            <a:endParaRPr lang="en-US" sz="230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2086" y="2487216"/>
            <a:ext cx="7632025" cy="4743212"/>
          </a:xfrm>
          <a:prstGeom prst="roundRect">
            <a:avLst>
              <a:gd name="adj" fmla="val 628"/>
            </a:avLst>
          </a:prstGeom>
          <a:solidFill>
            <a:srgbClr val="EFEEEB"/>
          </a:solidFill>
          <a:ln/>
        </p:spPr>
      </p:sp>
      <p:sp>
        <p:nvSpPr>
          <p:cNvPr id="8" name="Shape 6"/>
          <p:cNvSpPr/>
          <p:nvPr/>
        </p:nvSpPr>
        <p:spPr>
          <a:xfrm>
            <a:off x="6202204" y="2487216"/>
            <a:ext cx="7651790" cy="4743212"/>
          </a:xfrm>
          <a:prstGeom prst="roundRect">
            <a:avLst>
              <a:gd name="adj" fmla="val 628"/>
            </a:avLst>
          </a:prstGeom>
          <a:solidFill>
            <a:srgbClr val="EFEE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562" y="2636044"/>
            <a:ext cx="7255073" cy="4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altLang="zh-TW" dirty="0">
                <a:highlight>
                  <a:srgbClr val="EFEEEB"/>
                </a:highlight>
                <a:latin typeface="Alice" pitchFamily="2" charset="0"/>
                <a:ea typeface="Alice" pitchFamily="2" charset="0"/>
              </a:rPr>
              <a:t>Dogcatstar_E2E_Web_Test_Plan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/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pages/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 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cart.page.ts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>
              <a:lnSpc>
                <a:spcPts val="2500"/>
              </a:lnSpc>
            </a:pPr>
            <a:r>
              <a:rPr lang="en-US" altLang="zh-TW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coupon.page.ts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>
              <a:lnSpc>
                <a:spcPts val="2500"/>
              </a:lnSpc>
            </a:pPr>
            <a:r>
              <a:rPr lang="en-US" altLang="zh-TW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└──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checkout.page.ts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fixtures/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 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coupons.json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 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└── cart-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scenarios.json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helpers/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 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├──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couponFactory.ts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 ├──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cartApiMock.ts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│</a:t>
            </a: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 └── </a:t>
            </a:r>
            <a:r>
              <a:rPr lang="en-US" sz="1550" dirty="0" err="1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waitForCouponApply.ts</a:t>
            </a:r>
            <a:endParaRPr lang="en-US" sz="1550" dirty="0">
              <a:solidFill>
                <a:srgbClr val="2C2821"/>
              </a:solidFill>
              <a:highlight>
                <a:srgbClr val="EFEEEB"/>
              </a:highlight>
              <a:latin typeface="Alice" pitchFamily="2" charset="0"/>
              <a:ea typeface="Alice" pitchFamily="2" charset="0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└── tests/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zh-TW" alt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+mj-ea"/>
                <a:cs typeface="Consolas" pitchFamily="34" charset="-120"/>
              </a:rPr>
              <a:t>          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Alice" pitchFamily="2" charset="0"/>
                <a:ea typeface="Alice" pitchFamily="2" charset="0"/>
                <a:cs typeface="Consolas" pitchFamily="34" charset="-120"/>
              </a:rPr>
              <a:t>└── cart/coupon/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37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優惠券變因分析矩陣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4929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完整的測試覆蓋需要識別所有關鍵變因。以下從優惠券屬性、購物車狀態、用戶狀態及系統狀態四個維度,分析影響優惠券功能的關鍵變因: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90073"/>
            <a:ext cx="6422231" cy="2691289"/>
          </a:xfrm>
          <a:prstGeom prst="roundRect">
            <a:avLst>
              <a:gd name="adj" fmla="val 1106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26884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優惠券屬性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311765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狀態:有效/過期/已使用/已領完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2148" y="350460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類型:折價/折扣/免運/滿額/贈品券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92148" y="389155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適用範圍:全站/指定分類/指定商品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92148" y="4278511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使用門檻:無/滿額/滿件/會員限定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92148" y="4665464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疊加規則:可疊加/互斥/優先順序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2490073"/>
            <a:ext cx="6422231" cy="2691289"/>
          </a:xfrm>
          <a:prstGeom prst="roundRect">
            <a:avLst>
              <a:gd name="adj" fmla="val 1106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7612737" y="26884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購物車狀態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12737" y="311765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商品數量:0/1/多項/超過上限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612737" y="350460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商品金額:低於/剛好/高於門檻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612737" y="389155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商品類型:一般/促銷/排除商品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612737" y="4278511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運送方式:宅配/超商/自取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379720"/>
            <a:ext cx="6422231" cy="1917383"/>
          </a:xfrm>
          <a:prstGeom prst="roundRect">
            <a:avLst>
              <a:gd name="adj" fmla="val 1553"/>
            </a:avLst>
          </a:prstGeom>
          <a:solidFill>
            <a:srgbClr val="F0EDE6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48" y="55780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用戶狀態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2148" y="600729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登入狀態:已登入/未登入/Token 過期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92148" y="639425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會員等級:新會員/舊會員/VIP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92148" y="678120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使用次數:0/1/達上限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5379720"/>
            <a:ext cx="6422231" cy="1917383"/>
          </a:xfrm>
          <a:prstGeom prst="roundRect">
            <a:avLst>
              <a:gd name="adj" fmla="val 1553"/>
            </a:avLst>
          </a:prstGeom>
          <a:solidFill>
            <a:srgbClr val="F0EDE6"/>
          </a:solidFill>
          <a:ln/>
        </p:spPr>
      </p:sp>
      <p:sp>
        <p:nvSpPr>
          <p:cNvPr id="23" name="Text 21"/>
          <p:cNvSpPr/>
          <p:nvPr/>
        </p:nvSpPr>
        <p:spPr>
          <a:xfrm>
            <a:off x="7612737" y="55780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系統狀態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612737" y="600729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狀態:正常/Timeout/500 錯誤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12737" y="639425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網路狀態:正常/斷線/延遲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612737" y="678120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並發操作:單裝置/多裝置/多分頁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22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測試案例設計思維流程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751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89465"/>
            <a:ext cx="421528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5343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識別變因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63585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分析優惠券狀態、類型、門檻、限制及購物車、用戶、系統等多維度變因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20751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389465"/>
            <a:ext cx="4215408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25343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定義組合情境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2963585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建立優惠券與購物車狀態的各種有效組合,涵蓋常見與特殊情境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20751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389465"/>
            <a:ext cx="421528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25343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正向測試設計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2963585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驗證基本功能:有效優惠券套用、折抵計算、切換與移除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4260175"/>
            <a:ext cx="421528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負向測試設計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834295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測試錯誤處理:過期券、無效券、未達門檻、權限不足等情境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07437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207437" y="4260175"/>
            <a:ext cx="4215408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5207437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邊界測試設計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207437" y="4834295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驗證臨界值:剛好達門檻、多券疊加、優惠券衝突、商品變動失效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21203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21203" y="4260175"/>
            <a:ext cx="421528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5" name="Text 23"/>
          <p:cNvSpPr/>
          <p:nvPr/>
        </p:nvSpPr>
        <p:spPr>
          <a:xfrm>
            <a:off x="9621203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異常測試設計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21203" y="4834295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確保系統穩定:API 錯誤、網路異常、並發衝突、快速操作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3790" y="58165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93790" y="6130885"/>
            <a:ext cx="13042702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62757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整合測試設計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3790" y="6705005"/>
            <a:ext cx="1304270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驗證完整流程:購物車→優惠券→結帳,多裝置同步,前後端一致性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626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測試案例分級與優先序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0923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P0 - 基礎功能測試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3790" y="1985486"/>
            <a:ext cx="6327815" cy="2397204"/>
          </a:xfrm>
          <a:prstGeom prst="roundRect">
            <a:avLst>
              <a:gd name="adj" fmla="val 994"/>
            </a:avLst>
          </a:prstGeom>
          <a:solidFill>
            <a:srgbClr val="C3EE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227778"/>
            <a:ext cx="198358" cy="158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9568" y="2183844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必須通過,阻擋發布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09568" y="2580799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選擇有效優惠券並套用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09568" y="2890361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優惠券正確折抵金額計算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09568" y="3199924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成功移除已套用優惠券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09568" y="3509486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順利切換不同優惠券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09568" y="3906441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預估案例數:</a:t>
            </a: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5-8 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3790" y="456128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P1 - 業務規則測試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93790" y="5037534"/>
            <a:ext cx="6327815" cy="2397204"/>
          </a:xfrm>
          <a:prstGeom prst="roundRect">
            <a:avLst>
              <a:gd name="adj" fmla="val 994"/>
            </a:avLst>
          </a:prstGeom>
          <a:solidFill>
            <a:srgbClr val="C3EED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279827"/>
            <a:ext cx="198358" cy="1587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09568" y="5235892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核心業務邏輯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09568" y="5632847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滿額券門檻驗證(達到/未達到)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09568" y="5942409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單品券商品適用範圍限制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09568" y="6251972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免運券運送方式驗證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09568" y="6561534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會員限定券權限檢查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309568" y="6958489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預估案例數:</a:t>
            </a: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10-15 個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16416" y="150923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P1 - 邊界與異常測試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7516416" y="1985486"/>
            <a:ext cx="6327815" cy="2397204"/>
          </a:xfrm>
          <a:prstGeom prst="roundRect">
            <a:avLst>
              <a:gd name="adj" fmla="val 994"/>
            </a:avLst>
          </a:prstGeom>
          <a:solidFill>
            <a:srgbClr val="C3EED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126" y="2227778"/>
            <a:ext cx="198358" cy="1587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32194" y="2183844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容錯與邊界處理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032194" y="2580799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剛好達到/差 $1 未達門檻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032194" y="2890361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過期/無效/已用完優惠券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032194" y="3199924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購物車商品異動導致失效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032194" y="3509486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多張優惠券疊加規則驗證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032194" y="3906441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預估案例數:</a:t>
            </a: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8-12 個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516416" y="456128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P2 - 系統穩定性測試</a:t>
            </a:r>
            <a:endParaRPr lang="en-US" sz="2400" dirty="0"/>
          </a:p>
        </p:txBody>
      </p:sp>
      <p:sp>
        <p:nvSpPr>
          <p:cNvPr id="31" name="Shape 26"/>
          <p:cNvSpPr/>
          <p:nvPr/>
        </p:nvSpPr>
        <p:spPr>
          <a:xfrm>
            <a:off x="7516416" y="5037534"/>
            <a:ext cx="6327815" cy="2397204"/>
          </a:xfrm>
          <a:prstGeom prst="roundRect">
            <a:avLst>
              <a:gd name="adj" fmla="val 994"/>
            </a:avLst>
          </a:prstGeom>
          <a:solidFill>
            <a:srgbClr val="C3EED6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126" y="5279827"/>
            <a:ext cx="198358" cy="15871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32194" y="5235892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系統健壯性驗證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032194" y="5632847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回傳 500/Timeout 錯誤處理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8032194" y="5942409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網路斷線後重連機制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8032194" y="6251972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多分頁並發操作同步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8032194" y="6561534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快速切換/重複點擊防護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8032194" y="6958489"/>
            <a:ext cx="565332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預估案例數:5-8 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7366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59938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關鍵測試案例範例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793790" y="3002399"/>
            <a:ext cx="13042821" cy="1442085"/>
          </a:xfrm>
          <a:prstGeom prst="roundRect">
            <a:avLst>
              <a:gd name="adj" fmla="val 1445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030" y="3017639"/>
            <a:ext cx="555665" cy="1411605"/>
          </a:xfrm>
          <a:prstGeom prst="roundRect">
            <a:avLst>
              <a:gd name="adj" fmla="val 459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982623" y="3593187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03521" y="3156466"/>
            <a:ext cx="3242548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TC-COUPON-0001: 選擇有效優惠券並套用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03521" y="3456861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前置條件: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已登入,購物車有商品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3521" y="3762494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測試步驟: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前往購物車→點擊「選擇優惠券」→選擇「SAVE100」→點擊「套用」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3521" y="4068128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優惠券成功套用,折抵金額顯示「-$100」,總金額正確扣除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3790" y="4583311"/>
            <a:ext cx="13042821" cy="1442085"/>
          </a:xfrm>
          <a:prstGeom prst="roundRect">
            <a:avLst>
              <a:gd name="adj" fmla="val 1445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9030" y="4598551"/>
            <a:ext cx="555665" cy="1411605"/>
          </a:xfrm>
          <a:prstGeom prst="roundRect">
            <a:avLst>
              <a:gd name="adj" fmla="val 459"/>
            </a:avLst>
          </a:prstGeom>
          <a:solidFill>
            <a:srgbClr val="F0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982623" y="5174099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03521" y="4737378"/>
            <a:ext cx="348543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TC-COUPON-0101: 滿額券門檻驗證(未達門檻)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503521" y="5037773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前置條件: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已登入,購物車金額 $400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03521" y="5343406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測試步驟: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選擇「滿 $500 折 $100」優惠券→點擊「套用」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03521" y="5649039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顯示「尚未達到使用門檻,還差 $100」,優惠券呈灰色不可選擇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3790" y="6164223"/>
            <a:ext cx="13042821" cy="1442085"/>
          </a:xfrm>
          <a:prstGeom prst="roundRect">
            <a:avLst>
              <a:gd name="adj" fmla="val 1445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9030" y="6179463"/>
            <a:ext cx="555665" cy="1411605"/>
          </a:xfrm>
          <a:prstGeom prst="roundRect">
            <a:avLst>
              <a:gd name="adj" fmla="val 459"/>
            </a:avLst>
          </a:prstGeom>
          <a:solidFill>
            <a:srgbClr val="F0EDE6"/>
          </a:solidFill>
          <a:ln/>
        </p:spPr>
      </p:sp>
      <p:sp>
        <p:nvSpPr>
          <p:cNvPr id="20" name="Text 17"/>
          <p:cNvSpPr/>
          <p:nvPr/>
        </p:nvSpPr>
        <p:spPr>
          <a:xfrm>
            <a:off x="982623" y="6755011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503521" y="6318290"/>
            <a:ext cx="324100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TC-COUPON-0303: 商品異動導致未達門檻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503521" y="6618684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前置條件: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購物車金額 $500,已套用「滿 $500 折 $100」優惠券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503521" y="6924318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測試步驟: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移除一項商品,使金額降為 $400→觀察優惠券狀態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03521" y="7229951"/>
            <a:ext cx="1217902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優惠券自動失效並移除,顯示「因商品異動,優惠券已失效」,總金額更新為 $400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1985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Consolas" panose="020B0609020204030204" pitchFamily="49" charset="0"/>
                <a:ea typeface="Alice" pitchFamily="34" charset="-122"/>
                <a:cs typeface="Alice" pitchFamily="34" charset="-120"/>
              </a:rPr>
              <a:t>測試資料工廠設計模式</a:t>
            </a:r>
            <a:endParaRPr lang="en-US" sz="3300" dirty="0">
              <a:latin typeface="Consolas" panose="020B0609020204030204" pitchFamily="49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9067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Consolas" panose="020B0609020204030204" pitchFamily="49" charset="0"/>
                <a:ea typeface="Alice" pitchFamily="34" charset="-122"/>
                <a:cs typeface="Alice" pitchFamily="34" charset="-120"/>
              </a:rPr>
              <a:t>設計理念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75498"/>
            <a:ext cx="564284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Consolas" panose="020B0609020204030204" pitchFamily="49" charset="0"/>
                <a:ea typeface="Lora" pitchFamily="34" charset="-122"/>
                <a:cs typeface="Lora" pitchFamily="34" charset="-120"/>
              </a:rPr>
              <a:t>採用工廠模式(Factory Pattern)集中管理測試資料生成邏輯,提供統一的介面快速建立各種類型的優惠券與購物車情境。優點包括: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022625"/>
            <a:ext cx="5642848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Consolas" panose="020B0609020204030204" pitchFamily="49" charset="0"/>
                <a:ea typeface="Lora" pitchFamily="34" charset="-122"/>
                <a:cs typeface="Lora" pitchFamily="34" charset="-120"/>
              </a:rPr>
              <a:t>提高程式碼重用性與可讀性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351475"/>
            <a:ext cx="5642848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Consolas" panose="020B0609020204030204" pitchFamily="49" charset="0"/>
                <a:ea typeface="Lora" pitchFamily="34" charset="-122"/>
                <a:cs typeface="Lora" pitchFamily="34" charset="-120"/>
              </a:rPr>
              <a:t>簡化測試資料維護成本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680326"/>
            <a:ext cx="5642848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Consolas" panose="020B0609020204030204" pitchFamily="49" charset="0"/>
                <a:ea typeface="Lora" pitchFamily="34" charset="-122"/>
                <a:cs typeface="Lora" pitchFamily="34" charset="-120"/>
              </a:rPr>
              <a:t>支援參數化測試與資料驅動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4009176"/>
            <a:ext cx="5642848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Consolas" panose="020B0609020204030204" pitchFamily="49" charset="0"/>
                <a:ea typeface="Lora" pitchFamily="34" charset="-122"/>
                <a:cs typeface="Lora" pitchFamily="34" charset="-120"/>
              </a:rPr>
              <a:t>易於擴展新的優惠券類型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5738" y="159067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Consolas" panose="020B0609020204030204" pitchFamily="49" charset="0"/>
                <a:ea typeface="Alice" pitchFamily="34" charset="-122"/>
                <a:cs typeface="Alice" pitchFamily="34" charset="-120"/>
              </a:rPr>
              <a:t>CouponFactory 範例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5738" y="2096691"/>
            <a:ext cx="6988373" cy="4841438"/>
          </a:xfrm>
          <a:prstGeom prst="roundRect">
            <a:avLst>
              <a:gd name="adj" fmla="val 523"/>
            </a:avLst>
          </a:prstGeom>
          <a:solidFill>
            <a:srgbClr val="EFEEEB"/>
          </a:solidFill>
          <a:ln/>
        </p:spPr>
      </p:sp>
      <p:sp>
        <p:nvSpPr>
          <p:cNvPr id="12" name="Text 10"/>
          <p:cNvSpPr/>
          <p:nvPr/>
        </p:nvSpPr>
        <p:spPr>
          <a:xfrm>
            <a:off x="7015996" y="2223135"/>
            <a:ext cx="6667857" cy="458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export class 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CouponFactory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產生有效優惠券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static 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createValidCoupon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(options?: Partial&lt;Coupon&gt;): Coupon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產生過期優惠券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static 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createExpiredCoupon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(): Coupon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產生滿額優惠券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static 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createAmountCoupon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(threshold: number): Coupon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產生單品優惠券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static 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createProductCoupon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productId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: string): Coupon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產生免運優惠券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zh-TW" alt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static </a:t>
            </a:r>
            <a:r>
              <a:rPr lang="en-US" sz="1600" dirty="0" err="1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createShippingCoupon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(): Coupon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altLang="zh-TW" sz="160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7317700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Consolas" panose="020B0609020204030204" pitchFamily="49" charset="0"/>
                <a:ea typeface="Lora" pitchFamily="34" charset="-122"/>
                <a:cs typeface="Lora" pitchFamily="34" charset="-120"/>
              </a:rPr>
              <a:t>測試資料檔案(fixtures/coupons.json)包含有效券、過期券、滿額券、單品券、免運券等多種類型,支援各種測試情境快速組合。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529114"/>
            <a:ext cx="4517827" cy="51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Stubbing 與等待策略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367195"/>
            <a:ext cx="4363641" cy="6541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093" y="2184797"/>
            <a:ext cx="204442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Mock API 回應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3093" y="2538413"/>
            <a:ext cx="4036695" cy="78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page.route() 攔截 API 請求,根據測試情境回傳預設資料、空陣列、錯誤或延遲,降低對真實後端依賴,提高測試穩定性與執行速度。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261" y="1367195"/>
            <a:ext cx="4363760" cy="6541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6733" y="2184797"/>
            <a:ext cx="204442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智慧等待機制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296733" y="2538413"/>
            <a:ext cx="4036814" cy="78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實作 waitForCouponApply() 工具函式,組合等待 API 回應、DOM 更新、載入動畫消失等多重條件,確保測試在正確時機執行斷言。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020" y="1367195"/>
            <a:ext cx="4363641" cy="6541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60493" y="2184797"/>
            <a:ext cx="204442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重試與容錯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660493" y="2538413"/>
            <a:ext cx="4036695" cy="78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針對 API 相關測試設定 1-2 次重試機制,處理網路波動或暫時性錯誤。每個測試使用獨立購物車狀態,測試後自動清理資料。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69620" y="3752662"/>
            <a:ext cx="13091160" cy="27980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769620" y="4025860"/>
            <a:ext cx="245328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Mock API 範例程式碼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769620" y="4577834"/>
            <a:ext cx="13091160" cy="3123962"/>
          </a:xfrm>
          <a:prstGeom prst="roundRect">
            <a:avLst>
              <a:gd name="adj" fmla="val 785"/>
            </a:avLst>
          </a:prstGeom>
          <a:solidFill>
            <a:srgbClr val="EFEEEB"/>
          </a:solidFill>
          <a:ln/>
        </p:spPr>
      </p:sp>
      <p:sp>
        <p:nvSpPr>
          <p:cNvPr id="16" name="Text 11"/>
          <p:cNvSpPr/>
          <p:nvPr/>
        </p:nvSpPr>
        <p:spPr>
          <a:xfrm>
            <a:off x="924997" y="4700468"/>
            <a:ext cx="12780407" cy="287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mockCouponAPI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(page: Page, scenario: string) {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page.route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('**/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/coupons/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available_coupons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', async route =&gt; {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(scenario === 'empty') {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route.fulfill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{ data: [] } });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 else if (scenario === 'timeout') {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 Promise(resolve =&gt;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(resolve, 30000));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(scenario === 'error') {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route.fulfill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 status: 500 })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altLang="zh-TW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else {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2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route.continue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}});</a:t>
            </a:r>
            <a:r>
              <a:rPr lang="zh-TW" alt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zh-TW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>
              <a:solidFill>
                <a:srgbClr val="2C2821"/>
              </a:solidFill>
              <a:highlight>
                <a:srgbClr val="EFEEEB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1798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並發與同步測試策略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1935718"/>
            <a:ext cx="3679031" cy="3015020"/>
          </a:xfrm>
          <a:prstGeom prst="roundRect">
            <a:avLst>
              <a:gd name="adj" fmla="val 98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1408" y="21569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多分頁同步測試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501408" y="2586157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測試情境: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開啟 2 個分頁,分頁 A 套用優惠券 A,分頁 B 套用優惠券 B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501408" y="3340298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預期行為: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最後套用的優惠券生效,兩個分頁自動同步至相同狀態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01408" y="4094440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驗證重點: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WebSocket 或輪詢機制正常運作,資料一致性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157579" y="1935718"/>
            <a:ext cx="3679031" cy="3015020"/>
          </a:xfrm>
          <a:prstGeom prst="roundRect">
            <a:avLst>
              <a:gd name="adj" fmla="val 98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78797" y="21569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快速連續操作測試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378797" y="2586157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測試情境: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快速連續點擊優惠券 A、B、C,模擬用戶猶豫不決或誤觸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78797" y="3340298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預期行為: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不產生重複 API 請求,防抖機制生效,最後選擇的優惠券生效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78797" y="4094440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驗證重點: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Loading 狀態管理,按鈕 disabled 防護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80190" y="5149096"/>
            <a:ext cx="7556421" cy="2062401"/>
          </a:xfrm>
          <a:prstGeom prst="roundRect">
            <a:avLst>
              <a:gd name="adj" fmla="val 1444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1408" y="53703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多裝置並發測試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501408" y="5799534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測試情境: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同一帳號在手機與電腦同時操作購物車優惠券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501408" y="6236137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預期行為: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後端正確處理並發請求,前端即時更新,避免狀態衝突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501408" y="6672739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驗證重點: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樂觀鎖或悲觀鎖機制,版本號驗證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8294"/>
            <a:ext cx="491132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測試執行策略與維護建議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64294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執行策略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93790" y="2178606"/>
            <a:ext cx="401836" cy="40183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860703" y="221200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4219" y="223992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並行執行優化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74219" y="2697480"/>
            <a:ext cx="57230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不同類型優惠券測試可並行執行,縮短總測試時間。使用獨立的測試資料與購物車狀態避免干擾。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3790" y="3626168"/>
            <a:ext cx="401836" cy="40183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860703" y="3659565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4219" y="368748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環境隔離策略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374219" y="4145042"/>
            <a:ext cx="57230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每個測試案例使用獨立的購物車狀態與用戶 Session,測試結束後自動清理已套用的優惠券與購物車資料。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5073729"/>
            <a:ext cx="401836" cy="40183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860703" y="5107126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4219" y="513504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整合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374219" y="5592604"/>
            <a:ext cx="57230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P0 測試案例納入每次 commit 的 CI 流程,P1/P2 案例在每日定時執行。失敗時自動產生截圖與錯誤報告。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0704" y="164294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維護建議</a:t>
            </a:r>
            <a:endParaRPr lang="en-US" sz="2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0704" y="2178606"/>
            <a:ext cx="446484" cy="4464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10431" y="228457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文件同步更新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8210431" y="2742128"/>
            <a:ext cx="56337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業務規則或 API 變更時,同步更新測試案例文件與測試資料檔案,確保測試覆蓋與實際功能一致。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0704" y="3670816"/>
            <a:ext cx="446484" cy="4464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10431" y="377678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程式碼審查機制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8210431" y="4234339"/>
            <a:ext cx="56337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新增測試案例需經過 Code Review,確保符合團隊規範。定期 Refactor 測試程式碼,移除重複邏輯。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0704" y="5163026"/>
            <a:ext cx="446484" cy="4464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10431" y="526899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測試覆蓋率監控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8210431" y="5726549"/>
            <a:ext cx="56337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定期檢視測試覆蓋率報告,識別未涵蓋的邊界情境。優先補充 P0/P1 等級的缺失案例。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93790" y="6789071"/>
            <a:ext cx="13042821" cy="29885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793790" y="7019806"/>
            <a:ext cx="1304282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總結: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本測試規劃提供完整的架構設計、變因分析、測試案例與實作建議,協助團隊建立穩定、可維護的優惠券功能測試體系。透過分層設計、資料驅動與 API Stubbing 技術,確保測試的穩定性與執行效率,為產品品質把關。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PresentationFormat>自訂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Lora</vt:lpstr>
      <vt:lpstr>Alice Light</vt:lpstr>
      <vt:lpstr>Consolas</vt:lpstr>
      <vt:lpstr>Alice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2</cp:revision>
  <dcterms:created xsi:type="dcterms:W3CDTF">2025-10-29T00:25:49Z</dcterms:created>
  <dcterms:modified xsi:type="dcterms:W3CDTF">2025-10-29T03:33:44Z</dcterms:modified>
</cp:coreProperties>
</file>