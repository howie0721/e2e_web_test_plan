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4630400" cy="8229600"/>
  <p:notesSz cx="8229600" cy="14630400"/>
  <p:embeddedFontLst>
    <p:embeddedFont>
      <p:font typeface="Alice"/>
      <p:regular r:id="rId17"/>
    </p:embeddedFont>
    <p:embeddedFont>
      <p:font typeface="Alice"/>
      <p:regular r:id="rId18"/>
    </p:embeddedFont>
    <p:embeddedFont>
      <p:font typeface="Lora"/>
      <p:regular r:id="rId19"/>
    </p:embeddedFont>
    <p:embeddedFont>
      <p:font typeface="Lora"/>
      <p:regular r:id="rId20"/>
    </p:embeddedFont>
    <p:embeddedFont>
      <p:font typeface="Lora"/>
      <p:regular r:id="rId21"/>
    </p:embeddedFont>
    <p:embeddedFont>
      <p:font typeface="Lora"/>
      <p:regular r:id="rId22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Relationship Id="rId22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slideLayout" Target="../slideLayouts/slideLayout11.xml"/><Relationship Id="rId8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2869525"/>
            <a:ext cx="7556421" cy="124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購物車「選擇優惠券」測試案例規劃</a:t>
            </a:r>
            <a:endParaRPr lang="en-US" sz="3900" dirty="0"/>
          </a:p>
        </p:txBody>
      </p:sp>
      <p:sp>
        <p:nvSpPr>
          <p:cNvPr id="4" name="Text 1"/>
          <p:cNvSpPr/>
          <p:nvPr/>
        </p:nvSpPr>
        <p:spPr>
          <a:xfrm>
            <a:off x="793790" y="4407337"/>
            <a:ext cx="7556421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本簡報針對電商購物車的優惠券選擇功能,提供完整的測試架構設計、變因分析與案例規劃。內容涵蓋測試分層設計、POM 架構、業務規則驗證及異常處理等面向,協助測試工程師建立全面且可維護的測試策略。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75811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測試架構與分層設計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793790" y="1891903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3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架構設計理念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93790" y="2462332"/>
            <a:ext cx="4926568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採用 Page Object Model (POM) 模式,結合資料工廠模式與 API Stubbing 技術,建立可維護、可擴展的測試架構。測試資料與測試邏輯分離,提高程式碼重用性與測試穩定性。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793790" y="3911084"/>
            <a:ext cx="4926568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測試分層包含頁面物件層、測試資料層、輔助工具層及測試案例層,每層職責明確,降低維護成本。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212086" y="1891903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3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目錄結構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6212086" y="2487216"/>
            <a:ext cx="7632025" cy="4743212"/>
          </a:xfrm>
          <a:prstGeom prst="roundRect">
            <a:avLst>
              <a:gd name="adj" fmla="val 628"/>
            </a:avLst>
          </a:prstGeom>
          <a:solidFill>
            <a:srgbClr val="EFEEEB"/>
          </a:solidFill>
          <a:ln/>
        </p:spPr>
      </p:sp>
      <p:sp>
        <p:nvSpPr>
          <p:cNvPr id="8" name="Shape 6"/>
          <p:cNvSpPr/>
          <p:nvPr/>
        </p:nvSpPr>
        <p:spPr>
          <a:xfrm>
            <a:off x="6202204" y="2487216"/>
            <a:ext cx="7651790" cy="4743212"/>
          </a:xfrm>
          <a:prstGeom prst="roundRect">
            <a:avLst>
              <a:gd name="adj" fmla="val 628"/>
            </a:avLst>
          </a:prstGeom>
          <a:solidFill>
            <a:srgbClr val="EFEEEB"/>
          </a:solidFill>
          <a:ln/>
        </p:spPr>
      </p:sp>
      <p:sp>
        <p:nvSpPr>
          <p:cNvPr id="9" name="Text 7"/>
          <p:cNvSpPr/>
          <p:nvPr/>
        </p:nvSpPr>
        <p:spPr>
          <a:xfrm>
            <a:off x="6400562" y="2636044"/>
            <a:ext cx="7255073" cy="44455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highlight>
                  <a:srgbClr val="EFEEE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Shepherdtech_Interview_final/├── pages/│ ├── cart.page.ts│ ├── coupon.page.ts│ └── checkout.page.ts├── fixtures/│ ├── coupons.json│ └── cart-scenarios.json├── helpers/│ ├── couponFactory.ts│ ├── cartApiMock.ts│ └── waitForCouponApply.ts└── tests/ └── cart/coupon/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932378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優惠券變因分析矩陣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793790" y="1949291"/>
            <a:ext cx="1304282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完整的測試覆蓋需要識別所有關鍵變因。以下從優惠券屬性、購物車狀態、用戶狀態及系統狀態四個維度,分析影響優惠券功能的關鍵變因: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93790" y="2490073"/>
            <a:ext cx="6422231" cy="2691289"/>
          </a:xfrm>
          <a:prstGeom prst="roundRect">
            <a:avLst>
              <a:gd name="adj" fmla="val 1106"/>
            </a:avLst>
          </a:prstGeom>
          <a:solidFill>
            <a:srgbClr val="F0EDE6"/>
          </a:solidFill>
          <a:ln/>
        </p:spPr>
      </p:sp>
      <p:sp>
        <p:nvSpPr>
          <p:cNvPr id="5" name="Text 3"/>
          <p:cNvSpPr/>
          <p:nvPr/>
        </p:nvSpPr>
        <p:spPr>
          <a:xfrm>
            <a:off x="992148" y="2688431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優惠券屬性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92148" y="3117652"/>
            <a:ext cx="60255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狀態:有效/過期/已使用/已領完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992148" y="3504605"/>
            <a:ext cx="60255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類型:折價/折扣/免運/滿額/贈品券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992148" y="3891558"/>
            <a:ext cx="60255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適用範圍:全站/指定分類/指定商品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992148" y="4278511"/>
            <a:ext cx="60255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使用門檻:無/滿額/滿件/會員限定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992148" y="4665464"/>
            <a:ext cx="60255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疊加規則:可疊加/互斥/優先順序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7414379" y="2490073"/>
            <a:ext cx="6422231" cy="2691289"/>
          </a:xfrm>
          <a:prstGeom prst="roundRect">
            <a:avLst>
              <a:gd name="adj" fmla="val 1106"/>
            </a:avLst>
          </a:prstGeom>
          <a:solidFill>
            <a:srgbClr val="F0EDE6"/>
          </a:solidFill>
          <a:ln/>
        </p:spPr>
      </p:sp>
      <p:sp>
        <p:nvSpPr>
          <p:cNvPr id="12" name="Text 10"/>
          <p:cNvSpPr/>
          <p:nvPr/>
        </p:nvSpPr>
        <p:spPr>
          <a:xfrm>
            <a:off x="7612737" y="2688431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購物車狀態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7612737" y="3117652"/>
            <a:ext cx="60255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商品數量:0/1/多項/超過上限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7612737" y="3504605"/>
            <a:ext cx="60255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商品金額:低於/剛好/高於門檻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7612737" y="3891558"/>
            <a:ext cx="60255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商品類型:一般/促銷/排除商品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7612737" y="4278511"/>
            <a:ext cx="60255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運送方式:宅配/超商/自取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93790" y="5379720"/>
            <a:ext cx="6422231" cy="1917383"/>
          </a:xfrm>
          <a:prstGeom prst="roundRect">
            <a:avLst>
              <a:gd name="adj" fmla="val 1553"/>
            </a:avLst>
          </a:prstGeom>
          <a:solidFill>
            <a:srgbClr val="F0EDE6"/>
          </a:solidFill>
          <a:ln/>
        </p:spPr>
      </p:sp>
      <p:sp>
        <p:nvSpPr>
          <p:cNvPr id="18" name="Text 16"/>
          <p:cNvSpPr/>
          <p:nvPr/>
        </p:nvSpPr>
        <p:spPr>
          <a:xfrm>
            <a:off x="992148" y="5578078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用戶狀態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992148" y="6007298"/>
            <a:ext cx="60255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登入狀態:已登入/未登入/Token 過期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992148" y="6394252"/>
            <a:ext cx="60255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會員等級:新會員/舊會員/VIP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992148" y="6781205"/>
            <a:ext cx="60255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使用次數:0/1/達上限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7414379" y="5379720"/>
            <a:ext cx="6422231" cy="1917383"/>
          </a:xfrm>
          <a:prstGeom prst="roundRect">
            <a:avLst>
              <a:gd name="adj" fmla="val 1553"/>
            </a:avLst>
          </a:prstGeom>
          <a:solidFill>
            <a:srgbClr val="F0EDE6"/>
          </a:solidFill>
          <a:ln/>
        </p:spPr>
      </p:sp>
      <p:sp>
        <p:nvSpPr>
          <p:cNvPr id="23" name="Text 21"/>
          <p:cNvSpPr/>
          <p:nvPr/>
        </p:nvSpPr>
        <p:spPr>
          <a:xfrm>
            <a:off x="7612737" y="5578078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系統狀態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7612737" y="6007298"/>
            <a:ext cx="60255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API 狀態:正常/Timeout/500 錯誤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7612737" y="6394252"/>
            <a:ext cx="60255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網路狀態:正常/斷線/延遲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7612737" y="6781205"/>
            <a:ext cx="60255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並發操作:單裝置/多裝置/多分頁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058228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測試案例設計思維流程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793790" y="2075140"/>
            <a:ext cx="198358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01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93790" y="2389465"/>
            <a:ext cx="4215289" cy="2286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5" name="Text 3"/>
          <p:cNvSpPr/>
          <p:nvPr/>
        </p:nvSpPr>
        <p:spPr>
          <a:xfrm>
            <a:off x="793790" y="2534364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識別變因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793790" y="2963585"/>
            <a:ext cx="4215289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分析優惠券狀態、類型、門檻、限制及購物車、用戶、系統等多維度變因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207437" y="2075140"/>
            <a:ext cx="198358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02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207437" y="2389465"/>
            <a:ext cx="4215408" cy="2286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9" name="Text 7"/>
          <p:cNvSpPr/>
          <p:nvPr/>
        </p:nvSpPr>
        <p:spPr>
          <a:xfrm>
            <a:off x="5207437" y="2534364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定義組合情境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207437" y="2963585"/>
            <a:ext cx="4215408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建立優惠券與購物車狀態的各種有效組合,涵蓋常見與特殊情境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9621203" y="2075140"/>
            <a:ext cx="198358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03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9621203" y="2389465"/>
            <a:ext cx="4215289" cy="2286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13" name="Text 11"/>
          <p:cNvSpPr/>
          <p:nvPr/>
        </p:nvSpPr>
        <p:spPr>
          <a:xfrm>
            <a:off x="9621203" y="2534364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正向測試設計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621203" y="2963585"/>
            <a:ext cx="4215289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驗證基本功能:有效優惠券套用、折抵計算、切換與移除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793790" y="3945850"/>
            <a:ext cx="198358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04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793790" y="4260175"/>
            <a:ext cx="4215289" cy="2286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17" name="Text 15"/>
          <p:cNvSpPr/>
          <p:nvPr/>
        </p:nvSpPr>
        <p:spPr>
          <a:xfrm>
            <a:off x="793790" y="4405074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負向測試設計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793790" y="4834295"/>
            <a:ext cx="4215289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測試錯誤處理:過期券、無效券、未達門檻、權限不足等情境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5207437" y="3945850"/>
            <a:ext cx="198358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05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5207437" y="4260175"/>
            <a:ext cx="4215408" cy="2286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21" name="Text 19"/>
          <p:cNvSpPr/>
          <p:nvPr/>
        </p:nvSpPr>
        <p:spPr>
          <a:xfrm>
            <a:off x="5207437" y="4405074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邊界測試設計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5207437" y="4834295"/>
            <a:ext cx="4215408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驗證臨界值:剛好達門檻、多券疊加、優惠券衝突、商品變動失效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9621203" y="3945850"/>
            <a:ext cx="198358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06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9621203" y="4260175"/>
            <a:ext cx="4215289" cy="2286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25" name="Text 23"/>
          <p:cNvSpPr/>
          <p:nvPr/>
        </p:nvSpPr>
        <p:spPr>
          <a:xfrm>
            <a:off x="9621203" y="4405074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異常測試設計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9621203" y="4834295"/>
            <a:ext cx="4215289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確保系統穩定:API 錯誤、網路異常、並發衝突、快速操作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793790" y="5816560"/>
            <a:ext cx="198358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07</a:t>
            </a:r>
            <a:endParaRPr lang="en-US" sz="1550" dirty="0"/>
          </a:p>
        </p:txBody>
      </p:sp>
      <p:sp>
        <p:nvSpPr>
          <p:cNvPr id="28" name="Shape 26"/>
          <p:cNvSpPr/>
          <p:nvPr/>
        </p:nvSpPr>
        <p:spPr>
          <a:xfrm>
            <a:off x="793790" y="6130885"/>
            <a:ext cx="13042702" cy="2286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29" name="Text 27"/>
          <p:cNvSpPr/>
          <p:nvPr/>
        </p:nvSpPr>
        <p:spPr>
          <a:xfrm>
            <a:off x="793790" y="6275784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整合測試設計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793790" y="6705005"/>
            <a:ext cx="1304270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驗證完整流程:購物車→優惠券→結帳,多裝置同步,前後端一致性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16268"/>
            <a:ext cx="3969425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1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測試案例分級與優先序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93790" y="1509236"/>
            <a:ext cx="2381607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P0 - 基礎功能測試</a:t>
            </a:r>
            <a:endParaRPr lang="en-US" sz="1850" dirty="0"/>
          </a:p>
        </p:txBody>
      </p:sp>
      <p:sp>
        <p:nvSpPr>
          <p:cNvPr id="4" name="Shape 2"/>
          <p:cNvSpPr/>
          <p:nvPr/>
        </p:nvSpPr>
        <p:spPr>
          <a:xfrm>
            <a:off x="793790" y="1985486"/>
            <a:ext cx="6327815" cy="2397204"/>
          </a:xfrm>
          <a:prstGeom prst="roundRect">
            <a:avLst>
              <a:gd name="adj" fmla="val 994"/>
            </a:avLst>
          </a:prstGeom>
          <a:solidFill>
            <a:srgbClr val="C3EED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500" y="2227778"/>
            <a:ext cx="198358" cy="1587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09568" y="2183844"/>
            <a:ext cx="565332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必須通過,阻擋發布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309568" y="2580799"/>
            <a:ext cx="565332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選擇有效優惠券並套用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309568" y="2890361"/>
            <a:ext cx="565332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優惠券正確折抵金額計算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309568" y="3199924"/>
            <a:ext cx="565332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成功移除已套用優惠券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1309568" y="3509486"/>
            <a:ext cx="565332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順利切換不同優惠券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309568" y="3906441"/>
            <a:ext cx="565332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預估案例數:</a:t>
            </a:r>
            <a:pPr algn="l"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5-8 個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93790" y="4561284"/>
            <a:ext cx="2381607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P1 - 業務規則測試</a:t>
            </a:r>
            <a:endParaRPr lang="en-US" sz="1850" dirty="0"/>
          </a:p>
        </p:txBody>
      </p:sp>
      <p:sp>
        <p:nvSpPr>
          <p:cNvPr id="13" name="Shape 10"/>
          <p:cNvSpPr/>
          <p:nvPr/>
        </p:nvSpPr>
        <p:spPr>
          <a:xfrm>
            <a:off x="793790" y="5037534"/>
            <a:ext cx="6327815" cy="2397204"/>
          </a:xfrm>
          <a:prstGeom prst="roundRect">
            <a:avLst>
              <a:gd name="adj" fmla="val 994"/>
            </a:avLst>
          </a:prstGeom>
          <a:solidFill>
            <a:srgbClr val="C3EED6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5279827"/>
            <a:ext cx="198358" cy="15871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09568" y="5235892"/>
            <a:ext cx="565332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核心業務邏輯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1309568" y="5632847"/>
            <a:ext cx="565332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滿額券門檻驗證(達到/未達到)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1309568" y="5942409"/>
            <a:ext cx="565332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單品券商品適用範圍限制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1309568" y="6251972"/>
            <a:ext cx="565332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免運券運送方式驗證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1309568" y="6561534"/>
            <a:ext cx="565332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會員限定券權限檢查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1309568" y="6958489"/>
            <a:ext cx="565332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預估案例數:</a:t>
            </a:r>
            <a:pPr algn="l"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10-15 個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7516416" y="1509236"/>
            <a:ext cx="2381607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P1 - 邊界與異常測試</a:t>
            </a:r>
            <a:endParaRPr lang="en-US" sz="1850" dirty="0"/>
          </a:p>
        </p:txBody>
      </p:sp>
      <p:sp>
        <p:nvSpPr>
          <p:cNvPr id="22" name="Shape 18"/>
          <p:cNvSpPr/>
          <p:nvPr/>
        </p:nvSpPr>
        <p:spPr>
          <a:xfrm>
            <a:off x="7516416" y="1985486"/>
            <a:ext cx="6327815" cy="2397204"/>
          </a:xfrm>
          <a:prstGeom prst="roundRect">
            <a:avLst>
              <a:gd name="adj" fmla="val 994"/>
            </a:avLst>
          </a:prstGeom>
          <a:solidFill>
            <a:srgbClr val="C3EED6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5126" y="2227778"/>
            <a:ext cx="198358" cy="15871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032194" y="2183844"/>
            <a:ext cx="565332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容錯與邊界處理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32194" y="2580799"/>
            <a:ext cx="565332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剛好達到/差 $1 未達門檻</a:t>
            </a:r>
            <a:endParaRPr lang="en-US" sz="1250" dirty="0"/>
          </a:p>
        </p:txBody>
      </p:sp>
      <p:sp>
        <p:nvSpPr>
          <p:cNvPr id="26" name="Text 21"/>
          <p:cNvSpPr/>
          <p:nvPr/>
        </p:nvSpPr>
        <p:spPr>
          <a:xfrm>
            <a:off x="8032194" y="2890361"/>
            <a:ext cx="565332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過期/無效/已用完優惠券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32194" y="3199924"/>
            <a:ext cx="565332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購物車商品異動導致失效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8032194" y="3509486"/>
            <a:ext cx="565332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多張優惠券疊加規則驗證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32194" y="3906441"/>
            <a:ext cx="565332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預估案例數:</a:t>
            </a:r>
            <a:pPr algn="l"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8-12 個</a:t>
            </a:r>
            <a:endParaRPr lang="en-US" sz="1250" dirty="0"/>
          </a:p>
        </p:txBody>
      </p:sp>
      <p:sp>
        <p:nvSpPr>
          <p:cNvPr id="30" name="Text 25"/>
          <p:cNvSpPr/>
          <p:nvPr/>
        </p:nvSpPr>
        <p:spPr>
          <a:xfrm>
            <a:off x="7516416" y="4561284"/>
            <a:ext cx="2381607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P2 - 系統穩定性測試</a:t>
            </a:r>
            <a:endParaRPr lang="en-US" sz="1850" dirty="0"/>
          </a:p>
        </p:txBody>
      </p:sp>
      <p:sp>
        <p:nvSpPr>
          <p:cNvPr id="31" name="Shape 26"/>
          <p:cNvSpPr/>
          <p:nvPr/>
        </p:nvSpPr>
        <p:spPr>
          <a:xfrm>
            <a:off x="7516416" y="5037534"/>
            <a:ext cx="6327815" cy="2397204"/>
          </a:xfrm>
          <a:prstGeom prst="roundRect">
            <a:avLst>
              <a:gd name="adj" fmla="val 994"/>
            </a:avLst>
          </a:prstGeom>
          <a:solidFill>
            <a:srgbClr val="C3EED6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5126" y="5279827"/>
            <a:ext cx="198358" cy="158710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8032194" y="5235892"/>
            <a:ext cx="565332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系統健壯性驗證</a:t>
            </a:r>
            <a:endParaRPr lang="en-US" sz="1250" dirty="0"/>
          </a:p>
        </p:txBody>
      </p:sp>
      <p:sp>
        <p:nvSpPr>
          <p:cNvPr id="34" name="Text 28"/>
          <p:cNvSpPr/>
          <p:nvPr/>
        </p:nvSpPr>
        <p:spPr>
          <a:xfrm>
            <a:off x="8032194" y="5632847"/>
            <a:ext cx="565332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API 回傳 500/Timeout 錯誤處理</a:t>
            </a:r>
            <a:endParaRPr lang="en-US" sz="1250" dirty="0"/>
          </a:p>
        </p:txBody>
      </p:sp>
      <p:sp>
        <p:nvSpPr>
          <p:cNvPr id="35" name="Text 29"/>
          <p:cNvSpPr/>
          <p:nvPr/>
        </p:nvSpPr>
        <p:spPr>
          <a:xfrm>
            <a:off x="8032194" y="5942409"/>
            <a:ext cx="565332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網路斷線後重連機制</a:t>
            </a:r>
            <a:endParaRPr lang="en-US" sz="1250" dirty="0"/>
          </a:p>
        </p:txBody>
      </p:sp>
      <p:sp>
        <p:nvSpPr>
          <p:cNvPr id="36" name="Text 30"/>
          <p:cNvSpPr/>
          <p:nvPr/>
        </p:nvSpPr>
        <p:spPr>
          <a:xfrm>
            <a:off x="8032194" y="6251972"/>
            <a:ext cx="565332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多分頁並發操作同步</a:t>
            </a:r>
            <a:endParaRPr lang="en-US" sz="1250" dirty="0"/>
          </a:p>
        </p:txBody>
      </p:sp>
      <p:sp>
        <p:nvSpPr>
          <p:cNvPr id="37" name="Text 31"/>
          <p:cNvSpPr/>
          <p:nvPr/>
        </p:nvSpPr>
        <p:spPr>
          <a:xfrm>
            <a:off x="8032194" y="6561534"/>
            <a:ext cx="565332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000"/>
              </a:lnSpc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快速切換/重複點擊防護</a:t>
            </a:r>
            <a:endParaRPr lang="en-US" sz="1250" dirty="0"/>
          </a:p>
        </p:txBody>
      </p:sp>
      <p:sp>
        <p:nvSpPr>
          <p:cNvPr id="38" name="Text 32"/>
          <p:cNvSpPr/>
          <p:nvPr/>
        </p:nvSpPr>
        <p:spPr>
          <a:xfrm>
            <a:off x="8032194" y="6958489"/>
            <a:ext cx="5653326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預估案例數:</a:t>
            </a:r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5-8 個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00" cy="173664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2359938"/>
            <a:ext cx="3473291" cy="4341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關鍵測試案例範例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793790" y="3002399"/>
            <a:ext cx="13042821" cy="1442085"/>
          </a:xfrm>
          <a:prstGeom prst="roundRect">
            <a:avLst>
              <a:gd name="adj" fmla="val 1445"/>
            </a:avLst>
          </a:prstGeom>
          <a:solidFill>
            <a:srgbClr val="FCFBF8"/>
          </a:solidFill>
          <a:ln w="15240">
            <a:solidFill>
              <a:srgbClr val="D6D3CC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09030" y="3017639"/>
            <a:ext cx="555665" cy="1411605"/>
          </a:xfrm>
          <a:prstGeom prst="roundRect">
            <a:avLst>
              <a:gd name="adj" fmla="val 459"/>
            </a:avLst>
          </a:prstGeom>
          <a:solidFill>
            <a:srgbClr val="F0EDE6"/>
          </a:solidFill>
          <a:ln/>
        </p:spPr>
      </p:sp>
      <p:sp>
        <p:nvSpPr>
          <p:cNvPr id="6" name="Text 3"/>
          <p:cNvSpPr/>
          <p:nvPr/>
        </p:nvSpPr>
        <p:spPr>
          <a:xfrm>
            <a:off x="982623" y="3593187"/>
            <a:ext cx="208359" cy="260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6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503521" y="3156466"/>
            <a:ext cx="3242548" cy="217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TC-COUPON-0001: 選擇有效優惠券並套用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503521" y="3456861"/>
            <a:ext cx="12179022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前置條件:</a:t>
            </a:r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已登入,購物車有商品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503521" y="3762494"/>
            <a:ext cx="12179022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測試步驟:</a:t>
            </a:r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前往購物車→點擊「選擇優惠券」→選擇「SAVE100」→點擊「套用」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503521" y="4068128"/>
            <a:ext cx="12179022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預期結果:</a:t>
            </a:r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優惠券成功套用,折抵金額顯示「-$100」,總金額正確扣除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93790" y="4583311"/>
            <a:ext cx="13042821" cy="1442085"/>
          </a:xfrm>
          <a:prstGeom prst="roundRect">
            <a:avLst>
              <a:gd name="adj" fmla="val 1445"/>
            </a:avLst>
          </a:prstGeom>
          <a:solidFill>
            <a:srgbClr val="FCFBF8"/>
          </a:solidFill>
          <a:ln w="15240">
            <a:solidFill>
              <a:srgbClr val="D6D3C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09030" y="4598551"/>
            <a:ext cx="555665" cy="1411605"/>
          </a:xfrm>
          <a:prstGeom prst="roundRect">
            <a:avLst>
              <a:gd name="adj" fmla="val 459"/>
            </a:avLst>
          </a:prstGeom>
          <a:solidFill>
            <a:srgbClr val="F0EDE6"/>
          </a:solidFill>
          <a:ln/>
        </p:spPr>
      </p:sp>
      <p:sp>
        <p:nvSpPr>
          <p:cNvPr id="13" name="Text 10"/>
          <p:cNvSpPr/>
          <p:nvPr/>
        </p:nvSpPr>
        <p:spPr>
          <a:xfrm>
            <a:off x="982623" y="5174099"/>
            <a:ext cx="208359" cy="260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6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503521" y="4737378"/>
            <a:ext cx="3485436" cy="217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TC-COUPON-0101: 滿額券門檻驗證(未達門檻)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1503521" y="5037773"/>
            <a:ext cx="12179022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前置條件:</a:t>
            </a:r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已登入,購物車金額 $400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503521" y="5343406"/>
            <a:ext cx="12179022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測試步驟:</a:t>
            </a:r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選擇「滿 $500 折 $100」優惠券→點擊「套用」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1503521" y="5649039"/>
            <a:ext cx="12179022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預期結果:</a:t>
            </a:r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顯示「尚未達到使用門檻,還差 $100」,優惠券呈灰色不可選擇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93790" y="6164223"/>
            <a:ext cx="13042821" cy="1442085"/>
          </a:xfrm>
          <a:prstGeom prst="roundRect">
            <a:avLst>
              <a:gd name="adj" fmla="val 1445"/>
            </a:avLst>
          </a:prstGeom>
          <a:solidFill>
            <a:srgbClr val="FCFBF8"/>
          </a:solidFill>
          <a:ln w="15240">
            <a:solidFill>
              <a:srgbClr val="D6D3C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9030" y="6179463"/>
            <a:ext cx="555665" cy="1411605"/>
          </a:xfrm>
          <a:prstGeom prst="roundRect">
            <a:avLst>
              <a:gd name="adj" fmla="val 459"/>
            </a:avLst>
          </a:prstGeom>
          <a:solidFill>
            <a:srgbClr val="F0EDE6"/>
          </a:solidFill>
          <a:ln/>
        </p:spPr>
      </p:sp>
      <p:sp>
        <p:nvSpPr>
          <p:cNvPr id="20" name="Text 17"/>
          <p:cNvSpPr/>
          <p:nvPr/>
        </p:nvSpPr>
        <p:spPr>
          <a:xfrm>
            <a:off x="982623" y="6755011"/>
            <a:ext cx="208359" cy="260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6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503521" y="6318290"/>
            <a:ext cx="3241000" cy="217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TC-COUPON-0303: 商品異動導致未達門檻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1503521" y="6618684"/>
            <a:ext cx="12179022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前置條件:</a:t>
            </a:r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購物車金額 $500,已套用「滿 $500 折 $100」優惠券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1503521" y="6924318"/>
            <a:ext cx="12179022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測試步驟:</a:t>
            </a:r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移除一項商品,使金額降為 $400→觀察優惠券狀態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1503521" y="7229951"/>
            <a:ext cx="12179022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預期結果:</a:t>
            </a:r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優惠券自動失效並移除,顯示「因商品異動,優惠券已失效」,總金額更新為 $400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41985"/>
            <a:ext cx="4217551" cy="5270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0"/>
              </a:lnSpc>
              <a:buNone/>
            </a:pPr>
            <a:r>
              <a:rPr lang="en-US" sz="33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測試資料工廠設計模式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3790" y="1590675"/>
            <a:ext cx="2530435" cy="31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9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設計理念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793790" y="2075498"/>
            <a:ext cx="5642848" cy="539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採用工廠模式(Factory Pattern)集中管理測試資料生成邏輯,提供統一的介面快速建立各種類型的優惠券與購物車情境。優點包括: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93790" y="2767132"/>
            <a:ext cx="5642848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100"/>
              </a:lnSpc>
              <a:buSzPct val="100000"/>
              <a:buChar char="•"/>
            </a:pPr>
            <a:r>
              <a:rPr lang="en-US" sz="13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提高程式碼重用性與可讀性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93790" y="3095982"/>
            <a:ext cx="5642848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100"/>
              </a:lnSpc>
              <a:buSzPct val="100000"/>
              <a:buChar char="•"/>
            </a:pPr>
            <a:r>
              <a:rPr lang="en-US" sz="13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簡化測試資料維護成本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93790" y="3424833"/>
            <a:ext cx="5642848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100"/>
              </a:lnSpc>
              <a:buSzPct val="100000"/>
              <a:buChar char="•"/>
            </a:pPr>
            <a:r>
              <a:rPr lang="en-US" sz="13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支援參數化測試與資料驅動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93790" y="3753683"/>
            <a:ext cx="5642848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100"/>
              </a:lnSpc>
              <a:buSzPct val="100000"/>
              <a:buChar char="•"/>
            </a:pPr>
            <a:r>
              <a:rPr lang="en-US" sz="13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易於擴展新的優惠券類型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5738" y="1590675"/>
            <a:ext cx="2530435" cy="31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9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CouponFactory 範例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6855738" y="2096691"/>
            <a:ext cx="6988373" cy="4841438"/>
          </a:xfrm>
          <a:prstGeom prst="roundRect">
            <a:avLst>
              <a:gd name="adj" fmla="val 523"/>
            </a:avLst>
          </a:prstGeom>
          <a:solidFill>
            <a:srgbClr val="EFEEEB"/>
          </a:solidFill>
          <a:ln/>
        </p:spPr>
      </p:sp>
      <p:sp>
        <p:nvSpPr>
          <p:cNvPr id="11" name="Shape 9"/>
          <p:cNvSpPr/>
          <p:nvPr/>
        </p:nvSpPr>
        <p:spPr>
          <a:xfrm>
            <a:off x="6847403" y="2096691"/>
            <a:ext cx="7005042" cy="4841438"/>
          </a:xfrm>
          <a:prstGeom prst="roundRect">
            <a:avLst>
              <a:gd name="adj" fmla="val 523"/>
            </a:avLst>
          </a:prstGeom>
          <a:solidFill>
            <a:srgbClr val="EFEEEB"/>
          </a:solidFill>
          <a:ln/>
        </p:spPr>
      </p:sp>
      <p:sp>
        <p:nvSpPr>
          <p:cNvPr id="12" name="Text 10"/>
          <p:cNvSpPr/>
          <p:nvPr/>
        </p:nvSpPr>
        <p:spPr>
          <a:xfrm>
            <a:off x="7015996" y="2223135"/>
            <a:ext cx="6667857" cy="4588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highlight>
                  <a:srgbClr val="EFEEE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export class CouponFactory {  static createValidCoupon(    options?: Partial&lt;Coupon&gt;  ): Coupon  static createExpiredCoupon(): Coupon  static createAmountCoupon(    threshold: number  ): Coupon  static createProductCoupon(    productId: string  ): Coupon  static createShippingCoupon(): Coupon}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790" y="7317700"/>
            <a:ext cx="13042821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測試資料檔案(fixtures/coupons.json)包含有效券、過期券、滿額券、單品券、免運券等多種類型,支援各種測試情境快速組合。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9620" y="529114"/>
            <a:ext cx="4517827" cy="511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API Stubbing 與等待策略</a:t>
            </a:r>
            <a:endParaRPr lang="en-US" sz="3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620" y="1367195"/>
            <a:ext cx="4363641" cy="65412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33093" y="2184797"/>
            <a:ext cx="2044422" cy="2555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Mock API 回應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933093" y="2538413"/>
            <a:ext cx="4036695" cy="785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2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使用 page.route() 攔截 API 請求,根據測試情境回傳預設資料、空陣列、錯誤或延遲,降低對真實後端依賴,提高測試穩定性與執行速度。</a:t>
            </a:r>
            <a:endParaRPr lang="en-US" sz="12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261" y="1367195"/>
            <a:ext cx="4363760" cy="654129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296733" y="2184797"/>
            <a:ext cx="2044422" cy="2555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智慧等待機制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296733" y="2538413"/>
            <a:ext cx="4036814" cy="785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2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實作 waitForCouponApply() 工具函式,組合等待 API 回應、DOM 更新、載入動畫消失等多重條件,確保測試在正確時機執行斷言。</a:t>
            </a:r>
            <a:endParaRPr lang="en-US" sz="12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7020" y="1367195"/>
            <a:ext cx="4363641" cy="654129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660493" y="2184797"/>
            <a:ext cx="2044422" cy="2555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重試與容錯</a:t>
            </a:r>
            <a:endParaRPr lang="en-US" sz="1600" dirty="0"/>
          </a:p>
        </p:txBody>
      </p:sp>
      <p:sp>
        <p:nvSpPr>
          <p:cNvPr id="11" name="Text 6"/>
          <p:cNvSpPr/>
          <p:nvPr/>
        </p:nvSpPr>
        <p:spPr>
          <a:xfrm>
            <a:off x="9660493" y="2538413"/>
            <a:ext cx="4036695" cy="785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2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針對 API 相關測試設定 1-2 次重試機制,處理網路波動或暫時性錯誤。每個測試使用獨立購物車狀態,測試後自動清理資料。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769620" y="3752662"/>
            <a:ext cx="13091160" cy="27980"/>
          </a:xfrm>
          <a:prstGeom prst="rect">
            <a:avLst/>
          </a:prstGeom>
          <a:solidFill>
            <a:srgbClr val="2C2821">
              <a:alpha val="50000"/>
            </a:srgbClr>
          </a:solidFill>
          <a:ln/>
        </p:spPr>
      </p:sp>
      <p:sp>
        <p:nvSpPr>
          <p:cNvPr id="13" name="Text 8"/>
          <p:cNvSpPr/>
          <p:nvPr/>
        </p:nvSpPr>
        <p:spPr>
          <a:xfrm>
            <a:off x="769620" y="4025860"/>
            <a:ext cx="2453283" cy="3067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Mock API 範例程式碼</a:t>
            </a:r>
            <a:endParaRPr lang="en-US" sz="1900" dirty="0"/>
          </a:p>
        </p:txBody>
      </p:sp>
      <p:sp>
        <p:nvSpPr>
          <p:cNvPr id="14" name="Shape 9"/>
          <p:cNvSpPr/>
          <p:nvPr/>
        </p:nvSpPr>
        <p:spPr>
          <a:xfrm>
            <a:off x="769620" y="4577834"/>
            <a:ext cx="13091160" cy="3123962"/>
          </a:xfrm>
          <a:prstGeom prst="roundRect">
            <a:avLst>
              <a:gd name="adj" fmla="val 785"/>
            </a:avLst>
          </a:prstGeom>
          <a:solidFill>
            <a:srgbClr val="EFEEEB"/>
          </a:solidFill>
          <a:ln/>
        </p:spPr>
      </p:sp>
      <p:sp>
        <p:nvSpPr>
          <p:cNvPr id="15" name="Shape 10"/>
          <p:cNvSpPr/>
          <p:nvPr/>
        </p:nvSpPr>
        <p:spPr>
          <a:xfrm>
            <a:off x="761524" y="4577834"/>
            <a:ext cx="13107353" cy="3123962"/>
          </a:xfrm>
          <a:prstGeom prst="roundRect">
            <a:avLst>
              <a:gd name="adj" fmla="val 785"/>
            </a:avLst>
          </a:prstGeom>
          <a:solidFill>
            <a:srgbClr val="EFEEEB"/>
          </a:solidFill>
          <a:ln/>
        </p:spPr>
      </p:sp>
      <p:sp>
        <p:nvSpPr>
          <p:cNvPr id="16" name="Text 11"/>
          <p:cNvSpPr/>
          <p:nvPr/>
        </p:nvSpPr>
        <p:spPr>
          <a:xfrm>
            <a:off x="924997" y="4700468"/>
            <a:ext cx="12780407" cy="2878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250" dirty="0">
                <a:solidFill>
                  <a:srgbClr val="2C2821"/>
                </a:solidFill>
                <a:highlight>
                  <a:srgbClr val="EFEEE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export async function mockCouponAPI(page: Page, scenario: string) { await page.route('**/api/ec/coupons/available_coupons', async route =&gt; { if (scenario === 'empty') { await route.fulfill({ json: { data: [] } }); } else if (scenario === 'timeout') { await new Promise(resolve =&gt; setTimeout(resolve, 30000)); } else if (scenario === 'error') { await route.fulfill({ status: 500 }); } });}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017984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並發與同步測試策略</a:t>
            </a:r>
            <a:endParaRPr lang="en-US" sz="3900" dirty="0"/>
          </a:p>
        </p:txBody>
      </p:sp>
      <p:sp>
        <p:nvSpPr>
          <p:cNvPr id="4" name="Shape 1"/>
          <p:cNvSpPr/>
          <p:nvPr/>
        </p:nvSpPr>
        <p:spPr>
          <a:xfrm>
            <a:off x="6280190" y="1935718"/>
            <a:ext cx="3679031" cy="3015020"/>
          </a:xfrm>
          <a:prstGeom prst="roundRect">
            <a:avLst>
              <a:gd name="adj" fmla="val 987"/>
            </a:avLst>
          </a:prstGeom>
          <a:solidFill>
            <a:srgbClr val="FCFBF8"/>
          </a:solidFill>
          <a:ln w="22860">
            <a:solidFill>
              <a:srgbClr val="D6D3C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501408" y="2156936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多分頁同步測試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6501408" y="2586157"/>
            <a:ext cx="323659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測試情境: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開啟 2 個分頁,分頁 A 套用優惠券 A,分頁 B 套用優惠券 B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6501408" y="3340298"/>
            <a:ext cx="323659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預期行為: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最後套用的優惠券生效,兩個分頁自動同步至相同狀態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6501408" y="4094440"/>
            <a:ext cx="323659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驗證重點: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WebSocket 或輪詢機制正常運作,資料一致性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10157579" y="1935718"/>
            <a:ext cx="3679031" cy="3015020"/>
          </a:xfrm>
          <a:prstGeom prst="roundRect">
            <a:avLst>
              <a:gd name="adj" fmla="val 987"/>
            </a:avLst>
          </a:prstGeom>
          <a:solidFill>
            <a:srgbClr val="FCFBF8"/>
          </a:solidFill>
          <a:ln w="22860">
            <a:solidFill>
              <a:srgbClr val="D6D3C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378797" y="2156936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快速連續操作測試</a:t>
            </a:r>
            <a:endParaRPr lang="en-US" sz="1950" dirty="0"/>
          </a:p>
        </p:txBody>
      </p:sp>
      <p:sp>
        <p:nvSpPr>
          <p:cNvPr id="11" name="Text 8"/>
          <p:cNvSpPr/>
          <p:nvPr/>
        </p:nvSpPr>
        <p:spPr>
          <a:xfrm>
            <a:off x="10378797" y="2586157"/>
            <a:ext cx="323659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測試情境: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快速連續點擊優惠券 A、B、C,模擬用戶猶豫不決或誤觸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10378797" y="3340298"/>
            <a:ext cx="323659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預期行為: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不產生重複 API 請求,防抖機制生效,最後選擇的優惠券生效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10378797" y="4094440"/>
            <a:ext cx="323659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驗證重點: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Loading 狀態管理,按鈕 disabled 防護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6280190" y="5149096"/>
            <a:ext cx="7556421" cy="2062401"/>
          </a:xfrm>
          <a:prstGeom prst="roundRect">
            <a:avLst>
              <a:gd name="adj" fmla="val 1444"/>
            </a:avLst>
          </a:prstGeom>
          <a:solidFill>
            <a:srgbClr val="FCFBF8"/>
          </a:solidFill>
          <a:ln w="22860">
            <a:solidFill>
              <a:srgbClr val="D6D3C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01408" y="5370314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多裝置並發測試</a:t>
            </a:r>
            <a:endParaRPr lang="en-US" sz="1950" dirty="0"/>
          </a:p>
        </p:txBody>
      </p:sp>
      <p:sp>
        <p:nvSpPr>
          <p:cNvPr id="16" name="Text 13"/>
          <p:cNvSpPr/>
          <p:nvPr/>
        </p:nvSpPr>
        <p:spPr>
          <a:xfrm>
            <a:off x="6501408" y="5799534"/>
            <a:ext cx="7113984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測試情境: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同一帳號在手機與電腦同時操作購物車優惠券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6501408" y="6236137"/>
            <a:ext cx="7113984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預期行為: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後端正確處理並發請求,前端即時更新,避免狀態衝突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6501408" y="6672739"/>
            <a:ext cx="7113984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驗證重點: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樂觀鎖或悲觀鎖機制,版本號驗證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38294"/>
            <a:ext cx="4911328" cy="558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5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測試執行策略與維護建議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793790" y="1642943"/>
            <a:ext cx="2679383" cy="3348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1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執行策略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93790" y="2178606"/>
            <a:ext cx="401836" cy="401836"/>
          </a:xfrm>
          <a:prstGeom prst="roundRect">
            <a:avLst>
              <a:gd name="adj" fmla="val 6668"/>
            </a:avLst>
          </a:prstGeom>
          <a:solidFill>
            <a:srgbClr val="F0EDE6"/>
          </a:solidFill>
          <a:ln/>
        </p:spPr>
      </p:sp>
      <p:sp>
        <p:nvSpPr>
          <p:cNvPr id="5" name="Text 3"/>
          <p:cNvSpPr/>
          <p:nvPr/>
        </p:nvSpPr>
        <p:spPr>
          <a:xfrm>
            <a:off x="860703" y="2212003"/>
            <a:ext cx="267891" cy="334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21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1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74219" y="2239923"/>
            <a:ext cx="2232779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並行執行優化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1374219" y="2697480"/>
            <a:ext cx="572309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不同類型優惠券測試可並行執行,縮短總測試時間。使用獨立的測試資料與購物車狀態避免干擾。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93790" y="3626168"/>
            <a:ext cx="401836" cy="401836"/>
          </a:xfrm>
          <a:prstGeom prst="roundRect">
            <a:avLst>
              <a:gd name="adj" fmla="val 6668"/>
            </a:avLst>
          </a:prstGeom>
          <a:solidFill>
            <a:srgbClr val="F0EDE6"/>
          </a:solidFill>
          <a:ln/>
        </p:spPr>
      </p:sp>
      <p:sp>
        <p:nvSpPr>
          <p:cNvPr id="9" name="Text 7"/>
          <p:cNvSpPr/>
          <p:nvPr/>
        </p:nvSpPr>
        <p:spPr>
          <a:xfrm>
            <a:off x="860703" y="3659565"/>
            <a:ext cx="267891" cy="334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21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374219" y="3687485"/>
            <a:ext cx="2232779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環境隔離策略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1374219" y="4145042"/>
            <a:ext cx="572309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每個測試案例使用獨立的購物車狀態與用戶 Session,測試結束後自動清理已套用的優惠券與購物車資料。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3790" y="5073729"/>
            <a:ext cx="401836" cy="401836"/>
          </a:xfrm>
          <a:prstGeom prst="roundRect">
            <a:avLst>
              <a:gd name="adj" fmla="val 6668"/>
            </a:avLst>
          </a:prstGeom>
          <a:solidFill>
            <a:srgbClr val="F0EDE6"/>
          </a:solidFill>
          <a:ln/>
        </p:spPr>
      </p:sp>
      <p:sp>
        <p:nvSpPr>
          <p:cNvPr id="13" name="Text 11"/>
          <p:cNvSpPr/>
          <p:nvPr/>
        </p:nvSpPr>
        <p:spPr>
          <a:xfrm>
            <a:off x="860703" y="5107126"/>
            <a:ext cx="267891" cy="334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21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3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374219" y="5135047"/>
            <a:ext cx="2232779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CI/CD 整合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1374219" y="5592604"/>
            <a:ext cx="572309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P0 測試案例納入每次 commit 的 CI 流程,P1/P2 案例在每日定時執行。失敗時自動產生截圖與錯誤報告。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540704" y="1642943"/>
            <a:ext cx="2679383" cy="3348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1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維護建議</a:t>
            </a:r>
            <a:endParaRPr lang="en-US" sz="2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40704" y="2178606"/>
            <a:ext cx="446484" cy="446484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210431" y="2284571"/>
            <a:ext cx="2232779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文件同步更新</a:t>
            </a:r>
            <a:endParaRPr lang="en-US" sz="1750" dirty="0"/>
          </a:p>
        </p:txBody>
      </p:sp>
      <p:sp>
        <p:nvSpPr>
          <p:cNvPr id="19" name="Text 16"/>
          <p:cNvSpPr/>
          <p:nvPr/>
        </p:nvSpPr>
        <p:spPr>
          <a:xfrm>
            <a:off x="8210431" y="2742128"/>
            <a:ext cx="563379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業務規則或 API 變更時,同步更新測試案例文件與測試資料檔案,確保測試覆蓋與實際功能一致。</a:t>
            </a:r>
            <a:endParaRPr lang="en-US" sz="14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0704" y="3670816"/>
            <a:ext cx="446484" cy="44648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210431" y="3776782"/>
            <a:ext cx="2232779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程式碼審查機制</a:t>
            </a:r>
            <a:endParaRPr lang="en-US" sz="1750" dirty="0"/>
          </a:p>
        </p:txBody>
      </p:sp>
      <p:sp>
        <p:nvSpPr>
          <p:cNvPr id="22" name="Text 18"/>
          <p:cNvSpPr/>
          <p:nvPr/>
        </p:nvSpPr>
        <p:spPr>
          <a:xfrm>
            <a:off x="8210431" y="4234339"/>
            <a:ext cx="563379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新增測試案例需經過 Code Review,確保符合團隊規範。定期 Refactor 測試程式碼,移除重複邏輯。</a:t>
            </a:r>
            <a:endParaRPr lang="en-US" sz="14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40704" y="5163026"/>
            <a:ext cx="446484" cy="446484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210431" y="5268992"/>
            <a:ext cx="2232779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測試覆蓋率監控</a:t>
            </a:r>
            <a:endParaRPr lang="en-US" sz="1750" dirty="0"/>
          </a:p>
        </p:txBody>
      </p:sp>
      <p:sp>
        <p:nvSpPr>
          <p:cNvPr id="25" name="Text 20"/>
          <p:cNvSpPr/>
          <p:nvPr/>
        </p:nvSpPr>
        <p:spPr>
          <a:xfrm>
            <a:off x="8210431" y="5726549"/>
            <a:ext cx="563379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定期檢視測試覆蓋率報告,識別未涵蓋的邊界情境。優先補充 P0/P1 等級的缺失案例。</a:t>
            </a:r>
            <a:endParaRPr lang="en-US" sz="1400" dirty="0"/>
          </a:p>
        </p:txBody>
      </p:sp>
      <p:sp>
        <p:nvSpPr>
          <p:cNvPr id="26" name="Shape 21"/>
          <p:cNvSpPr/>
          <p:nvPr/>
        </p:nvSpPr>
        <p:spPr>
          <a:xfrm>
            <a:off x="793790" y="6789071"/>
            <a:ext cx="13042821" cy="29885"/>
          </a:xfrm>
          <a:prstGeom prst="rect">
            <a:avLst/>
          </a:prstGeom>
          <a:solidFill>
            <a:srgbClr val="2C2821">
              <a:alpha val="50000"/>
            </a:srgbClr>
          </a:solidFill>
          <a:ln/>
        </p:spPr>
      </p:sp>
      <p:sp>
        <p:nvSpPr>
          <p:cNvPr id="27" name="Text 22"/>
          <p:cNvSpPr/>
          <p:nvPr/>
        </p:nvSpPr>
        <p:spPr>
          <a:xfrm>
            <a:off x="793790" y="7019806"/>
            <a:ext cx="1304282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總結:</a:t>
            </a:r>
            <a:pPr algn="l" indent="0" marL="0">
              <a:lnSpc>
                <a:spcPts val="2250"/>
              </a:lnSpc>
              <a:buNone/>
            </a:pPr>
            <a:r>
              <a:rPr lang="en-US" sz="14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本測試規劃提供完整的架構設計、變因分析、測試案例與實作建議,協助團隊建立穩定、可維護的優惠券功能測試體系。透過分層設計、資料驅動與 API Stubbing 技術,確保測試的穩定性與執行效率,為產品品質把關。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2025-10-29T00:25:49Z</dcterms:created>
  <dcterms:modified xsi:type="dcterms:W3CDTF">2025-10-29T00:25:49Z</dcterms:modified>
</cp:coreProperties>
</file>