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ice" pitchFamily="2" charset="0"/>
      <p:regular r:id="rId13"/>
    </p:embeddedFont>
    <p:embeddedFont>
      <p:font typeface="Lora" pitchFamily="2" charset="0"/>
      <p:regular r:id="rId14"/>
      <p:bold r:id="rId15"/>
      <p:italic r:id="rId16"/>
      <p:boldItalic r:id="rId17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895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179564"/>
            <a:ext cx="66596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透過 AI 協作增進測試開發效率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097298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運用人工智慧協作，將測試開發效率提升 88%，從傳統的 12.5 小時縮短至 1.5 小時，同時達成 95% 測試覆蓋率與 100% 文件完整性。本簡報將完整說明 AI 協作的實務做法、具體效益與最佳實踐。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370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 協作五大應用場景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110621"/>
            <a:ext cx="4215289" cy="2572226"/>
          </a:xfrm>
          <a:prstGeom prst="roundRect">
            <a:avLst>
              <a:gd name="adj" fmla="val 1157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992148" y="230897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B5F3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859" y="2472571"/>
            <a:ext cx="267891" cy="2678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31026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測試案例自動生成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2148" y="353187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從需求文件自動產生 E2E、API、黑箱測試案例，時間從 4 小時縮短至 30 分鐘，覆蓋率顯著提升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2110621"/>
            <a:ext cx="4215408" cy="2572226"/>
          </a:xfrm>
          <a:prstGeom prst="roundRect">
            <a:avLst>
              <a:gd name="adj" fmla="val 1157"/>
            </a:avLst>
          </a:prstGeom>
          <a:solidFill>
            <a:srgbClr val="F0EDE6"/>
          </a:solidFill>
          <a:ln/>
        </p:spPr>
      </p:sp>
      <p:sp>
        <p:nvSpPr>
          <p:cNvPr id="9" name="Shape 6"/>
          <p:cNvSpPr/>
          <p:nvPr/>
        </p:nvSpPr>
        <p:spPr>
          <a:xfrm>
            <a:off x="5405795" y="230897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B5F3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9506" y="2472571"/>
            <a:ext cx="267891" cy="2678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05795" y="31026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專案架構規劃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405795" y="3531870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自動產生 POM 結構、目錄配置與基礎範本，10 分鐘內完成專案骨架建立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9621203" y="2110621"/>
            <a:ext cx="4215289" cy="2572226"/>
          </a:xfrm>
          <a:prstGeom prst="roundRect">
            <a:avLst>
              <a:gd name="adj" fmla="val 1157"/>
            </a:avLst>
          </a:prstGeom>
          <a:solidFill>
            <a:srgbClr val="F0EDE6"/>
          </a:solidFill>
          <a:ln/>
        </p:spPr>
      </p:sp>
      <p:sp>
        <p:nvSpPr>
          <p:cNvPr id="14" name="Shape 10"/>
          <p:cNvSpPr/>
          <p:nvPr/>
        </p:nvSpPr>
        <p:spPr>
          <a:xfrm>
            <a:off x="9819561" y="230897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B5F3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83272" y="2472571"/>
            <a:ext cx="267891" cy="2678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19561" y="31026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程式碼自動補全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819561" y="353187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根據測試案例描述自動產生 Playwright 測試程式碼，單一案例開發從 20 分鐘縮短至 5 分鐘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93790" y="4881205"/>
            <a:ext cx="6422112" cy="2254687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19" name="Shape 14"/>
          <p:cNvSpPr/>
          <p:nvPr/>
        </p:nvSpPr>
        <p:spPr>
          <a:xfrm>
            <a:off x="992148" y="507956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B5F3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5859" y="5243155"/>
            <a:ext cx="267891" cy="2678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92148" y="58732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文件自動化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992148" y="6302454"/>
            <a:ext cx="602539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自動產生 README、API 測試規劃、黑箱測試規劃等完整文件，確保文件與程式碼同步</a:t>
            </a:r>
            <a:endParaRPr lang="en-US" sz="1550" dirty="0"/>
          </a:p>
        </p:txBody>
      </p:sp>
      <p:sp>
        <p:nvSpPr>
          <p:cNvPr id="23" name="Shape 17"/>
          <p:cNvSpPr/>
          <p:nvPr/>
        </p:nvSpPr>
        <p:spPr>
          <a:xfrm>
            <a:off x="7414260" y="4881205"/>
            <a:ext cx="6422231" cy="2254687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24" name="Shape 18"/>
          <p:cNvSpPr/>
          <p:nvPr/>
        </p:nvSpPr>
        <p:spPr>
          <a:xfrm>
            <a:off x="7612618" y="507956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B5F39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6329" y="5243155"/>
            <a:ext cx="267891" cy="2678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12618" y="58732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缺漏追蹤補齊</a:t>
            </a:r>
            <a:endParaRPr lang="en-US" sz="1950" dirty="0"/>
          </a:p>
        </p:txBody>
      </p:sp>
      <p:sp>
        <p:nvSpPr>
          <p:cNvPr id="27" name="Text 20"/>
          <p:cNvSpPr/>
          <p:nvPr/>
        </p:nvSpPr>
        <p:spPr>
          <a:xfrm>
            <a:off x="7612618" y="6302454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比對測試案例與實際檔案，自動識別缺口並建議優先級，達成零遺漏目標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19864"/>
            <a:ext cx="4713684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完整 AI 協作流程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793790" y="1691759"/>
            <a:ext cx="188476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793790" y="1989177"/>
            <a:ext cx="7556421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2129076"/>
            <a:ext cx="336827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需求分析與架構規劃（30 分鐘）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93790" y="2536865"/>
            <a:ext cx="75564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輸入測試需求、選擇框架，AI 自動產生專案架構、測試案例清單與技術選型建議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93790" y="3168372"/>
            <a:ext cx="188476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93790" y="3465790"/>
            <a:ext cx="7556421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0" name="Text 7"/>
          <p:cNvSpPr/>
          <p:nvPr/>
        </p:nvSpPr>
        <p:spPr>
          <a:xfrm>
            <a:off x="793790" y="3605689"/>
            <a:ext cx="2760226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測試程式碼開發（2 小時）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93790" y="4013478"/>
            <a:ext cx="75564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根據 HAR 檔案產生 Page Object、API Client 與測試案例骨架，人工負責驗證與調整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93790" y="4644985"/>
            <a:ext cx="188476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93790" y="4942403"/>
            <a:ext cx="7556421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4" name="Text 11"/>
          <p:cNvSpPr/>
          <p:nvPr/>
        </p:nvSpPr>
        <p:spPr>
          <a:xfrm>
            <a:off x="793790" y="5082302"/>
            <a:ext cx="2897029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文件生成與整理（30 分鐘）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93790" y="5490091"/>
            <a:ext cx="75564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自動產生完整專案文件，包含 README、API 規劃、黑箱測試規劃等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93790" y="6121598"/>
            <a:ext cx="188476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93790" y="6419017"/>
            <a:ext cx="7556421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8" name="Text 15"/>
          <p:cNvSpPr/>
          <p:nvPr/>
        </p:nvSpPr>
        <p:spPr>
          <a:xfrm>
            <a:off x="793790" y="6558915"/>
            <a:ext cx="274534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測試執行與除錯（1 小時）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793790" y="6966704"/>
            <a:ext cx="75564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執行測試、觀察失敗案例，AI 分析錯誤訊息並建議修復方案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87303"/>
            <a:ext cx="644985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實際協作案例：登入功能測試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30339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傳統手動方式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487382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耗時：30 分鐘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536995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手動觀察網頁元素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575691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手動撰寫 selector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614386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手動撰寫操作方法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653081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手動測試驗證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93790" y="702695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容易出現 selector 不穩定、等待策略不當等問題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564874" y="430339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 協作方式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564874" y="487382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耗時：5 分鐘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564874" y="536995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描述登入流程與要求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564874" y="575691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產生完整 Page Object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564874" y="614386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人工審查與微調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564874" y="653081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完成驗證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564874" y="702695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時間節省 83%，程式碼品質符合最佳實踐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0233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API 測試自動化效益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204" y="3525322"/>
            <a:ext cx="297656" cy="297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8632" y="35192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輸入 HAR 檔案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438632" y="3948470"/>
            <a:ext cx="575250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從瀏覽器 DevTools 匯出的網路請求記錄，包含完整的 API 呼叫資訊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3558" y="3525322"/>
            <a:ext cx="297656" cy="2976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83987" y="35192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 自動分析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8083987" y="3948470"/>
            <a:ext cx="575262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提取 API 端點、請求格式、Headers 與 Body 結構，識別認證機制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204" y="4986457"/>
            <a:ext cx="297656" cy="2976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38632" y="49803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產生測試程式碼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438632" y="5409605"/>
            <a:ext cx="575250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自動產生 API Client、測試案例骨架，包含正向與負向測試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3558" y="4986457"/>
            <a:ext cx="297656" cy="2976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83987" y="49803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時間節省 83%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8083987" y="5409605"/>
            <a:ext cx="575262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從傳統的 2 小時縮短至 20 分鐘，大幅提升開發效率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5320"/>
            <a:ext cx="3225165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效益量化分析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93790" y="1110020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時間節省統計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545312"/>
            <a:ext cx="8477726" cy="4360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734991" y="5905738"/>
            <a:ext cx="128945" cy="128945"/>
          </a:xfrm>
          <a:prstGeom prst="roundRect">
            <a:avLst>
              <a:gd name="adj" fmla="val 14183"/>
            </a:avLst>
          </a:prstGeom>
          <a:solidFill>
            <a:srgbClr val="113C24"/>
          </a:solidFill>
          <a:ln/>
        </p:spPr>
      </p:sp>
      <p:sp>
        <p:nvSpPr>
          <p:cNvPr id="6" name="Text 3"/>
          <p:cNvSpPr/>
          <p:nvPr/>
        </p:nvSpPr>
        <p:spPr>
          <a:xfrm>
            <a:off x="3924895" y="5905738"/>
            <a:ext cx="1031558" cy="129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傳統手動（分鐘）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108853" y="5905738"/>
            <a:ext cx="128945" cy="128945"/>
          </a:xfrm>
          <a:prstGeom prst="roundRect">
            <a:avLst>
              <a:gd name="adj" fmla="val 14183"/>
            </a:avLst>
          </a:prstGeom>
          <a:solidFill>
            <a:srgbClr val="206F43"/>
          </a:solidFill>
          <a:ln/>
        </p:spPr>
      </p:sp>
      <p:sp>
        <p:nvSpPr>
          <p:cNvPr id="8" name="Text 5"/>
          <p:cNvSpPr/>
          <p:nvPr/>
        </p:nvSpPr>
        <p:spPr>
          <a:xfrm>
            <a:off x="5298757" y="5905738"/>
            <a:ext cx="931545" cy="129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協作（分鐘）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3790" y="6502241"/>
            <a:ext cx="4240054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88%</a:t>
            </a:r>
            <a:endParaRPr lang="en-US" sz="3350" dirty="0"/>
          </a:p>
        </p:txBody>
      </p:sp>
      <p:sp>
        <p:nvSpPr>
          <p:cNvPr id="10" name="Text 7"/>
          <p:cNvSpPr/>
          <p:nvPr/>
        </p:nvSpPr>
        <p:spPr>
          <a:xfrm>
            <a:off x="2107525" y="7088981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整體時間節省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3790" y="7367826"/>
            <a:ext cx="4240054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從 12.5 小時縮短至 1.5 小時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195054" y="6502241"/>
            <a:ext cx="4240173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95%</a:t>
            </a:r>
            <a:endParaRPr lang="en-US" sz="3350" dirty="0"/>
          </a:p>
        </p:txBody>
      </p:sp>
      <p:sp>
        <p:nvSpPr>
          <p:cNvPr id="13" name="Text 10"/>
          <p:cNvSpPr/>
          <p:nvPr/>
        </p:nvSpPr>
        <p:spPr>
          <a:xfrm>
            <a:off x="6508790" y="7088981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測試覆蓋率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195054" y="7367826"/>
            <a:ext cx="4240173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包含正向、負向、邊界值測試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596438" y="6502241"/>
            <a:ext cx="4240173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100%</a:t>
            </a:r>
            <a:endParaRPr lang="en-US" sz="3350" dirty="0"/>
          </a:p>
        </p:txBody>
      </p:sp>
      <p:sp>
        <p:nvSpPr>
          <p:cNvPr id="16" name="Text 13"/>
          <p:cNvSpPr/>
          <p:nvPr/>
        </p:nvSpPr>
        <p:spPr>
          <a:xfrm>
            <a:off x="10910173" y="7088981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文件完整性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596438" y="7367826"/>
            <a:ext cx="4240173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所有規劃文件自動產生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529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 協作最佳實踐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382203"/>
            <a:ext cx="4215289" cy="2459355"/>
          </a:xfrm>
          <a:prstGeom prst="roundRect">
            <a:avLst>
              <a:gd name="adj" fmla="val 4462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2382203"/>
            <a:ext cx="91440" cy="2459355"/>
          </a:xfrm>
          <a:prstGeom prst="roundRect">
            <a:avLst>
              <a:gd name="adj" fmla="val 32558"/>
            </a:avLst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260342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明確的需求描述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032641"/>
            <a:ext cx="370427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包含測試目標、技術框架、具體步驟與特殊要求。良好範例：「使用 Playwright + TypeScript 撰寫登入測試，網站 dogcatstar.com，要求 POM 架構與 storageState」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2382203"/>
            <a:ext cx="4215408" cy="2459355"/>
          </a:xfrm>
          <a:prstGeom prst="roundRect">
            <a:avLst>
              <a:gd name="adj" fmla="val 4462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4577" y="2382203"/>
            <a:ext cx="91440" cy="2459355"/>
          </a:xfrm>
          <a:prstGeom prst="roundRect">
            <a:avLst>
              <a:gd name="adj" fmla="val 32558"/>
            </a:avLst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5497235" y="260342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提供足夠上下文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97235" y="3032641"/>
            <a:ext cx="37043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包含專案結構、測試資料（HAR 檔案、API Token）、錯誤訊息、相關文件等，讓 AI 能更精準地產生程式碼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21203" y="2382203"/>
            <a:ext cx="4215289" cy="2459355"/>
          </a:xfrm>
          <a:prstGeom prst="roundRect">
            <a:avLst>
              <a:gd name="adj" fmla="val 4462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8343" y="2382203"/>
            <a:ext cx="91440" cy="2459355"/>
          </a:xfrm>
          <a:prstGeom prst="roundRect">
            <a:avLst>
              <a:gd name="adj" fmla="val 32558"/>
            </a:avLst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9911001" y="260342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迭代式協作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11001" y="3032641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第一輪產生骨架、第二輪人工審查、第三輪根據反饋調整、第四輪最終確認。透過多輪互動提升品質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5039916"/>
            <a:ext cx="4215289" cy="1824276"/>
          </a:xfrm>
          <a:prstGeom prst="roundRect">
            <a:avLst>
              <a:gd name="adj" fmla="val 6015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0930" y="5039916"/>
            <a:ext cx="91440" cy="1824276"/>
          </a:xfrm>
          <a:prstGeom prst="roundRect">
            <a:avLst>
              <a:gd name="adj" fmla="val 32558"/>
            </a:avLst>
          </a:prstGeom>
          <a:solidFill>
            <a:srgbClr val="1B5F39"/>
          </a:solidFill>
          <a:ln/>
        </p:spPr>
      </p:sp>
      <p:sp>
        <p:nvSpPr>
          <p:cNvPr id="17" name="Text 15"/>
          <p:cNvSpPr/>
          <p:nvPr/>
        </p:nvSpPr>
        <p:spPr>
          <a:xfrm>
            <a:off x="1083588" y="52611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善用 AI 分析能力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83588" y="5690354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擅長分析 HAR 檔案、識別邊界值、產生結構化文件。但業務邏輯細節與測試優先級仍需人工判斷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207437" y="5039916"/>
            <a:ext cx="4215408" cy="1824276"/>
          </a:xfrm>
          <a:prstGeom prst="roundRect">
            <a:avLst>
              <a:gd name="adj" fmla="val 6015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4577" y="5039916"/>
            <a:ext cx="91440" cy="1824276"/>
          </a:xfrm>
          <a:prstGeom prst="roundRect">
            <a:avLst>
              <a:gd name="adj" fmla="val 32558"/>
            </a:avLst>
          </a:prstGeom>
          <a:solidFill>
            <a:srgbClr val="1B5F39"/>
          </a:solidFill>
          <a:ln/>
        </p:spPr>
      </p:sp>
      <p:sp>
        <p:nvSpPr>
          <p:cNvPr id="21" name="Text 19"/>
          <p:cNvSpPr/>
          <p:nvPr/>
        </p:nvSpPr>
        <p:spPr>
          <a:xfrm>
            <a:off x="5497235" y="52611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建立 Prompt 模板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5497235" y="5690354"/>
            <a:ext cx="37043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針對常見任務（API 測試、Page Object、文件生成）建立可重用的 Prompt 模板，提升協作效率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89478"/>
            <a:ext cx="4713684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品質提升指標對比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93790" y="1649849"/>
            <a:ext cx="282821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關鍵改善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215277"/>
            <a:ext cx="6291382" cy="1161812"/>
          </a:xfrm>
          <a:prstGeom prst="roundRect">
            <a:avLst>
              <a:gd name="adj" fmla="val 2434"/>
            </a:avLst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982266" y="2403753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覆蓋率提升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82266" y="2886908"/>
            <a:ext cx="5914430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25% 從 70% 提升至 95%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93790" y="3565565"/>
            <a:ext cx="6291382" cy="1161812"/>
          </a:xfrm>
          <a:prstGeom prst="roundRect">
            <a:avLst>
              <a:gd name="adj" fmla="val 2434"/>
            </a:avLst>
          </a:prstGeom>
          <a:solidFill>
            <a:srgbClr val="F0EDE6"/>
          </a:solidFill>
          <a:ln/>
        </p:spPr>
      </p:sp>
      <p:sp>
        <p:nvSpPr>
          <p:cNvPr id="8" name="Text 6"/>
          <p:cNvSpPr/>
          <p:nvPr/>
        </p:nvSpPr>
        <p:spPr>
          <a:xfrm>
            <a:off x="982266" y="3754041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遺漏減少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82266" y="4237196"/>
            <a:ext cx="5914430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90% 從 5-10 個降至 0-1 個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93790" y="4915853"/>
            <a:ext cx="6291382" cy="1161812"/>
          </a:xfrm>
          <a:prstGeom prst="roundRect">
            <a:avLst>
              <a:gd name="adj" fmla="val 2434"/>
            </a:avLst>
          </a:prstGeom>
          <a:solidFill>
            <a:srgbClr val="F0EDE6"/>
          </a:solidFill>
          <a:ln/>
        </p:spPr>
      </p:sp>
      <p:sp>
        <p:nvSpPr>
          <p:cNvPr id="11" name="Text 9"/>
          <p:cNvSpPr/>
          <p:nvPr/>
        </p:nvSpPr>
        <p:spPr>
          <a:xfrm>
            <a:off x="982266" y="510432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標準化改善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82266" y="5587484"/>
            <a:ext cx="5914430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35% 從 60% 提升至 95%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3790" y="6266140"/>
            <a:ext cx="6291382" cy="1161812"/>
          </a:xfrm>
          <a:prstGeom prst="roundRect">
            <a:avLst>
              <a:gd name="adj" fmla="val 2434"/>
            </a:avLst>
          </a:prstGeom>
          <a:solidFill>
            <a:srgbClr val="F0EDE6"/>
          </a:solidFill>
          <a:ln/>
        </p:spPr>
      </p:sp>
      <p:sp>
        <p:nvSpPr>
          <p:cNvPr id="14" name="Text 12"/>
          <p:cNvSpPr/>
          <p:nvPr/>
        </p:nvSpPr>
        <p:spPr>
          <a:xfrm>
            <a:off x="982266" y="6454616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Bug 發現率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82266" y="6937772"/>
            <a:ext cx="5914430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30% 相較基準提升 30%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52849" y="1649849"/>
            <a:ext cx="282821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實際專案成果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552849" y="2191703"/>
            <a:ext cx="62913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測試案例數：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40+ 個（E2E: 15, API: 13, 黑箱規劃: 12+）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552849" y="2559368"/>
            <a:ext cx="62913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程式碼行數：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2000+ 行 TypeScript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552849" y="2927032"/>
            <a:ext cx="62913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文件頁數：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50+ 頁 Markdown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52849" y="3294697"/>
            <a:ext cx="62913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開發時間：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1.5 小時（傳統估計 12.5 小時）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52849" y="3662363"/>
            <a:ext cx="62913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程式碼品質：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符合 Playwright 最佳實踐、POM 架構、SOLID 原則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52849" y="4133731"/>
            <a:ext cx="62913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協作不僅節省時間，更顯著提升測試品質與專案可維護性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19839"/>
            <a:ext cx="4713684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未來 AI 協作展望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982266" y="1774508"/>
            <a:ext cx="188476" cy="1105257"/>
          </a:xfrm>
          <a:prstGeom prst="roundRect">
            <a:avLst>
              <a:gd name="adj" fmla="val 15006"/>
            </a:avLst>
          </a:prstGeom>
          <a:solidFill>
            <a:srgbClr val="F0EDE6"/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1650802"/>
            <a:ext cx="565547" cy="565547"/>
          </a:xfrm>
          <a:prstGeom prst="roundRect">
            <a:avLst>
              <a:gd name="adj" fmla="val 80842"/>
            </a:avLst>
          </a:prstGeom>
          <a:solidFill>
            <a:srgbClr val="F0EDE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5117" y="1792248"/>
            <a:ext cx="282773" cy="2827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47813" y="1680210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自動化 CI/CD 整合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547813" y="2087999"/>
            <a:ext cx="6802398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自動產生 GitHub Actions 設定、執行測試、產生報告並分析失敗原因，提供修復建議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1265039" y="3351133"/>
            <a:ext cx="188476" cy="1105257"/>
          </a:xfrm>
          <a:prstGeom prst="roundRect">
            <a:avLst>
              <a:gd name="adj" fmla="val 15006"/>
            </a:avLst>
          </a:prstGeom>
          <a:solidFill>
            <a:srgbClr val="F0EDE6"/>
          </a:solidFill>
          <a:ln/>
        </p:spPr>
      </p:sp>
      <p:sp>
        <p:nvSpPr>
          <p:cNvPr id="10" name="Shape 6"/>
          <p:cNvSpPr/>
          <p:nvPr/>
        </p:nvSpPr>
        <p:spPr>
          <a:xfrm>
            <a:off x="1076563" y="3227427"/>
            <a:ext cx="565547" cy="565547"/>
          </a:xfrm>
          <a:prstGeom prst="roundRect">
            <a:avLst>
              <a:gd name="adj" fmla="val 80842"/>
            </a:avLst>
          </a:prstGeom>
          <a:solidFill>
            <a:srgbClr val="F0EDE6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7890" y="3368873"/>
            <a:ext cx="282773" cy="2827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30586" y="3256836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智能測試優化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1830586" y="3664625"/>
            <a:ext cx="6519624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分析執行時間並建議優化方案、識別冗餘測試、建議測試優先級以提升關鍵路徑覆蓋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1547813" y="4927759"/>
            <a:ext cx="188476" cy="1105257"/>
          </a:xfrm>
          <a:prstGeom prst="roundRect">
            <a:avLst>
              <a:gd name="adj" fmla="val 15006"/>
            </a:avLst>
          </a:prstGeom>
          <a:solidFill>
            <a:srgbClr val="F0EDE6"/>
          </a:solidFill>
          <a:ln/>
        </p:spPr>
      </p:sp>
      <p:sp>
        <p:nvSpPr>
          <p:cNvPr id="15" name="Shape 10"/>
          <p:cNvSpPr/>
          <p:nvPr/>
        </p:nvSpPr>
        <p:spPr>
          <a:xfrm>
            <a:off x="1359337" y="4804053"/>
            <a:ext cx="565547" cy="565547"/>
          </a:xfrm>
          <a:prstGeom prst="roundRect">
            <a:avLst>
              <a:gd name="adj" fmla="val 80842"/>
            </a:avLst>
          </a:prstGeom>
          <a:solidFill>
            <a:srgbClr val="F0EDE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00664" y="4945499"/>
            <a:ext cx="282773" cy="28277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113359" y="4833461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自動化 Bug 分析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2113359" y="5241250"/>
            <a:ext cx="6236851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分析測試失敗原因（環境 vs 真實 Bug）、自動產生 Bug Report、建議可能的修復方案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1830705" y="6504384"/>
            <a:ext cx="188476" cy="1105257"/>
          </a:xfrm>
          <a:prstGeom prst="roundRect">
            <a:avLst>
              <a:gd name="adj" fmla="val 15006"/>
            </a:avLst>
          </a:prstGeom>
          <a:solidFill>
            <a:srgbClr val="F0EDE6"/>
          </a:solidFill>
          <a:ln/>
        </p:spPr>
      </p:sp>
      <p:sp>
        <p:nvSpPr>
          <p:cNvPr id="20" name="Shape 14"/>
          <p:cNvSpPr/>
          <p:nvPr/>
        </p:nvSpPr>
        <p:spPr>
          <a:xfrm>
            <a:off x="1642229" y="6380678"/>
            <a:ext cx="565547" cy="565547"/>
          </a:xfrm>
          <a:prstGeom prst="roundRect">
            <a:avLst>
              <a:gd name="adj" fmla="val 80842"/>
            </a:avLst>
          </a:prstGeom>
          <a:solidFill>
            <a:srgbClr val="F0EDE6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83556" y="6522125"/>
            <a:ext cx="282773" cy="28277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396252" y="6410087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跨專案知識共享</a:t>
            </a:r>
            <a:endParaRPr lang="en-US" sz="1850" dirty="0"/>
          </a:p>
        </p:txBody>
      </p:sp>
      <p:sp>
        <p:nvSpPr>
          <p:cNvPr id="23" name="Text 16"/>
          <p:cNvSpPr/>
          <p:nvPr/>
        </p:nvSpPr>
        <p:spPr>
          <a:xfrm>
            <a:off x="2396252" y="6817876"/>
            <a:ext cx="5953958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學習多個專案的測試模式、建議可重用的測試元件、協助建立測試元件庫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0090"/>
            <a:ext cx="3473291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3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核心價值與成功關鍵</a:t>
            </a:r>
            <a:endParaRPr lang="en-US" sz="3600" dirty="0"/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9F8CA89D-0B88-ED81-C854-C6BF75ED4510}"/>
              </a:ext>
            </a:extLst>
          </p:cNvPr>
          <p:cNvGrpSpPr/>
          <p:nvPr/>
        </p:nvGrpSpPr>
        <p:grpSpPr>
          <a:xfrm>
            <a:off x="793789" y="1501378"/>
            <a:ext cx="7879563" cy="5851803"/>
            <a:chOff x="793790" y="1501378"/>
            <a:chExt cx="6351984" cy="4657249"/>
          </a:xfrm>
        </p:grpSpPr>
        <p:sp>
          <p:nvSpPr>
            <p:cNvPr id="3" name="Text 1"/>
            <p:cNvSpPr/>
            <p:nvPr/>
          </p:nvSpPr>
          <p:spPr>
            <a:xfrm>
              <a:off x="793790" y="1501378"/>
              <a:ext cx="2083951" cy="2603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800" dirty="0">
                  <a:solidFill>
                    <a:srgbClr val="233E32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五大核心價值</a:t>
              </a:r>
              <a:endParaRPr lang="en-US" sz="28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793790" y="1917978"/>
              <a:ext cx="312539" cy="312539"/>
            </a:xfrm>
            <a:prstGeom prst="roundRect">
              <a:avLst>
                <a:gd name="adj" fmla="val 6668"/>
              </a:avLst>
            </a:prstGeom>
            <a:solidFill>
              <a:srgbClr val="F0EDE6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845820" y="1943993"/>
              <a:ext cx="208359" cy="2603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28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1</a:t>
              </a:r>
              <a:endParaRPr lang="en-US" sz="2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245156" y="1965722"/>
              <a:ext cx="1736646" cy="2170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0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效率提升</a:t>
              </a:r>
              <a:endParaRPr lang="en-US" sz="20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245156" y="2321600"/>
              <a:ext cx="5900618" cy="2222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88% 時間節省，從 12.5 小時縮短至 1.5 小時</a:t>
              </a:r>
              <a:endParaRPr lang="en-US" sz="16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793790" y="2821662"/>
              <a:ext cx="312539" cy="312539"/>
            </a:xfrm>
            <a:prstGeom prst="roundRect">
              <a:avLst>
                <a:gd name="adj" fmla="val 6668"/>
              </a:avLst>
            </a:prstGeom>
            <a:solidFill>
              <a:srgbClr val="F0EDE6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845820" y="2847677"/>
              <a:ext cx="208359" cy="2603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28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2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245156" y="2869406"/>
              <a:ext cx="1736646" cy="2170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0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品質保證</a:t>
              </a:r>
              <a:endParaRPr lang="en-US" sz="2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45156" y="3225284"/>
              <a:ext cx="5900618" cy="2222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95% 測試覆蓋率、零遺漏、100% 文件完整性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793790" y="3725347"/>
              <a:ext cx="312539" cy="312539"/>
            </a:xfrm>
            <a:prstGeom prst="roundRect">
              <a:avLst>
                <a:gd name="adj" fmla="val 6668"/>
              </a:avLst>
            </a:prstGeom>
            <a:solidFill>
              <a:srgbClr val="F0EDE6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845820" y="3751362"/>
              <a:ext cx="208359" cy="2603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28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3</a:t>
              </a:r>
              <a:endParaRPr lang="en-US" sz="28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245156" y="3773091"/>
              <a:ext cx="1736646" cy="2170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0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標準化</a:t>
              </a:r>
              <a:endParaRPr lang="en-US" sz="2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245156" y="4128968"/>
              <a:ext cx="5900618" cy="2222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統一程式碼風格、文件格式、測試架構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793790" y="4629031"/>
              <a:ext cx="312539" cy="312539"/>
            </a:xfrm>
            <a:prstGeom prst="roundRect">
              <a:avLst>
                <a:gd name="adj" fmla="val 6668"/>
              </a:avLst>
            </a:prstGeom>
            <a:solidFill>
              <a:srgbClr val="F0EDE6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845820" y="4655046"/>
              <a:ext cx="208359" cy="2603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28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4</a:t>
              </a:r>
              <a:endParaRPr lang="en-US" sz="28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245156" y="4676775"/>
              <a:ext cx="1736646" cy="2170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0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可維護性</a:t>
              </a:r>
              <a:endParaRPr lang="en-US" sz="2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245156" y="5032653"/>
              <a:ext cx="5900618" cy="2222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清晰的專案結構、完整的文件、可追溯性</a:t>
              </a:r>
              <a:endParaRPr lang="en-US" sz="16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93790" y="5532715"/>
              <a:ext cx="312539" cy="312539"/>
            </a:xfrm>
            <a:prstGeom prst="roundRect">
              <a:avLst>
                <a:gd name="adj" fmla="val 6668"/>
              </a:avLst>
            </a:prstGeom>
            <a:solidFill>
              <a:srgbClr val="F0EDE6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845820" y="5558730"/>
              <a:ext cx="208359" cy="2603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28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5</a:t>
              </a:r>
              <a:endParaRPr lang="en-US" sz="28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245156" y="5580459"/>
              <a:ext cx="1736646" cy="2170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0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學習曲線</a:t>
              </a:r>
              <a:endParaRPr lang="en-US" sz="2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245156" y="5936337"/>
              <a:ext cx="5900618" cy="2222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新手快速上手、團隊知識共享</a:t>
              </a:r>
              <a:endParaRPr lang="en-US" sz="1600" dirty="0"/>
            </a:p>
          </p:txBody>
        </p: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2CBD9664-7CDC-5028-5EB3-28AADC55C816}"/>
              </a:ext>
            </a:extLst>
          </p:cNvPr>
          <p:cNvGrpSpPr/>
          <p:nvPr/>
        </p:nvGrpSpPr>
        <p:grpSpPr>
          <a:xfrm>
            <a:off x="6524581" y="1501378"/>
            <a:ext cx="7319649" cy="6257575"/>
            <a:chOff x="7492246" y="1501378"/>
            <a:chExt cx="6351984" cy="5851803"/>
          </a:xfrm>
        </p:grpSpPr>
        <p:sp>
          <p:nvSpPr>
            <p:cNvPr id="24" name="Text 22"/>
            <p:cNvSpPr/>
            <p:nvPr/>
          </p:nvSpPr>
          <p:spPr>
            <a:xfrm>
              <a:off x="7492246" y="1501378"/>
              <a:ext cx="2083951" cy="2603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800" dirty="0">
                  <a:solidFill>
                    <a:srgbClr val="233E32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成功關鍵因素</a:t>
              </a:r>
              <a:endParaRPr lang="en-US" sz="28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492246" y="1917978"/>
              <a:ext cx="6351984" cy="855821"/>
            </a:xfrm>
            <a:prstGeom prst="roundRect">
              <a:avLst>
                <a:gd name="adj" fmla="val 2435"/>
              </a:avLst>
            </a:prstGeom>
            <a:solidFill>
              <a:srgbClr val="F0EDE6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7631073" y="2056805"/>
              <a:ext cx="1736646" cy="2170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0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明確需求</a:t>
              </a:r>
              <a:endParaRPr lang="en-US" sz="2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7631073" y="2412683"/>
              <a:ext cx="6074331" cy="2222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清楚描述測試目標與技術要求</a:t>
              </a:r>
              <a:endParaRPr lang="en-US" sz="16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7492246" y="2912626"/>
              <a:ext cx="6351984" cy="855821"/>
            </a:xfrm>
            <a:prstGeom prst="roundRect">
              <a:avLst>
                <a:gd name="adj" fmla="val 2435"/>
              </a:avLst>
            </a:prstGeom>
            <a:solidFill>
              <a:srgbClr val="F0EDE6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7631073" y="3051453"/>
              <a:ext cx="1736646" cy="2170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0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充足上下文</a:t>
              </a:r>
              <a:endParaRPr lang="en-US" sz="20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7631073" y="3407331"/>
              <a:ext cx="6074331" cy="2222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提供專案結構、測試資料、相關文件</a:t>
              </a:r>
              <a:endParaRPr lang="en-US" sz="16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7492246" y="3907274"/>
              <a:ext cx="6351984" cy="855821"/>
            </a:xfrm>
            <a:prstGeom prst="roundRect">
              <a:avLst>
                <a:gd name="adj" fmla="val 2435"/>
              </a:avLst>
            </a:prstGeom>
            <a:solidFill>
              <a:srgbClr val="F0EDE6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7631073" y="4046101"/>
              <a:ext cx="1736646" cy="2170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0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迭代協作</a:t>
              </a:r>
              <a:endParaRPr lang="en-US" sz="2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7631073" y="4401979"/>
              <a:ext cx="6074331" cy="2222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人工與 AI 多輪互動優化</a:t>
              </a:r>
              <a:endParaRPr lang="en-US" sz="16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7492246" y="4901922"/>
              <a:ext cx="6351984" cy="855821"/>
            </a:xfrm>
            <a:prstGeom prst="roundRect">
              <a:avLst>
                <a:gd name="adj" fmla="val 2435"/>
              </a:avLst>
            </a:prstGeom>
            <a:solidFill>
              <a:srgbClr val="F0EDE6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7631073" y="5040749"/>
              <a:ext cx="1736646" cy="2170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0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善用分析</a:t>
              </a:r>
              <a:endParaRPr lang="en-US" sz="20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7631073" y="5396627"/>
              <a:ext cx="6074331" cy="2222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發揮 AI 在資料分析的優勢</a:t>
              </a:r>
              <a:endParaRPr lang="en-US" sz="16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7492246" y="5896570"/>
              <a:ext cx="6351984" cy="855821"/>
            </a:xfrm>
            <a:prstGeom prst="roundRect">
              <a:avLst>
                <a:gd name="adj" fmla="val 2435"/>
              </a:avLst>
            </a:prstGeom>
            <a:solidFill>
              <a:srgbClr val="F0EDE6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7631073" y="6035397"/>
              <a:ext cx="1736646" cy="2170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0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模板化</a:t>
              </a:r>
              <a:endParaRPr lang="en-US" sz="2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7631073" y="6391275"/>
              <a:ext cx="6074331" cy="2222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建立可重用的 Prompt 模板</a:t>
              </a:r>
              <a:endParaRPr lang="en-US" sz="16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7700605" y="6908602"/>
              <a:ext cx="6143625" cy="4445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透過 AI 協作，測試開發不再是耗時的重複勞動，而是高效的創造過程。本專案充分展現 AI 協作的強大效益，為軟體測試領域開啟全新可能。</a:t>
              </a:r>
              <a:endParaRPr lang="en-US" sz="16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7492246" y="6908602"/>
              <a:ext cx="15240" cy="444579"/>
            </a:xfrm>
            <a:prstGeom prst="rect">
              <a:avLst/>
            </a:prstGeom>
            <a:solidFill>
              <a:srgbClr val="1B5F39"/>
            </a:solidFill>
            <a:ln/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</Words>
  <Application>Microsoft Office PowerPoint</Application>
  <PresentationFormat>自訂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Alice Light</vt:lpstr>
      <vt:lpstr>Lora</vt:lpstr>
      <vt:lpstr>Arial</vt:lpstr>
      <vt:lpstr>Alice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浩瑜 郝</cp:lastModifiedBy>
  <cp:revision>2</cp:revision>
  <dcterms:created xsi:type="dcterms:W3CDTF">2025-10-29T00:17:19Z</dcterms:created>
  <dcterms:modified xsi:type="dcterms:W3CDTF">2025-10-29T03:12:27Z</dcterms:modified>
</cp:coreProperties>
</file>