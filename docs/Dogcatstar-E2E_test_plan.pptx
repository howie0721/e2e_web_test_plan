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Alice"/>
      <p:regular r:id="rId27"/>
    </p:embeddedFont>
    <p:embeddedFont>
      <p:font typeface="Alice"/>
      <p:regular r:id="rId28"/>
    </p:embeddedFont>
    <p:embeddedFont>
      <p:font typeface="Lora"/>
      <p:regular r:id="rId29"/>
    </p:embeddedFont>
    <p:embeddedFont>
      <p:font typeface="Lora"/>
      <p:regular r:id="rId30"/>
    </p:embeddedFont>
    <p:embeddedFont>
      <p:font typeface="Lora"/>
      <p:regular r:id="rId31"/>
    </p:embeddedFont>
    <p:embeddedFont>
      <p:font typeface="Lora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21.xml"/><Relationship Id="rId1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Dogcatstar E2E 自動化測試企劃書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完整的端到端測試策略與執行計畫,確保電商平台品質與穩定性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專案概覽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專案資訊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Dogcatstar E2E Web Test Plan v2.0,針對電商平台核心功能進行全面測試驗證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時程規劃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2025年10月20日啟動,歷經測試開發、執行與穩定化階段,於10月29日完成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團隊組成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由 QA、RD、DevOps 與 PM 跨職能協作,確保測試品質與專案成功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核心目標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達成 100% 測試通過率,建立穩定可靠的自動化測試框架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42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專案關鍵資訊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0003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基本資訊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7521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專案名稱: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Dogcatstar E2E Web Test Plan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版本編號: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v2.0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專案代碼: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DCS-E2E-TEST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測試網站: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dogcatstar.com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文件版本: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2.0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631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最後更新: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2025-10-29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10003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核心團隊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37521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QA Lead: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Howie - 測試規劃與執行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RD Team: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開發功能與修復缺陷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DevOps: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CI/CD 整合與環境維護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PM Team: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需求定義與驗收決策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Stakeholders: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審核結果與上線決策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593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專案時程規劃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303770" y="1730573"/>
            <a:ext cx="22860" cy="5756315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4" name="Shape 2"/>
          <p:cNvSpPr/>
          <p:nvPr/>
        </p:nvSpPr>
        <p:spPr>
          <a:xfrm>
            <a:off x="6542782" y="1935956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7098328" y="173057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7170539" y="176664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941326" y="179677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測試規劃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221361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2025-10-20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3790" y="263759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完成測試企劃書與案例設計,建立完整測試框架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09212" y="309264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11" name="Shape 9"/>
          <p:cNvSpPr/>
          <p:nvPr/>
        </p:nvSpPr>
        <p:spPr>
          <a:xfrm>
            <a:off x="7098328" y="2887266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7170539" y="292334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279130" y="295346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測試開發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79130" y="337030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10-20 ~ 10-25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9130" y="3794284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開發自動化測試腳本,實作 Page Object Model 架構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42782" y="408967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8328" y="3884295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8" name="Text 16"/>
          <p:cNvSpPr/>
          <p:nvPr/>
        </p:nvSpPr>
        <p:spPr>
          <a:xfrm>
            <a:off x="7170539" y="3920371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3941326" y="395049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93790" y="436733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10-26 ~ 10-27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3790" y="4791313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執行測試並修正問題,記錄執行結果與缺陷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509212" y="508670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23" name="Shape 21"/>
          <p:cNvSpPr/>
          <p:nvPr/>
        </p:nvSpPr>
        <p:spPr>
          <a:xfrm>
            <a:off x="7098328" y="488132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4" name="Text 22"/>
          <p:cNvSpPr/>
          <p:nvPr/>
        </p:nvSpPr>
        <p:spPr>
          <a:xfrm>
            <a:off x="7170539" y="491740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8279130" y="494752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測試穩定化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8279130" y="5364361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10-27 ~ 10-28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9130" y="5788343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優化測試穩定性,達成 100% 通過率目標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42782" y="608373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29" name="Shape 27"/>
          <p:cNvSpPr/>
          <p:nvPr/>
        </p:nvSpPr>
        <p:spPr>
          <a:xfrm>
            <a:off x="7098328" y="587835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7170539" y="591443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3941326" y="59445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文件更新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793790" y="636139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10-28 ~ 10-29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3790" y="678537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更新測試報告與專案文件,完成交付準備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測試目標與策略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功能正確性驗證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確保購物車與會員登入核心功能運作正常,包含加入商品、數量管理、登入流程等關鍵操作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資料一致性驗證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驗證購物車資料在登入前後保持一致,使用者 session 正確持久化,商品資訊準確顯示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錯誤處理驗證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 OTP 驗證碼錯誤、表單欄位驗證、網路異常等情境,確保錯誤訊息明確且處理得當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使用者體驗驗證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確認 UI 元素正確顯示,操作流程順暢無阻礙,錯誤訊息清楚易懂,提供良好使用體驗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04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測試範圍定義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6220"/>
            <a:ext cx="3777972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✅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測試範圍內 (In Scope)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7559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購物車功能: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加入、重複加入、移除、持久化、訪客購物車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9814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會員登入: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手機號碼、Email、第三方登入 (LINE/Google/Facebook)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032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 API: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快取查詢、金額計算、優惠券、結帳配置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454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認證 API: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Token 驗證、刷新機制、錯誤處理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096220"/>
            <a:ext cx="4410075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❌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測試範圍外 (Out of Scope)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37559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付款流程測試 (需串接真實金流)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1981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物流配送測試 (無法自動化)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403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優惠券複雜計算 (需完整商業邏輯)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0825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效能壓力測試 (需專門工具)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5247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安全性測試 (需專業滲透測試)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9669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跨瀏覽器測試 (後續擴充)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5564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測試類型與層級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430" y="1809869"/>
            <a:ext cx="1614011" cy="1241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2869" y="2394942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76825" y="2025253"/>
            <a:ext cx="25883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UAT 驗收測試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076825" y="2491026"/>
            <a:ext cx="258830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PM/Stakeholder 最終驗收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915257" y="3062883"/>
            <a:ext cx="8867537" cy="15240"/>
          </a:xfrm>
          <a:prstGeom prst="roundRect">
            <a:avLst>
              <a:gd name="adj" fmla="val 212093"/>
            </a:avLst>
          </a:prstGeom>
          <a:solidFill>
            <a:srgbClr val="D6D3C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24" y="3105031"/>
            <a:ext cx="3228022" cy="12413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02869" y="3536275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5883831" y="332041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E2E 系統測試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883831" y="3786188"/>
            <a:ext cx="273260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QA 全流程測試 - 本專案核心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722263" y="4358045"/>
            <a:ext cx="8060531" cy="15240"/>
          </a:xfrm>
          <a:prstGeom prst="roundRect">
            <a:avLst>
              <a:gd name="adj" fmla="val 212093"/>
            </a:avLst>
          </a:prstGeom>
          <a:solidFill>
            <a:srgbClr val="D6D3C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418" y="4400193"/>
            <a:ext cx="4842034" cy="12413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02869" y="4831437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6690836" y="4615577"/>
            <a:ext cx="195750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整合測試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6690836" y="5081349"/>
            <a:ext cx="195750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前後端 API 互動驗證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29268" y="5653207"/>
            <a:ext cx="7253526" cy="15240"/>
          </a:xfrm>
          <a:prstGeom prst="roundRect">
            <a:avLst>
              <a:gd name="adj" fmla="val 212093"/>
            </a:avLst>
          </a:prstGeom>
          <a:solidFill>
            <a:srgbClr val="D6D3C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4" y="5695355"/>
            <a:ext cx="6456164" cy="124134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02750" y="6126599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350" dirty="0"/>
          </a:p>
        </p:txBody>
      </p:sp>
      <p:sp>
        <p:nvSpPr>
          <p:cNvPr id="20" name="Text 14"/>
          <p:cNvSpPr/>
          <p:nvPr/>
        </p:nvSpPr>
        <p:spPr>
          <a:xfrm>
            <a:off x="7497842" y="5910739"/>
            <a:ext cx="207549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單元測試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7497842" y="6376511"/>
            <a:ext cx="2075497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RD 負責個別函式驗證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93790" y="7179112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採用測試金字塔策略,由下而上逐層驗證,確保各層級品質把關到位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28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測試方法與執行策略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2881670" y="2880598"/>
            <a:ext cx="2231946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3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85%</a:t>
            </a:r>
            <a:endParaRPr lang="en-US" sz="3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758" y="1746528"/>
            <a:ext cx="2721888" cy="2721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63572" y="469523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自動化測試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087541"/>
            <a:ext cx="640794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Playwright + TypeScript,採用 Page Object Model 架構,透過 CI/CD 自動執行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516547" y="2880598"/>
            <a:ext cx="2231946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3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15%</a:t>
            </a:r>
            <a:endParaRPr lang="en-US" sz="3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635" y="1746528"/>
            <a:ext cx="2721888" cy="2721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98449" y="469523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手動測試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428548" y="5087541"/>
            <a:ext cx="640806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需真實 OTP 或第三方授權的測試案例,使用 page.pause() 半自動化執行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3790" y="5962891"/>
            <a:ext cx="13042821" cy="30242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93790" y="6265307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測試資料準備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93790" y="6877645"/>
            <a:ext cx="130428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測試帳號儲存於 fixtures/test-accounts.json,登入 Session 使用 authStorageState.json 避免重複登入,採用真實網站資料進行測試,每個測試開始前清空購物車確保資料隔離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測試環境配置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11824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測試網站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dogcatstar.com 正式環境,API 端點 fortune-api.moneynet.tw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11824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測試瀏覽器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Chromium (Playwright 預設),支援 Windows/macOS/Linux 多平台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技術堆疊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54783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 18.x、Playwright 1.x、TypeScript 5.x 最新穩定版本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測試資料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54783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fixtures 目錄管理測試帳號、token、session 等敏感資訊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357" y="595074"/>
            <a:ext cx="3516630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核心測試情境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57357" y="1456611"/>
            <a:ext cx="6487478" cy="6182082"/>
          </a:xfrm>
          <a:prstGeom prst="roundRect">
            <a:avLst>
              <a:gd name="adj" fmla="val 1183"/>
            </a:avLst>
          </a:prstGeom>
          <a:solidFill>
            <a:srgbClr val="FCFBF8"/>
          </a:solidFill>
          <a:ln/>
        </p:spPr>
      </p:sp>
      <p:sp>
        <p:nvSpPr>
          <p:cNvPr id="4" name="Shape 2"/>
          <p:cNvSpPr/>
          <p:nvPr/>
        </p:nvSpPr>
        <p:spPr>
          <a:xfrm>
            <a:off x="757357" y="1441371"/>
            <a:ext cx="6487478" cy="60960"/>
          </a:xfrm>
          <a:prstGeom prst="roundRect">
            <a:avLst>
              <a:gd name="adj" fmla="val 34613"/>
            </a:avLst>
          </a:prstGeom>
          <a:solidFill>
            <a:srgbClr val="1B5F39"/>
          </a:solidFill>
          <a:ln/>
        </p:spPr>
      </p:sp>
      <p:sp>
        <p:nvSpPr>
          <p:cNvPr id="5" name="Shape 3"/>
          <p:cNvSpPr/>
          <p:nvPr/>
        </p:nvSpPr>
        <p:spPr>
          <a:xfrm>
            <a:off x="3790117" y="1245632"/>
            <a:ext cx="421958" cy="421958"/>
          </a:xfrm>
          <a:prstGeom prst="roundRect">
            <a:avLst>
              <a:gd name="adj" fmla="val 216704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3916680" y="1351121"/>
            <a:ext cx="168712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46083" y="1808202"/>
            <a:ext cx="2109907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購物車功能測試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8545" y="2230160"/>
            <a:ext cx="2705100" cy="27051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3209" y="5093494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訪客瀏覽首頁商品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3209" y="5402699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點擊商品進入商品頁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3209" y="5711904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選擇規格並加入購物車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3209" y="6021110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重複加入同一商品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3209" y="6330315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加入不同商品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3209" y="6639520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查看購物車驗證資料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3209" y="6948726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登入會員保留資料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3209" y="7257931"/>
            <a:ext cx="6175772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進入結帳流程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85447" y="1456611"/>
            <a:ext cx="6487597" cy="6182082"/>
          </a:xfrm>
          <a:prstGeom prst="roundRect">
            <a:avLst>
              <a:gd name="adj" fmla="val 1183"/>
            </a:avLst>
          </a:prstGeom>
          <a:solidFill>
            <a:srgbClr val="FCFB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385447" y="1441371"/>
            <a:ext cx="6487597" cy="60960"/>
          </a:xfrm>
          <a:prstGeom prst="roundRect">
            <a:avLst>
              <a:gd name="adj" fmla="val 34613"/>
            </a:avLst>
          </a:prstGeom>
          <a:solidFill>
            <a:srgbClr val="1B5F39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18207" y="1245632"/>
            <a:ext cx="421958" cy="421958"/>
          </a:xfrm>
          <a:prstGeom prst="roundRect">
            <a:avLst>
              <a:gd name="adj" fmla="val 216704"/>
            </a:avLst>
          </a:prstGeom>
          <a:solidFill>
            <a:srgbClr val="1B5F39"/>
          </a:solidFill>
          <a:ln/>
        </p:spPr>
      </p:sp>
      <p:sp>
        <p:nvSpPr>
          <p:cNvPr id="20" name="Text 17"/>
          <p:cNvSpPr/>
          <p:nvPr/>
        </p:nvSpPr>
        <p:spPr>
          <a:xfrm>
            <a:off x="10544770" y="1351121"/>
            <a:ext cx="168712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574292" y="1808202"/>
            <a:ext cx="2109907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會員登入測試</a:t>
            </a:r>
            <a:endParaRPr lang="en-US" sz="16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486" y="2230160"/>
            <a:ext cx="2819519" cy="281951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41300" y="5207913"/>
            <a:ext cx="6175891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點擊登入註冊按鈕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541300" y="5517118"/>
            <a:ext cx="6175891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選擇登入方式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541300" y="5826323"/>
            <a:ext cx="6175891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輸入帳號資訊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541300" y="6135529"/>
            <a:ext cx="6175891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 OTP 或驗證碼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541300" y="6444734"/>
            <a:ext cx="6175891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登入成功導向首頁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541300" y="6753939"/>
            <a:ext cx="6175891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驗證會員資訊顯示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7541300" y="7063145"/>
            <a:ext cx="6175891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確認登入狀態保留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394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測試案例總覽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315885"/>
            <a:ext cx="3058716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976312" y="329612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 E2E 測試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3761899"/>
            <a:ext cx="305871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涵蓋加入、重複加入、多商品、登入保留、訪客購物車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121825" y="2315885"/>
            <a:ext cx="3058716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4304348" y="329612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登入自動化測試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21825" y="3761899"/>
            <a:ext cx="305871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OTP 錯誤、欄位驗證、Email 驗證、登入持久化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49860" y="2315885"/>
            <a:ext cx="3058716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5550" dirty="0"/>
          </a:p>
        </p:txBody>
      </p:sp>
      <p:sp>
        <p:nvSpPr>
          <p:cNvPr id="10" name="Text 8"/>
          <p:cNvSpPr/>
          <p:nvPr/>
        </p:nvSpPr>
        <p:spPr>
          <a:xfrm>
            <a:off x="7632383" y="329612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登入手動測試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49860" y="3761899"/>
            <a:ext cx="305871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手機號碼、LINE、Facebook、Google、Email 真實登入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777895" y="2315885"/>
            <a:ext cx="3058716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</a:t>
            </a:r>
            <a:endParaRPr lang="en-US" sz="5550" dirty="0"/>
          </a:p>
        </p:txBody>
      </p:sp>
      <p:sp>
        <p:nvSpPr>
          <p:cNvPr id="13" name="Text 11"/>
          <p:cNvSpPr/>
          <p:nvPr/>
        </p:nvSpPr>
        <p:spPr>
          <a:xfrm>
            <a:off x="10960418" y="329612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 API 測試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77895" y="3761899"/>
            <a:ext cx="305871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快取查詢、金額計算、優惠券、訪客優惠、結帳配置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785842" y="4990028"/>
            <a:ext cx="3058716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5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5550" dirty="0"/>
          </a:p>
        </p:txBody>
      </p:sp>
      <p:sp>
        <p:nvSpPr>
          <p:cNvPr id="16" name="Text 14"/>
          <p:cNvSpPr/>
          <p:nvPr/>
        </p:nvSpPr>
        <p:spPr>
          <a:xfrm>
            <a:off x="5968365" y="59702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認證 API 測試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785842" y="6436043"/>
            <a:ext cx="305871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Token 驗證、刷新機制、無 Token 錯誤、無效 Token 錯誤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20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測試優先級與風險評估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94491"/>
            <a:ext cx="4196358" cy="4202906"/>
          </a:xfrm>
          <a:prstGeom prst="roundRect">
            <a:avLst>
              <a:gd name="adj" fmla="val 3486"/>
            </a:avLst>
          </a:prstGeom>
          <a:solidFill>
            <a:srgbClr val="FCFBF8"/>
          </a:solidFill>
          <a:ln w="30480">
            <a:solidFill>
              <a:srgbClr val="1B5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594491"/>
            <a:ext cx="121920" cy="4202906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851785"/>
            <a:ext cx="28663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P0 - Critical (高優先級)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34220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處理時效: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立即修復 (24 小時內)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384119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核心功能無法使用,嚴重影響業務運作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46462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 無法加入購物車、無法登入系統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2524" y="545139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涵蓋測試: TC-CART-0001, 0002, 0005 / TC-LOGIN-0001, 0004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2594491"/>
            <a:ext cx="4196358" cy="4202906"/>
          </a:xfrm>
          <a:prstGeom prst="roundRect">
            <a:avLst>
              <a:gd name="adj" fmla="val 348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6482" y="2594491"/>
            <a:ext cx="121920" cy="4202906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5565696" y="2851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P1 - High (中優先級)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65696" y="334220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處理時效: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1-3 天內修復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565696" y="384119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重要功能異常,影響使用者體驗但有替代方案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565696" y="46462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 購物車數量錯誤、OTP 錯誤訊息不正確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565696" y="545139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涵蓋測試: TC-CART-0003, 0004 / TC-LOGIN-0002, 0003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9640133" y="2594491"/>
            <a:ext cx="4196358" cy="4202906"/>
          </a:xfrm>
          <a:prstGeom prst="roundRect">
            <a:avLst>
              <a:gd name="adj" fmla="val 348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9653" y="2594491"/>
            <a:ext cx="121920" cy="4202906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9988868" y="2851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P2/P3 - Medium/Low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988868" y="334220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處理時效: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 週或下個版本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988868" y="384119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功能異常但不影響核心流程,或僅 UI 顯示問題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988868" y="46462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範例: 某規格選項無法點擊、按鈕顏色錯誤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376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缺陷管理流程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4560570" y="1358027"/>
            <a:ext cx="22860" cy="5562005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5" name="Shape 2"/>
          <p:cNvSpPr/>
          <p:nvPr/>
        </p:nvSpPr>
        <p:spPr>
          <a:xfrm>
            <a:off x="4277320" y="1525191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6" name="Shape 3"/>
          <p:cNvSpPr/>
          <p:nvPr/>
        </p:nvSpPr>
        <p:spPr>
          <a:xfrm>
            <a:off x="4512469" y="1477089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1952268" y="141255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發現缺陷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1755815"/>
            <a:ext cx="31431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測試執行時發現問題並記錄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49140" y="2477810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10" name="Shape 7"/>
          <p:cNvSpPr/>
          <p:nvPr/>
        </p:nvSpPr>
        <p:spPr>
          <a:xfrm>
            <a:off x="4512469" y="2429708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5F39"/>
          </a:solidFill>
          <a:ln/>
        </p:spPr>
      </p:sp>
      <p:sp>
        <p:nvSpPr>
          <p:cNvPr id="11" name="Text 8"/>
          <p:cNvSpPr/>
          <p:nvPr/>
        </p:nvSpPr>
        <p:spPr>
          <a:xfrm>
            <a:off x="5207079" y="236517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收集資訊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07079" y="2708434"/>
            <a:ext cx="31431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Playwright 自動截圖與 console log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77320" y="3298865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14" name="Shape 11"/>
          <p:cNvSpPr/>
          <p:nvPr/>
        </p:nvSpPr>
        <p:spPr>
          <a:xfrm>
            <a:off x="4512469" y="3250763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5F39"/>
          </a:solidFill>
          <a:ln/>
        </p:spPr>
      </p:sp>
      <p:sp>
        <p:nvSpPr>
          <p:cNvPr id="15" name="Text 12"/>
          <p:cNvSpPr/>
          <p:nvPr/>
        </p:nvSpPr>
        <p:spPr>
          <a:xfrm>
            <a:off x="1952268" y="31862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建立 Issue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93790" y="3529489"/>
            <a:ext cx="31431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在 GitHub Issues 建立缺陷報告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49140" y="4120039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18" name="Shape 15"/>
          <p:cNvSpPr/>
          <p:nvPr/>
        </p:nvSpPr>
        <p:spPr>
          <a:xfrm>
            <a:off x="4512469" y="4071937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5F39"/>
          </a:solidFill>
          <a:ln/>
        </p:spPr>
      </p:sp>
      <p:sp>
        <p:nvSpPr>
          <p:cNvPr id="19" name="Text 16"/>
          <p:cNvSpPr/>
          <p:nvPr/>
        </p:nvSpPr>
        <p:spPr>
          <a:xfrm>
            <a:off x="5207079" y="400740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RD 修復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207079" y="4350663"/>
            <a:ext cx="31431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RD 確認問題並提交修復 PR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77320" y="4941213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22" name="Shape 19"/>
          <p:cNvSpPr/>
          <p:nvPr/>
        </p:nvSpPr>
        <p:spPr>
          <a:xfrm>
            <a:off x="4512469" y="4893112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5F39"/>
          </a:solidFill>
          <a:ln/>
        </p:spPr>
      </p:sp>
      <p:sp>
        <p:nvSpPr>
          <p:cNvPr id="23" name="Text 20"/>
          <p:cNvSpPr/>
          <p:nvPr/>
        </p:nvSpPr>
        <p:spPr>
          <a:xfrm>
            <a:off x="1952268" y="482858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QA 驗證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93790" y="5171837"/>
            <a:ext cx="31431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重新執行測試確認修復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49140" y="5762387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26" name="Shape 23"/>
          <p:cNvSpPr/>
          <p:nvPr/>
        </p:nvSpPr>
        <p:spPr>
          <a:xfrm>
            <a:off x="4512469" y="5714286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1B5F39"/>
          </a:solidFill>
          <a:ln/>
        </p:spPr>
      </p:sp>
      <p:sp>
        <p:nvSpPr>
          <p:cNvPr id="27" name="Text 24"/>
          <p:cNvSpPr/>
          <p:nvPr/>
        </p:nvSpPr>
        <p:spPr>
          <a:xfrm>
            <a:off x="5207079" y="564975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關閉 Issue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5207079" y="5993011"/>
            <a:ext cx="31431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驗證通過後關閉缺陷報告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93790" y="7098625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GitHub Issues 作為缺陷追蹤平台,搭配標籤分類 (bug、enhancement、test-failure、priority-high/low) 進行管理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39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驗收標準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9675"/>
            <a:ext cx="4252555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✅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Entry Criteria (開始條件)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194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功能開發完成,RD 確認可測試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615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測試環境就緒,網站與 API 正常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037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測試資料準備完成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459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測試腳本開發完成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881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CI/CD 設定完成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159675"/>
            <a:ext cx="4002167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✅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Exit Criteria (完成條件)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28194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所有測試案例已執行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2615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通過率 ≥ 95% (連續 5 次)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7037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P0 缺陷修復率 100%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1459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P1 缺陷修復率 ≥ 90%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5881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測試報告已產出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50303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UAT 驗收通過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841120"/>
            <a:ext cx="13042821" cy="35957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621720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Go/No-Go 上線決策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793790" y="69826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當自動化測試通過率 ≥ 95%、P0 缺陷 100% 修復、P1 缺陷 ≥ 90% 修復、PM 確認需求且無重大安全問題時,即可批准上線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09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02888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測試執行成果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93790" y="3874056"/>
            <a:ext cx="6424970" cy="1734860"/>
          </a:xfrm>
          <a:prstGeom prst="roundRect">
            <a:avLst>
              <a:gd name="adj" fmla="val 166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6650" y="3896916"/>
            <a:ext cx="6379250" cy="578406"/>
          </a:xfrm>
          <a:prstGeom prst="roundRect">
            <a:avLst>
              <a:gd name="adj" fmla="val 257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3861673" y="400538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09412" y="46680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購物車測試通過率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09412" y="5084921"/>
            <a:ext cx="599372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5/5 測試案例穩定通過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11522" y="3874056"/>
            <a:ext cx="6425089" cy="1734860"/>
          </a:xfrm>
          <a:prstGeom prst="roundRect">
            <a:avLst>
              <a:gd name="adj" fmla="val 166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34382" y="3896916"/>
            <a:ext cx="6379369" cy="578406"/>
          </a:xfrm>
          <a:prstGeom prst="roundRect">
            <a:avLst>
              <a:gd name="adj" fmla="val 257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10479405" y="400538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7627144" y="46680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登入測試通過率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627144" y="5084921"/>
            <a:ext cx="599384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4/4 自動化案例穩定通過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93790" y="5801678"/>
            <a:ext cx="6424970" cy="1734860"/>
          </a:xfrm>
          <a:prstGeom prst="roundRect">
            <a:avLst>
              <a:gd name="adj" fmla="val 166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6650" y="5824538"/>
            <a:ext cx="6379250" cy="578406"/>
          </a:xfrm>
          <a:prstGeom prst="roundRect">
            <a:avLst>
              <a:gd name="adj" fmla="val 257"/>
            </a:avLst>
          </a:prstGeom>
          <a:solidFill>
            <a:srgbClr val="F0EDE6"/>
          </a:solidFill>
          <a:ln/>
        </p:spPr>
      </p:sp>
      <p:sp>
        <p:nvSpPr>
          <p:cNvPr id="16" name="Text 13"/>
          <p:cNvSpPr/>
          <p:nvPr/>
        </p:nvSpPr>
        <p:spPr>
          <a:xfrm>
            <a:off x="3861673" y="593300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09412" y="659570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手動測試通過率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1009412" y="7012543"/>
            <a:ext cx="599372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5/5 手動案例全數通過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411522" y="5801678"/>
            <a:ext cx="6425089" cy="1734860"/>
          </a:xfrm>
          <a:prstGeom prst="roundRect">
            <a:avLst>
              <a:gd name="adj" fmla="val 166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34382" y="5824538"/>
            <a:ext cx="6379369" cy="578406"/>
          </a:xfrm>
          <a:prstGeom prst="roundRect">
            <a:avLst>
              <a:gd name="adj" fmla="val 257"/>
            </a:avLst>
          </a:prstGeom>
          <a:solidFill>
            <a:srgbClr val="F0EDE6"/>
          </a:solidFill>
          <a:ln/>
        </p:spPr>
      </p:sp>
      <p:sp>
        <p:nvSpPr>
          <p:cNvPr id="21" name="Text 18"/>
          <p:cNvSpPr/>
          <p:nvPr/>
        </p:nvSpPr>
        <p:spPr>
          <a:xfrm>
            <a:off x="10479405" y="593300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7627144" y="659570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整體測試通過率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7627144" y="7012543"/>
            <a:ext cx="599384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連續 5 次執行穩定達標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0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測試穩定性優化歷程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401550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314712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優化前狀態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062883"/>
            <a:ext cx="4593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 worker 並發執行,通過率僅 75%,測試結果不穩定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293" y="4695944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382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5812453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4856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問題診斷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818" y="6093619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發現並發競爭、Email 等待時間不足等問題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508" y="401550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597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667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230070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策略調整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1032" y="3062883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改為單 worker 執行,增加 retry 機制,調整等待時間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7841" y="4695944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930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300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5403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優化後成果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6365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通過率達 100%,執行策略: --workers=1 --retries=4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43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三階段整合規劃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11798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086106"/>
            <a:ext cx="36852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CI-1: Pre-Commit Gate Check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57652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RD 提交程式碼前快速驗證,執行 Smoke Test,15-30 分鐘完成,通過後獲得 72 小時提交資格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911798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4086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CI-MTBF: 壓力測試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57652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長時間穩定性驗證,連續執行 50-100 次,監控記憶體洩漏與資源使用,通過後獲得 Merge Ticket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911798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4086106"/>
            <a:ext cx="3255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CI-0: Internal Verification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57652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每日凌晨 02:00 自動執行全回歸測試,100% 案例覆蓋率,10 輪連續執行驗證穩定性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661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實施效益與時程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803083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預期效益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93790" y="2477691"/>
            <a:ext cx="5689283" cy="240983"/>
          </a:xfrm>
          <a:prstGeom prst="roundRect">
            <a:avLst>
              <a:gd name="adj" fmla="val 12001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477691"/>
            <a:ext cx="1706761" cy="240983"/>
          </a:xfrm>
          <a:prstGeom prst="roundRect">
            <a:avLst>
              <a:gd name="adj" fmla="val 12001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6627614" y="2477691"/>
            <a:ext cx="452437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30%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295953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程式碼品質提升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3453527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提交前必須通過測試驗證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3790" y="4243745"/>
            <a:ext cx="5689759" cy="240983"/>
          </a:xfrm>
          <a:prstGeom prst="roundRect">
            <a:avLst>
              <a:gd name="adj" fmla="val 12001"/>
            </a:avLst>
          </a:prstGeom>
          <a:solidFill>
            <a:srgbClr val="F0EDE6"/>
          </a:solidFill>
          <a:ln/>
        </p:spPr>
      </p:sp>
      <p:sp>
        <p:nvSpPr>
          <p:cNvPr id="10" name="Shape 8"/>
          <p:cNvSpPr/>
          <p:nvPr/>
        </p:nvSpPr>
        <p:spPr>
          <a:xfrm>
            <a:off x="793790" y="4243745"/>
            <a:ext cx="2844879" cy="240983"/>
          </a:xfrm>
          <a:prstGeom prst="roundRect">
            <a:avLst>
              <a:gd name="adj" fmla="val 12001"/>
            </a:avLst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6628090" y="4243745"/>
            <a:ext cx="451961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50%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93790" y="472559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線上問題減少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93790" y="5219581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多層次驗證機制把關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3790" y="6009799"/>
            <a:ext cx="5684044" cy="240983"/>
          </a:xfrm>
          <a:prstGeom prst="roundRect">
            <a:avLst>
              <a:gd name="adj" fmla="val 12001"/>
            </a:avLst>
          </a:prstGeom>
          <a:solidFill>
            <a:srgbClr val="F0EDE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790" y="6009799"/>
            <a:ext cx="3410426" cy="240983"/>
          </a:xfrm>
          <a:prstGeom prst="roundRect">
            <a:avLst>
              <a:gd name="adj" fmla="val 12001"/>
            </a:avLst>
          </a:prstGeom>
          <a:solidFill>
            <a:srgbClr val="1B5F39"/>
          </a:solidFill>
          <a:ln/>
        </p:spPr>
      </p:sp>
      <p:sp>
        <p:nvSpPr>
          <p:cNvPr id="16" name="Text 14"/>
          <p:cNvSpPr/>
          <p:nvPr/>
        </p:nvSpPr>
        <p:spPr>
          <a:xfrm>
            <a:off x="6622375" y="6009799"/>
            <a:ext cx="457676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60%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93790" y="649164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測試時間縮短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93790" y="6985635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自動化取代手動測試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57968" y="1803083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實施時程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557968" y="2357318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CI-1 建置: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2025-11-01 ~ 11-15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57968" y="2733080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CI-MTBF 建置: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2025-11-16 ~ 11-30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57968" y="3108841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CI-0 建置: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2025-12-01 ~ 12-15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7968" y="3484602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版控偵測: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2025-12-16 ~ 12-22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57968" y="3860363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整合測試: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2025-12-23 ~ 12-31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57968" y="4236125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正式上線: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2026-01-01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0697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未來優化方向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1807250"/>
            <a:ext cx="7556421" cy="1241346"/>
          </a:xfrm>
          <a:prstGeom prst="roundRect">
            <a:avLst>
              <a:gd name="adj" fmla="val 2604"/>
            </a:avLst>
          </a:prstGeom>
          <a:solidFill>
            <a:srgbClr val="1B5F39"/>
          </a:solidFill>
          <a:ln/>
        </p:spPr>
      </p:sp>
      <p:sp>
        <p:nvSpPr>
          <p:cNvPr id="5" name="Text 2"/>
          <p:cNvSpPr/>
          <p:nvPr/>
        </p:nvSpPr>
        <p:spPr>
          <a:xfrm>
            <a:off x="1009174" y="202263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三階段驗證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09174" y="2488406"/>
            <a:ext cx="71256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實施 CI-1、CI-MTBF、CI-0 完整自動化流程,提升程式碼品質與部署效率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93790" y="3263979"/>
            <a:ext cx="7556421" cy="1241346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1009174" y="347936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擴充測試案例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9174" y="3945136"/>
            <a:ext cx="71256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新增付款流程、優惠券折扣計算、會員積分系統等進階測試案例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93790" y="4720709"/>
            <a:ext cx="7556421" cy="1241346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1009174" y="49360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跨瀏覽器測試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09174" y="5401866"/>
            <a:ext cx="71256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擴充至 Firefox、Safari、Edge 多瀏覽器相容性驗證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93790" y="6177439"/>
            <a:ext cx="7556421" cy="1241346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1009174" y="639282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效能與視覺測試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9174" y="6858595"/>
            <a:ext cx="71256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 Lighthouse、k6 進行效能測試,使用 Visual Comparison 偵測 UI 變更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4217789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專案成果總結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87241" y="1567458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核心成就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87241" y="2073593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523" y="2136815"/>
            <a:ext cx="253008" cy="253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5524" y="2131576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完整測試策略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35524" y="2563773"/>
            <a:ext cx="712065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建立清晰的測試目標、範圍、方法論與驗收標準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7241" y="3171111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523" y="3234333"/>
            <a:ext cx="253008" cy="2530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35524" y="3229094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高品質測試案例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35524" y="3661291"/>
            <a:ext cx="712065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涵蓋購物車與登入功能,自動化搭配手動測試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7241" y="4268629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523" y="4331851"/>
            <a:ext cx="253008" cy="2530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5524" y="4326612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卓越測試成果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35524" y="4758809"/>
            <a:ext cx="712065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100% 通過率,連續 5 次執行穩定通過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87241" y="5366147"/>
            <a:ext cx="379571" cy="379571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523" y="5429369"/>
            <a:ext cx="253008" cy="2530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5524" y="5424130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完善文件體系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35524" y="5856327"/>
            <a:ext cx="712065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測試企劃書、案例、報告、架構文件一應俱全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5276" y="1588532"/>
            <a:ext cx="3731538" cy="373153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875276" y="5509855"/>
            <a:ext cx="4975384" cy="1948339"/>
          </a:xfrm>
          <a:prstGeom prst="roundRect">
            <a:avLst>
              <a:gd name="adj" fmla="val 1299"/>
            </a:avLst>
          </a:prstGeom>
          <a:solidFill>
            <a:srgbClr val="C3EED6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988" y="5763578"/>
            <a:ext cx="210860" cy="16871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23559" y="5720715"/>
            <a:ext cx="425838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專案資訊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9423559" y="6142434"/>
            <a:ext cx="4258389" cy="1079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撰寫: Howie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最後更新: 2025-10-29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版本: 2.0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QA Lead: Howie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2025-10-29T01:59:43Z</dcterms:created>
  <dcterms:modified xsi:type="dcterms:W3CDTF">2025-10-29T01:59:43Z</dcterms:modified>
</cp:coreProperties>
</file>