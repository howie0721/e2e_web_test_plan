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4630400" cy="8229600"/>
  <p:notesSz cx="8229600" cy="14630400"/>
  <p:embeddedFontLst>
    <p:embeddedFont>
      <p:font typeface="Alice" pitchFamily="2" charset="0"/>
      <p:regular r:id="rId22"/>
    </p:embeddedFont>
    <p:embeddedFont>
      <p:font typeface="Lora" pitchFamily="2" charset="0"/>
      <p:regular r:id="rId23"/>
      <p:bold r:id="rId24"/>
      <p:italic r:id="rId25"/>
      <p:boldItalic r:id="rId26"/>
    </p:embeddedFont>
  </p:embeddedFontLst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4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9642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30.sv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3054429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Dogcatstar E2E 自動化測試企劃書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812149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完整的端到端測試策略與執行計畫,確保電商平台品質與穩定性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4308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專案概覽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005489"/>
            <a:ext cx="6407944" cy="2577108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4" name="Shape 2"/>
          <p:cNvSpPr/>
          <p:nvPr/>
        </p:nvSpPr>
        <p:spPr>
          <a:xfrm>
            <a:off x="1020604" y="2232303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B5F39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7770" y="2419350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0604" y="313955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專案資訊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0604" y="3629978"/>
            <a:ext cx="59543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Dogcatstar E2E Web Test </a:t>
            </a:r>
            <a:r>
              <a:rPr lang="en-US" sz="1750" dirty="0" err="1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Plan,針對電商平台核心功能進行全面測試驗證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7428548" y="2005489"/>
            <a:ext cx="6408063" cy="2577108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9" name="Shape 6"/>
          <p:cNvSpPr/>
          <p:nvPr/>
        </p:nvSpPr>
        <p:spPr>
          <a:xfrm>
            <a:off x="7655362" y="2232303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B5F39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42528" y="2419350"/>
            <a:ext cx="306110" cy="3061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55362" y="313955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時程規劃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655362" y="3629978"/>
            <a:ext cx="59544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2025年10月20日啟動,歷經測試開發、執行與穩定化階段,於10月29日完成</a:t>
            </a:r>
            <a:endParaRPr lang="en-US" sz="1750" dirty="0"/>
          </a:p>
        </p:txBody>
      </p:sp>
      <p:sp>
        <p:nvSpPr>
          <p:cNvPr id="18" name="Shape 13"/>
          <p:cNvSpPr/>
          <p:nvPr/>
        </p:nvSpPr>
        <p:spPr>
          <a:xfrm>
            <a:off x="4224516" y="4870224"/>
            <a:ext cx="6408063" cy="2577108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19" name="Shape 14"/>
          <p:cNvSpPr/>
          <p:nvPr/>
        </p:nvSpPr>
        <p:spPr>
          <a:xfrm>
            <a:off x="4451330" y="5097038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B5F39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38496" y="5284085"/>
            <a:ext cx="306110" cy="3061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451330" y="600429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核心目標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4451330" y="6494712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達成 100% 測試通過率,建立穩定可靠的自動化測試框架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42593"/>
            <a:ext cx="482000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專案時程規劃</a:t>
            </a:r>
            <a:endParaRPr lang="en-US" sz="3750" dirty="0"/>
          </a:p>
        </p:txBody>
      </p:sp>
      <p:sp>
        <p:nvSpPr>
          <p:cNvPr id="3" name="Shape 1"/>
          <p:cNvSpPr/>
          <p:nvPr/>
        </p:nvSpPr>
        <p:spPr>
          <a:xfrm>
            <a:off x="7303770" y="1730573"/>
            <a:ext cx="22860" cy="5756315"/>
          </a:xfrm>
          <a:prstGeom prst="roundRect">
            <a:avLst>
              <a:gd name="adj" fmla="val 126512"/>
            </a:avLst>
          </a:prstGeom>
          <a:solidFill>
            <a:srgbClr val="D6D3CC"/>
          </a:solidFill>
          <a:ln/>
        </p:spPr>
      </p:sp>
      <p:sp>
        <p:nvSpPr>
          <p:cNvPr id="4" name="Shape 2"/>
          <p:cNvSpPr/>
          <p:nvPr/>
        </p:nvSpPr>
        <p:spPr>
          <a:xfrm>
            <a:off x="6542782" y="1935956"/>
            <a:ext cx="578406" cy="22860"/>
          </a:xfrm>
          <a:prstGeom prst="roundRect">
            <a:avLst>
              <a:gd name="adj" fmla="val 126512"/>
            </a:avLst>
          </a:prstGeom>
          <a:solidFill>
            <a:srgbClr val="D6D3CC"/>
          </a:solidFill>
          <a:ln/>
        </p:spPr>
      </p:sp>
      <p:sp>
        <p:nvSpPr>
          <p:cNvPr id="5" name="Shape 3"/>
          <p:cNvSpPr/>
          <p:nvPr/>
        </p:nvSpPr>
        <p:spPr>
          <a:xfrm>
            <a:off x="7098328" y="1730573"/>
            <a:ext cx="433745" cy="433745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6" name="Text 4"/>
          <p:cNvSpPr/>
          <p:nvPr/>
        </p:nvSpPr>
        <p:spPr>
          <a:xfrm>
            <a:off x="7170539" y="1766649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941326" y="1796772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測試規劃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793790" y="2213610"/>
            <a:ext cx="555748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2025-10-20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3790" y="2637592"/>
            <a:ext cx="555748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完成測試企劃書與案例設計,建立完整測試框架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509212" y="3092648"/>
            <a:ext cx="578406" cy="22860"/>
          </a:xfrm>
          <a:prstGeom prst="roundRect">
            <a:avLst>
              <a:gd name="adj" fmla="val 126512"/>
            </a:avLst>
          </a:prstGeom>
          <a:solidFill>
            <a:srgbClr val="D6D3CC"/>
          </a:solidFill>
          <a:ln/>
        </p:spPr>
      </p:sp>
      <p:sp>
        <p:nvSpPr>
          <p:cNvPr id="11" name="Shape 9"/>
          <p:cNvSpPr/>
          <p:nvPr/>
        </p:nvSpPr>
        <p:spPr>
          <a:xfrm>
            <a:off x="7098328" y="2887266"/>
            <a:ext cx="433745" cy="433745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12" name="Text 10"/>
          <p:cNvSpPr/>
          <p:nvPr/>
        </p:nvSpPr>
        <p:spPr>
          <a:xfrm>
            <a:off x="7170539" y="2923342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8279130" y="2953464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測試開發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8279130" y="3370302"/>
            <a:ext cx="555748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10-20 ~ 10-25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9130" y="3794284"/>
            <a:ext cx="555748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開發自動化測試腳本,實作 Page Object Model 架構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42782" y="4089678"/>
            <a:ext cx="578406" cy="22860"/>
          </a:xfrm>
          <a:prstGeom prst="roundRect">
            <a:avLst>
              <a:gd name="adj" fmla="val 126512"/>
            </a:avLst>
          </a:prstGeom>
          <a:solidFill>
            <a:srgbClr val="D6D3CC"/>
          </a:solidFill>
          <a:ln/>
        </p:spPr>
      </p:sp>
      <p:sp>
        <p:nvSpPr>
          <p:cNvPr id="17" name="Shape 15"/>
          <p:cNvSpPr/>
          <p:nvPr/>
        </p:nvSpPr>
        <p:spPr>
          <a:xfrm>
            <a:off x="7098328" y="3884295"/>
            <a:ext cx="433745" cy="433745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18" name="Text 16"/>
          <p:cNvSpPr/>
          <p:nvPr/>
        </p:nvSpPr>
        <p:spPr>
          <a:xfrm>
            <a:off x="7170539" y="3920371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3941326" y="3950494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測試執行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793790" y="4367332"/>
            <a:ext cx="555748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10-26 ~ 10-27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93790" y="4791313"/>
            <a:ext cx="555748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執行測試並修正問題,記錄執行結果與缺陷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509212" y="5086707"/>
            <a:ext cx="578406" cy="22860"/>
          </a:xfrm>
          <a:prstGeom prst="roundRect">
            <a:avLst>
              <a:gd name="adj" fmla="val 126512"/>
            </a:avLst>
          </a:prstGeom>
          <a:solidFill>
            <a:srgbClr val="D6D3CC"/>
          </a:solidFill>
          <a:ln/>
        </p:spPr>
      </p:sp>
      <p:sp>
        <p:nvSpPr>
          <p:cNvPr id="23" name="Shape 21"/>
          <p:cNvSpPr/>
          <p:nvPr/>
        </p:nvSpPr>
        <p:spPr>
          <a:xfrm>
            <a:off x="7098328" y="4881324"/>
            <a:ext cx="433745" cy="433745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24" name="Text 22"/>
          <p:cNvSpPr/>
          <p:nvPr/>
        </p:nvSpPr>
        <p:spPr>
          <a:xfrm>
            <a:off x="7170539" y="4917400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4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8279130" y="494752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測試穩定化</a:t>
            </a:r>
            <a:endParaRPr lang="en-US" sz="1850" dirty="0"/>
          </a:p>
        </p:txBody>
      </p:sp>
      <p:sp>
        <p:nvSpPr>
          <p:cNvPr id="26" name="Text 24"/>
          <p:cNvSpPr/>
          <p:nvPr/>
        </p:nvSpPr>
        <p:spPr>
          <a:xfrm>
            <a:off x="8279130" y="5364361"/>
            <a:ext cx="555748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10-27 ~ 10-28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79130" y="5788343"/>
            <a:ext cx="555748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優化測試穩定性,達成 100% 通過率目標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542782" y="6083737"/>
            <a:ext cx="578406" cy="22860"/>
          </a:xfrm>
          <a:prstGeom prst="roundRect">
            <a:avLst>
              <a:gd name="adj" fmla="val 126512"/>
            </a:avLst>
          </a:prstGeom>
          <a:solidFill>
            <a:srgbClr val="D6D3CC"/>
          </a:solidFill>
          <a:ln/>
        </p:spPr>
      </p:sp>
      <p:sp>
        <p:nvSpPr>
          <p:cNvPr id="29" name="Shape 27"/>
          <p:cNvSpPr/>
          <p:nvPr/>
        </p:nvSpPr>
        <p:spPr>
          <a:xfrm>
            <a:off x="7098328" y="5878354"/>
            <a:ext cx="433745" cy="433745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30" name="Text 28"/>
          <p:cNvSpPr/>
          <p:nvPr/>
        </p:nvSpPr>
        <p:spPr>
          <a:xfrm>
            <a:off x="7170539" y="5914430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5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3941326" y="594455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文件更新</a:t>
            </a:r>
            <a:endParaRPr lang="en-US" sz="1850" dirty="0"/>
          </a:p>
        </p:txBody>
      </p:sp>
      <p:sp>
        <p:nvSpPr>
          <p:cNvPr id="32" name="Text 30"/>
          <p:cNvSpPr/>
          <p:nvPr/>
        </p:nvSpPr>
        <p:spPr>
          <a:xfrm>
            <a:off x="793790" y="6361390"/>
            <a:ext cx="555748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10-28 ~ 10-29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3790" y="6785372"/>
            <a:ext cx="555748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更新測試報告與專案文件,完成交付準備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3953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測試目標與策略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42103"/>
            <a:ext cx="6407944" cy="2040493"/>
          </a:xfrm>
          <a:prstGeom prst="roundRect">
            <a:avLst>
              <a:gd name="adj" fmla="val 7170"/>
            </a:avLst>
          </a:prstGeom>
          <a:solidFill>
            <a:srgbClr val="FCFBF8"/>
          </a:solidFill>
          <a:ln/>
        </p:spPr>
      </p:sp>
      <p:sp>
        <p:nvSpPr>
          <p:cNvPr id="4" name="Shape 2"/>
          <p:cNvSpPr/>
          <p:nvPr/>
        </p:nvSpPr>
        <p:spPr>
          <a:xfrm>
            <a:off x="793790" y="2511623"/>
            <a:ext cx="6407944" cy="121920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540" y="2201942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1B5F39"/>
          </a:solidFill>
          <a:ln/>
        </p:spPr>
      </p:sp>
      <p:sp>
        <p:nvSpPr>
          <p:cNvPr id="6" name="Text 4"/>
          <p:cNvSpPr/>
          <p:nvPr/>
        </p:nvSpPr>
        <p:spPr>
          <a:xfrm>
            <a:off x="3861614" y="2372082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51084" y="31090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功能正確性驗證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084" y="3599497"/>
            <a:ext cx="589335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確保購物車與會員登入核心功能運作正常,包含加入商品、數量管理、登入流程等關鍵操作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428548" y="2542103"/>
            <a:ext cx="6408063" cy="2040493"/>
          </a:xfrm>
          <a:prstGeom prst="roundRect">
            <a:avLst>
              <a:gd name="adj" fmla="val 7170"/>
            </a:avLst>
          </a:prstGeom>
          <a:solidFill>
            <a:srgbClr val="FCFBF8"/>
          </a:solidFill>
          <a:ln/>
        </p:spPr>
      </p:sp>
      <p:sp>
        <p:nvSpPr>
          <p:cNvPr id="10" name="Shape 8"/>
          <p:cNvSpPr/>
          <p:nvPr/>
        </p:nvSpPr>
        <p:spPr>
          <a:xfrm>
            <a:off x="7428548" y="2511623"/>
            <a:ext cx="6408063" cy="121920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11" name="Shape 9"/>
          <p:cNvSpPr/>
          <p:nvPr/>
        </p:nvSpPr>
        <p:spPr>
          <a:xfrm>
            <a:off x="10292298" y="2201942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1B5F39"/>
          </a:solidFill>
          <a:ln/>
        </p:spPr>
      </p:sp>
      <p:sp>
        <p:nvSpPr>
          <p:cNvPr id="12" name="Text 10"/>
          <p:cNvSpPr/>
          <p:nvPr/>
        </p:nvSpPr>
        <p:spPr>
          <a:xfrm>
            <a:off x="10496371" y="2372082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685842" y="31090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資料一致性驗證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685842" y="3599497"/>
            <a:ext cx="589347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驗證購物車資料在登入前後保持一致,使用者 session 正確持久化,商品資訊準確顯示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93790" y="5149572"/>
            <a:ext cx="6407944" cy="2040493"/>
          </a:xfrm>
          <a:prstGeom prst="roundRect">
            <a:avLst>
              <a:gd name="adj" fmla="val 7170"/>
            </a:avLst>
          </a:prstGeom>
          <a:solidFill>
            <a:srgbClr val="FCFB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93790" y="5119092"/>
            <a:ext cx="6407944" cy="121920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17" name="Shape 15"/>
          <p:cNvSpPr/>
          <p:nvPr/>
        </p:nvSpPr>
        <p:spPr>
          <a:xfrm>
            <a:off x="3657540" y="4809411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1B5F39"/>
          </a:solidFill>
          <a:ln/>
        </p:spPr>
      </p:sp>
      <p:sp>
        <p:nvSpPr>
          <p:cNvPr id="18" name="Text 16"/>
          <p:cNvSpPr/>
          <p:nvPr/>
        </p:nvSpPr>
        <p:spPr>
          <a:xfrm>
            <a:off x="3861614" y="4979551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051084" y="57165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錯誤處理驗證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51084" y="6206966"/>
            <a:ext cx="589335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 OTP 驗證碼錯誤、表單欄位驗證、網路異常等情境,確保錯誤訊息明確且處理得當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7428548" y="5149572"/>
            <a:ext cx="6408063" cy="2040493"/>
          </a:xfrm>
          <a:prstGeom prst="roundRect">
            <a:avLst>
              <a:gd name="adj" fmla="val 7170"/>
            </a:avLst>
          </a:prstGeom>
          <a:solidFill>
            <a:srgbClr val="FCFB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428548" y="5119092"/>
            <a:ext cx="6408063" cy="121920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23" name="Shape 21"/>
          <p:cNvSpPr/>
          <p:nvPr/>
        </p:nvSpPr>
        <p:spPr>
          <a:xfrm>
            <a:off x="10292298" y="4809411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1B5F39"/>
          </a:solidFill>
          <a:ln/>
        </p:spPr>
      </p:sp>
      <p:sp>
        <p:nvSpPr>
          <p:cNvPr id="24" name="Text 22"/>
          <p:cNvSpPr/>
          <p:nvPr/>
        </p:nvSpPr>
        <p:spPr>
          <a:xfrm>
            <a:off x="10496371" y="4979551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685842" y="57165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使用者體驗驗證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685842" y="6206966"/>
            <a:ext cx="589347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確認 UI 元素正確顯示,操作流程順暢無阻礙,錯誤訊息清楚易懂,提供良好使用體驗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2046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測試範圍定義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096220"/>
            <a:ext cx="3777972" cy="432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✅</a:t>
            </a: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測試範圍內 (In Scope)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93790" y="375594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購物車功能:</a:t>
            </a: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加入、重複加入、移除、持久化、訪客購物車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198144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會員登入:</a:t>
            </a: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手機號碼、Email、第三方登入 (LINE/Google/Facebook)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500324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 API:</a:t>
            </a: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快取查詢、金額計算、優惠券、結帳配置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44544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認證 API:</a:t>
            </a: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Token 驗證、刷新機制、錯誤處理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599521" y="3096220"/>
            <a:ext cx="4410075" cy="432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❌</a:t>
            </a: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測試範圍外 (Out of Scope)</a:t>
            </a:r>
            <a:endParaRPr lang="en-US" sz="2650" dirty="0"/>
          </a:p>
        </p:txBody>
      </p:sp>
      <p:sp>
        <p:nvSpPr>
          <p:cNvPr id="9" name="Text 7"/>
          <p:cNvSpPr/>
          <p:nvPr/>
        </p:nvSpPr>
        <p:spPr>
          <a:xfrm>
            <a:off x="7599521" y="375594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付款流程測試 (需串接真實金流)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7599521" y="419814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物流配送測試 (無法自動化)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9521" y="464034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優惠券複雜計算 (需完整商業邏輯)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599521" y="5082540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效能壓力測試 (需專門工具)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599521" y="552473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安全性測試 (需專業滲透測試)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7599521" y="596693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跨瀏覽器測試 (後續擴充)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05564"/>
            <a:ext cx="5387102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測試類型與層級</a:t>
            </a:r>
            <a:endParaRPr lang="en-US" sz="4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430" y="1809869"/>
            <a:ext cx="1614011" cy="124134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02869" y="2394942"/>
            <a:ext cx="303014" cy="378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350" dirty="0"/>
          </a:p>
        </p:txBody>
      </p:sp>
      <p:sp>
        <p:nvSpPr>
          <p:cNvPr id="5" name="Text 2"/>
          <p:cNvSpPr/>
          <p:nvPr/>
        </p:nvSpPr>
        <p:spPr>
          <a:xfrm>
            <a:off x="5076825" y="2025253"/>
            <a:ext cx="2588300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chemeClr val="bg1">
                    <a:lumMod val="65000"/>
                  </a:schemeClr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UAT 驗收測試</a:t>
            </a:r>
            <a:endParaRPr lang="en-US" sz="21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5076825" y="2491026"/>
            <a:ext cx="2588300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PM/Stakeholder 最終驗收</a:t>
            </a:r>
            <a:endParaRPr lang="en-US" sz="16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4915257" y="3062883"/>
            <a:ext cx="8867537" cy="15240"/>
          </a:xfrm>
          <a:prstGeom prst="roundRect">
            <a:avLst>
              <a:gd name="adj" fmla="val 212093"/>
            </a:avLst>
          </a:prstGeom>
          <a:solidFill>
            <a:srgbClr val="D6D3CC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440424" y="3105031"/>
            <a:ext cx="3228022" cy="124134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02869" y="3536275"/>
            <a:ext cx="303014" cy="378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350" dirty="0"/>
          </a:p>
        </p:txBody>
      </p:sp>
      <p:sp>
        <p:nvSpPr>
          <p:cNvPr id="10" name="Text 6"/>
          <p:cNvSpPr/>
          <p:nvPr/>
        </p:nvSpPr>
        <p:spPr>
          <a:xfrm>
            <a:off x="5883831" y="3320415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E2E 系統測試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5883831" y="3786188"/>
            <a:ext cx="2732603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QA 全流程測試 - 本專案核心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5722263" y="4358045"/>
            <a:ext cx="8060531" cy="15240"/>
          </a:xfrm>
          <a:prstGeom prst="roundRect">
            <a:avLst>
              <a:gd name="adj" fmla="val 212093"/>
            </a:avLst>
          </a:prstGeom>
          <a:solidFill>
            <a:srgbClr val="D6D3CC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633418" y="4400193"/>
            <a:ext cx="4842034" cy="124134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902869" y="4831437"/>
            <a:ext cx="303014" cy="378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2350" dirty="0"/>
          </a:p>
        </p:txBody>
      </p:sp>
      <p:sp>
        <p:nvSpPr>
          <p:cNvPr id="15" name="Text 10"/>
          <p:cNvSpPr/>
          <p:nvPr/>
        </p:nvSpPr>
        <p:spPr>
          <a:xfrm>
            <a:off x="6690836" y="4615577"/>
            <a:ext cx="1957507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API 整合測試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6690836" y="5081349"/>
            <a:ext cx="1957507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前後端 API 互動驗證</a:t>
            </a:r>
            <a:endParaRPr lang="en-US" sz="1650" dirty="0"/>
          </a:p>
        </p:txBody>
      </p:sp>
      <p:sp>
        <p:nvSpPr>
          <p:cNvPr id="17" name="Shape 12"/>
          <p:cNvSpPr/>
          <p:nvPr/>
        </p:nvSpPr>
        <p:spPr>
          <a:xfrm>
            <a:off x="6529268" y="5653207"/>
            <a:ext cx="7253526" cy="15240"/>
          </a:xfrm>
          <a:prstGeom prst="roundRect">
            <a:avLst>
              <a:gd name="adj" fmla="val 212093"/>
            </a:avLst>
          </a:prstGeom>
          <a:solidFill>
            <a:srgbClr val="D6D3CC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294" y="5695355"/>
            <a:ext cx="6456164" cy="124134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902750" y="6126599"/>
            <a:ext cx="303014" cy="378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4</a:t>
            </a:r>
            <a:endParaRPr lang="en-US" sz="2350" dirty="0"/>
          </a:p>
        </p:txBody>
      </p:sp>
      <p:sp>
        <p:nvSpPr>
          <p:cNvPr id="20" name="Text 14"/>
          <p:cNvSpPr/>
          <p:nvPr/>
        </p:nvSpPr>
        <p:spPr>
          <a:xfrm>
            <a:off x="7497842" y="5910739"/>
            <a:ext cx="2075497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chemeClr val="bg1">
                    <a:lumMod val="65000"/>
                  </a:schemeClr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單元測試</a:t>
            </a:r>
            <a:endParaRPr lang="en-US" sz="21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7497842" y="6376511"/>
            <a:ext cx="2075497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RD 負責個別函式驗證</a:t>
            </a:r>
            <a:endParaRPr lang="en-US" sz="16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2" name="Text 16"/>
          <p:cNvSpPr/>
          <p:nvPr/>
        </p:nvSpPr>
        <p:spPr>
          <a:xfrm>
            <a:off x="793790" y="7179112"/>
            <a:ext cx="13042821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Alice" pitchFamily="2" charset="0"/>
                <a:ea typeface="Alice" pitchFamily="2" charset="0"/>
                <a:cs typeface="Lora" pitchFamily="34" charset="-120"/>
              </a:rPr>
              <a:t>採用測試金字塔策略,由下而上逐層驗證,確保各層級品質把關到位</a:t>
            </a:r>
            <a:endParaRPr lang="en-US" dirty="0">
              <a:latin typeface="Alice" pitchFamily="2" charset="0"/>
              <a:ea typeface="Alice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71287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測試方法與執行策略</a:t>
            </a:r>
            <a:endParaRPr lang="en-US" sz="3550" dirty="0"/>
          </a:p>
        </p:txBody>
      </p:sp>
      <p:sp>
        <p:nvSpPr>
          <p:cNvPr id="3" name="Text 1"/>
          <p:cNvSpPr/>
          <p:nvPr/>
        </p:nvSpPr>
        <p:spPr>
          <a:xfrm>
            <a:off x="2881670" y="2880598"/>
            <a:ext cx="2231946" cy="453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35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85%</a:t>
            </a:r>
            <a:endParaRPr lang="en-US" sz="35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6758" y="1746528"/>
            <a:ext cx="2721888" cy="27218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863572" y="4695230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自動化測試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5087541"/>
            <a:ext cx="6407944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Playwright + TypeScript,採用 Page Object Model 架構,透過 CI/CD 自動執行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516547" y="2880598"/>
            <a:ext cx="2231946" cy="453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35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15%</a:t>
            </a:r>
            <a:endParaRPr lang="en-US" sz="35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1635" y="1746528"/>
            <a:ext cx="2721888" cy="27218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498449" y="4695230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手動測試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7428548" y="5087541"/>
            <a:ext cx="6408063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需真實 OTP 或第三方授權的測試案例,使用 page.pause() 半自動化執行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793790" y="5962891"/>
            <a:ext cx="13042821" cy="30242"/>
          </a:xfrm>
          <a:prstGeom prst="rect">
            <a:avLst/>
          </a:prstGeom>
          <a:solidFill>
            <a:srgbClr val="2C2821">
              <a:alpha val="50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793790" y="6265307"/>
            <a:ext cx="2721888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測試資料準備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793790" y="6877645"/>
            <a:ext cx="13042821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測試帳號儲存於 fixtures/test-accounts.json,登入 Session 使用 authStorageState.json 避免重複登入,採用真實網站資料進行測試,每個測試開始前清空購物車確保資料隔離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5584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測試環境配置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3790" y="3118247"/>
            <a:ext cx="566976" cy="5669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4253" y="325290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測試網站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44253" y="3743325"/>
            <a:ext cx="552914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dogcatstar.com </a:t>
            </a:r>
            <a:r>
              <a:rPr lang="en-US" sz="1750" dirty="0" err="1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正式環境</a:t>
            </a: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,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API 端點 fortune-api.moneynet.tw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56884" y="3118247"/>
            <a:ext cx="566976" cy="5669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307348" y="325290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測試瀏覽器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8307348" y="3743325"/>
            <a:ext cx="55292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Chromium (Playwright 預設),支援 Windows/macOS/Linux 多平台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3790" y="4922758"/>
            <a:ext cx="566976" cy="56697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644253" y="505741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技術堆疊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1644253" y="5547836"/>
            <a:ext cx="552914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Node.js 18.x、Playwright 1.x、TypeScript 5.x 最新穩定版本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56884" y="4922758"/>
            <a:ext cx="566976" cy="56697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307348" y="505741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測試資料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8307348" y="5547836"/>
            <a:ext cx="55292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fixtures 目錄管理測試帳號、token、session 等敏感資訊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7357" y="595074"/>
            <a:ext cx="3516630" cy="439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核心測試情境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757357" y="1456611"/>
            <a:ext cx="6487478" cy="6182082"/>
          </a:xfrm>
          <a:prstGeom prst="roundRect">
            <a:avLst>
              <a:gd name="adj" fmla="val 1183"/>
            </a:avLst>
          </a:prstGeom>
          <a:solidFill>
            <a:srgbClr val="FCFBF8"/>
          </a:solidFill>
          <a:ln/>
        </p:spPr>
      </p:sp>
      <p:sp>
        <p:nvSpPr>
          <p:cNvPr id="4" name="Shape 2"/>
          <p:cNvSpPr/>
          <p:nvPr/>
        </p:nvSpPr>
        <p:spPr>
          <a:xfrm>
            <a:off x="757357" y="1441371"/>
            <a:ext cx="6487478" cy="60960"/>
          </a:xfrm>
          <a:prstGeom prst="roundRect">
            <a:avLst>
              <a:gd name="adj" fmla="val 34613"/>
            </a:avLst>
          </a:prstGeom>
          <a:solidFill>
            <a:srgbClr val="1B5F39"/>
          </a:solidFill>
          <a:ln/>
        </p:spPr>
      </p:sp>
      <p:sp>
        <p:nvSpPr>
          <p:cNvPr id="5" name="Shape 3"/>
          <p:cNvSpPr/>
          <p:nvPr/>
        </p:nvSpPr>
        <p:spPr>
          <a:xfrm>
            <a:off x="3790117" y="1245632"/>
            <a:ext cx="421958" cy="421958"/>
          </a:xfrm>
          <a:prstGeom prst="roundRect">
            <a:avLst>
              <a:gd name="adj" fmla="val 216704"/>
            </a:avLst>
          </a:prstGeom>
          <a:solidFill>
            <a:srgbClr val="1B5F39"/>
          </a:solidFill>
          <a:ln/>
        </p:spPr>
      </p:sp>
      <p:sp>
        <p:nvSpPr>
          <p:cNvPr id="6" name="Text 4"/>
          <p:cNvSpPr/>
          <p:nvPr/>
        </p:nvSpPr>
        <p:spPr>
          <a:xfrm>
            <a:off x="3916680" y="1351121"/>
            <a:ext cx="168712" cy="210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1300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F34E9C92-A792-E01A-94E8-C442CDA96C64}"/>
              </a:ext>
            </a:extLst>
          </p:cNvPr>
          <p:cNvGrpSpPr/>
          <p:nvPr/>
        </p:nvGrpSpPr>
        <p:grpSpPr>
          <a:xfrm>
            <a:off x="7541240" y="1995845"/>
            <a:ext cx="6175772" cy="5674638"/>
            <a:chOff x="913209" y="1808202"/>
            <a:chExt cx="6175772" cy="5674638"/>
          </a:xfrm>
        </p:grpSpPr>
        <p:sp>
          <p:nvSpPr>
            <p:cNvPr id="7" name="Text 5"/>
            <p:cNvSpPr/>
            <p:nvPr/>
          </p:nvSpPr>
          <p:spPr>
            <a:xfrm>
              <a:off x="2946083" y="1808202"/>
              <a:ext cx="2109907" cy="26372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050"/>
                </a:lnSpc>
                <a:buNone/>
              </a:pPr>
              <a:r>
                <a:rPr lang="en-US" sz="1650" b="1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購物車功能測試</a:t>
              </a:r>
              <a:endParaRPr lang="en-US" sz="1650" dirty="0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8545" y="2230160"/>
              <a:ext cx="2705100" cy="2705100"/>
            </a:xfrm>
            <a:prstGeom prst="rect">
              <a:avLst/>
            </a:prstGeom>
          </p:spPr>
        </p:pic>
        <p:sp>
          <p:nvSpPr>
            <p:cNvPr id="9" name="Text 6"/>
            <p:cNvSpPr/>
            <p:nvPr/>
          </p:nvSpPr>
          <p:spPr>
            <a:xfrm>
              <a:off x="913209" y="5093494"/>
              <a:ext cx="6175772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訪客瀏覽首頁商品</a:t>
              </a:r>
              <a:endParaRPr lang="en-US" sz="160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913209" y="5402699"/>
              <a:ext cx="6175772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點擊商品進入商品頁</a:t>
              </a:r>
              <a:endParaRPr lang="en-US" sz="1600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913209" y="5711904"/>
              <a:ext cx="6175772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選擇規格並加入購物車</a:t>
              </a:r>
              <a:endParaRPr lang="en-US" sz="160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913209" y="6021110"/>
              <a:ext cx="6175772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重複加入同一商品</a:t>
              </a:r>
              <a:endParaRPr lang="en-US" sz="16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913209" y="6330315"/>
              <a:ext cx="6175772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加入不同商品</a:t>
              </a:r>
              <a:endParaRPr lang="en-US" sz="1600" dirty="0"/>
            </a:p>
          </p:txBody>
        </p:sp>
        <p:sp>
          <p:nvSpPr>
            <p:cNvPr id="14" name="Text 11"/>
            <p:cNvSpPr/>
            <p:nvPr/>
          </p:nvSpPr>
          <p:spPr>
            <a:xfrm>
              <a:off x="913209" y="6639520"/>
              <a:ext cx="6175772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查看購物車驗證資料</a:t>
              </a:r>
              <a:endParaRPr lang="en-US" sz="1600" dirty="0"/>
            </a:p>
          </p:txBody>
        </p:sp>
        <p:sp>
          <p:nvSpPr>
            <p:cNvPr id="15" name="Text 12"/>
            <p:cNvSpPr/>
            <p:nvPr/>
          </p:nvSpPr>
          <p:spPr>
            <a:xfrm>
              <a:off x="913209" y="6948726"/>
              <a:ext cx="6175772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登入會員保留資料</a:t>
              </a:r>
              <a:endParaRPr lang="en-US" sz="16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913209" y="7257931"/>
              <a:ext cx="6175772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進入結帳流程</a:t>
              </a:r>
              <a:endParaRPr lang="en-US" sz="1600" dirty="0"/>
            </a:p>
          </p:txBody>
        </p:sp>
      </p:grpSp>
      <p:sp>
        <p:nvSpPr>
          <p:cNvPr id="18" name="Shape 15"/>
          <p:cNvSpPr/>
          <p:nvPr/>
        </p:nvSpPr>
        <p:spPr>
          <a:xfrm>
            <a:off x="7385447" y="1441371"/>
            <a:ext cx="6487597" cy="60960"/>
          </a:xfrm>
          <a:prstGeom prst="roundRect">
            <a:avLst>
              <a:gd name="adj" fmla="val 34613"/>
            </a:avLst>
          </a:prstGeom>
          <a:solidFill>
            <a:srgbClr val="1B5F39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18207" y="1245632"/>
            <a:ext cx="421958" cy="421958"/>
          </a:xfrm>
          <a:prstGeom prst="roundRect">
            <a:avLst>
              <a:gd name="adj" fmla="val 216704"/>
            </a:avLst>
          </a:prstGeom>
          <a:solidFill>
            <a:srgbClr val="1B5F39"/>
          </a:solidFill>
          <a:ln/>
        </p:spPr>
      </p:sp>
      <p:sp>
        <p:nvSpPr>
          <p:cNvPr id="20" name="Text 17"/>
          <p:cNvSpPr/>
          <p:nvPr/>
        </p:nvSpPr>
        <p:spPr>
          <a:xfrm>
            <a:off x="10544770" y="1351121"/>
            <a:ext cx="168712" cy="210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1300" dirty="0"/>
          </a:p>
        </p:txBody>
      </p: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EC8121AE-3EE3-D0F1-B9FA-E17C7492BC41}"/>
              </a:ext>
            </a:extLst>
          </p:cNvPr>
          <p:cNvGrpSpPr/>
          <p:nvPr/>
        </p:nvGrpSpPr>
        <p:grpSpPr>
          <a:xfrm>
            <a:off x="913388" y="1965722"/>
            <a:ext cx="6175891" cy="5479852"/>
            <a:chOff x="7541300" y="1808202"/>
            <a:chExt cx="6175891" cy="5479852"/>
          </a:xfrm>
        </p:grpSpPr>
        <p:grpSp>
          <p:nvGrpSpPr>
            <p:cNvPr id="30" name="群組 29">
              <a:extLst>
                <a:ext uri="{FF2B5EF4-FFF2-40B4-BE49-F238E27FC236}">
                  <a16:creationId xmlns:a16="http://schemas.microsoft.com/office/drawing/2014/main" id="{9319ADA7-0B89-62EA-B194-3DC832D47E15}"/>
                </a:ext>
              </a:extLst>
            </p:cNvPr>
            <p:cNvGrpSpPr/>
            <p:nvPr/>
          </p:nvGrpSpPr>
          <p:grpSpPr>
            <a:xfrm>
              <a:off x="9219486" y="1808202"/>
              <a:ext cx="2819519" cy="3241477"/>
              <a:chOff x="9219486" y="1808202"/>
              <a:chExt cx="2819519" cy="3241477"/>
            </a:xfrm>
          </p:grpSpPr>
          <p:sp>
            <p:nvSpPr>
              <p:cNvPr id="21" name="Text 18"/>
              <p:cNvSpPr/>
              <p:nvPr/>
            </p:nvSpPr>
            <p:spPr>
              <a:xfrm>
                <a:off x="9574292" y="1808202"/>
                <a:ext cx="2109907" cy="263723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ctr">
                  <a:lnSpc>
                    <a:spcPts val="2050"/>
                  </a:lnSpc>
                  <a:buNone/>
                </a:pPr>
                <a:r>
                  <a:rPr lang="en-US" sz="1650" b="1" dirty="0">
                    <a:solidFill>
                      <a:srgbClr val="2C2821"/>
                    </a:solidFill>
                    <a:latin typeface="Alice" pitchFamily="34" charset="0"/>
                    <a:ea typeface="Alice" pitchFamily="34" charset="-122"/>
                    <a:cs typeface="Alice" pitchFamily="34" charset="-120"/>
                  </a:rPr>
                  <a:t>會員登入測試</a:t>
                </a:r>
                <a:endParaRPr lang="en-US" sz="1650" b="1" dirty="0"/>
              </a:p>
            </p:txBody>
          </p:sp>
          <p:pic>
            <p:nvPicPr>
              <p:cNvPr id="22" name="Image 1" descr="preencoded.png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19486" y="2230160"/>
                <a:ext cx="2819519" cy="2819519"/>
              </a:xfrm>
              <a:prstGeom prst="rect">
                <a:avLst/>
              </a:prstGeom>
            </p:spPr>
          </p:pic>
        </p:grpSp>
        <p:sp>
          <p:nvSpPr>
            <p:cNvPr id="23" name="Text 19"/>
            <p:cNvSpPr/>
            <p:nvPr/>
          </p:nvSpPr>
          <p:spPr>
            <a:xfrm>
              <a:off x="7541300" y="5207913"/>
              <a:ext cx="6175891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點擊登入註冊按鈕</a:t>
              </a:r>
              <a:endParaRPr lang="en-US" sz="1600" dirty="0"/>
            </a:p>
          </p:txBody>
        </p:sp>
        <p:sp>
          <p:nvSpPr>
            <p:cNvPr id="24" name="Text 20"/>
            <p:cNvSpPr/>
            <p:nvPr/>
          </p:nvSpPr>
          <p:spPr>
            <a:xfrm>
              <a:off x="7541300" y="5517118"/>
              <a:ext cx="6175891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選擇登入方式</a:t>
              </a:r>
              <a:endParaRPr lang="en-US" sz="1600" dirty="0"/>
            </a:p>
          </p:txBody>
        </p:sp>
        <p:sp>
          <p:nvSpPr>
            <p:cNvPr id="25" name="Text 21"/>
            <p:cNvSpPr/>
            <p:nvPr/>
          </p:nvSpPr>
          <p:spPr>
            <a:xfrm>
              <a:off x="7541300" y="5826323"/>
              <a:ext cx="6175891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輸入帳號資訊</a:t>
              </a:r>
              <a:endParaRPr lang="en-US" sz="1600" dirty="0"/>
            </a:p>
          </p:txBody>
        </p:sp>
        <p:sp>
          <p:nvSpPr>
            <p:cNvPr id="26" name="Text 22"/>
            <p:cNvSpPr/>
            <p:nvPr/>
          </p:nvSpPr>
          <p:spPr>
            <a:xfrm>
              <a:off x="7541300" y="6135529"/>
              <a:ext cx="6175891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驗證 OTP 或驗證碼</a:t>
              </a:r>
              <a:endParaRPr lang="en-US" sz="1600" dirty="0"/>
            </a:p>
          </p:txBody>
        </p:sp>
        <p:sp>
          <p:nvSpPr>
            <p:cNvPr id="27" name="Text 23"/>
            <p:cNvSpPr/>
            <p:nvPr/>
          </p:nvSpPr>
          <p:spPr>
            <a:xfrm>
              <a:off x="7541300" y="6444734"/>
              <a:ext cx="6175891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登入成功導向首頁</a:t>
              </a:r>
              <a:endParaRPr lang="en-US" sz="1600" dirty="0"/>
            </a:p>
          </p:txBody>
        </p:sp>
        <p:sp>
          <p:nvSpPr>
            <p:cNvPr id="28" name="Text 24"/>
            <p:cNvSpPr/>
            <p:nvPr/>
          </p:nvSpPr>
          <p:spPr>
            <a:xfrm>
              <a:off x="7541300" y="6753939"/>
              <a:ext cx="6175891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驗證會員資訊顯示</a:t>
              </a:r>
              <a:endParaRPr lang="en-US" sz="1600" dirty="0"/>
            </a:p>
          </p:txBody>
        </p:sp>
        <p:sp>
          <p:nvSpPr>
            <p:cNvPr id="29" name="Text 25"/>
            <p:cNvSpPr/>
            <p:nvPr/>
          </p:nvSpPr>
          <p:spPr>
            <a:xfrm>
              <a:off x="7541300" y="7063145"/>
              <a:ext cx="6175891" cy="2249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1750"/>
                </a:lnSpc>
                <a:buNone/>
              </a:pPr>
              <a:r>
                <a:rPr lang="en-US" sz="160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確認登入狀態保留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95335"/>
            <a:ext cx="5387102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測試案例總覽</a:t>
            </a:r>
            <a:endParaRPr lang="en-US" sz="4200" dirty="0"/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6066E075-3A9E-4380-4295-60FF7056A1EE}"/>
              </a:ext>
            </a:extLst>
          </p:cNvPr>
          <p:cNvGrpSpPr/>
          <p:nvPr/>
        </p:nvGrpSpPr>
        <p:grpSpPr>
          <a:xfrm>
            <a:off x="793790" y="2315885"/>
            <a:ext cx="3058716" cy="2135624"/>
            <a:chOff x="793790" y="2315885"/>
            <a:chExt cx="3058716" cy="2135624"/>
          </a:xfrm>
        </p:grpSpPr>
        <p:sp>
          <p:nvSpPr>
            <p:cNvPr id="3" name="Text 1"/>
            <p:cNvSpPr/>
            <p:nvPr/>
          </p:nvSpPr>
          <p:spPr>
            <a:xfrm>
              <a:off x="793790" y="2315885"/>
              <a:ext cx="3058716" cy="7110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5550"/>
                </a:lnSpc>
                <a:buNone/>
              </a:pPr>
              <a:r>
                <a:rPr lang="en-US" sz="5550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5</a:t>
              </a:r>
              <a:endParaRPr lang="en-US" sz="555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976312" y="3296126"/>
              <a:ext cx="2693551" cy="33659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650"/>
                </a:lnSpc>
                <a:buNone/>
              </a:pPr>
              <a:r>
                <a:rPr lang="en-US" sz="2100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購物車 E2E 測試</a:t>
              </a:r>
              <a:endParaRPr lang="en-US" sz="21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93790" y="3761899"/>
              <a:ext cx="3058716" cy="6896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2700"/>
                </a:lnSpc>
                <a:buNone/>
              </a:pPr>
              <a:r>
                <a:rPr lang="en-US" sz="165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涵蓋加入、重複加入、多商品、登入保留、訪客購物車</a:t>
              </a:r>
              <a:endParaRPr lang="en-US" sz="1650" dirty="0"/>
            </a:p>
          </p:txBody>
        </p:sp>
      </p:grp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6EF06189-0EE2-BAB8-4FD8-787B487EE83F}"/>
              </a:ext>
            </a:extLst>
          </p:cNvPr>
          <p:cNvGrpSpPr/>
          <p:nvPr/>
        </p:nvGrpSpPr>
        <p:grpSpPr>
          <a:xfrm>
            <a:off x="4121825" y="2315885"/>
            <a:ext cx="3058716" cy="2135624"/>
            <a:chOff x="4121825" y="2315885"/>
            <a:chExt cx="3058716" cy="2135624"/>
          </a:xfrm>
        </p:grpSpPr>
        <p:sp>
          <p:nvSpPr>
            <p:cNvPr id="6" name="Text 4"/>
            <p:cNvSpPr/>
            <p:nvPr/>
          </p:nvSpPr>
          <p:spPr>
            <a:xfrm>
              <a:off x="4121825" y="2315885"/>
              <a:ext cx="3058716" cy="7110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5550"/>
                </a:lnSpc>
                <a:buNone/>
              </a:pPr>
              <a:r>
                <a:rPr lang="en-US" sz="5550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4</a:t>
              </a:r>
              <a:endParaRPr lang="en-US" sz="55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304348" y="3296126"/>
              <a:ext cx="2693551" cy="33659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650"/>
                </a:lnSpc>
                <a:buNone/>
              </a:pPr>
              <a:r>
                <a:rPr lang="en-US" sz="2100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登入自動化測試</a:t>
              </a:r>
              <a:endParaRPr lang="en-US" sz="21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121825" y="3761899"/>
              <a:ext cx="3058716" cy="6896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2700"/>
                </a:lnSpc>
                <a:buNone/>
              </a:pPr>
              <a:r>
                <a:rPr lang="en-US" sz="165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OTP 錯誤、欄位驗證、Email 驗證、登入持久化</a:t>
              </a:r>
              <a:endParaRPr lang="en-US" sz="1650" dirty="0"/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5029DE57-3114-EFA4-0119-748FF29BA149}"/>
              </a:ext>
            </a:extLst>
          </p:cNvPr>
          <p:cNvGrpSpPr/>
          <p:nvPr/>
        </p:nvGrpSpPr>
        <p:grpSpPr>
          <a:xfrm>
            <a:off x="7449860" y="2315885"/>
            <a:ext cx="3058716" cy="2135624"/>
            <a:chOff x="7449860" y="2315885"/>
            <a:chExt cx="3058716" cy="2135624"/>
          </a:xfrm>
        </p:grpSpPr>
        <p:sp>
          <p:nvSpPr>
            <p:cNvPr id="9" name="Text 7"/>
            <p:cNvSpPr/>
            <p:nvPr/>
          </p:nvSpPr>
          <p:spPr>
            <a:xfrm>
              <a:off x="7449860" y="2315885"/>
              <a:ext cx="3058716" cy="7110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5550"/>
                </a:lnSpc>
                <a:buNone/>
              </a:pPr>
              <a:r>
                <a:rPr lang="en-US" sz="5550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5</a:t>
              </a:r>
              <a:endParaRPr lang="en-US" sz="55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32383" y="3296126"/>
              <a:ext cx="2693551" cy="33659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650"/>
                </a:lnSpc>
                <a:buNone/>
              </a:pPr>
              <a:r>
                <a:rPr lang="en-US" sz="2100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登入手動測試</a:t>
              </a:r>
              <a:endParaRPr lang="en-US" sz="21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49860" y="3761899"/>
              <a:ext cx="3058716" cy="6896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2700"/>
                </a:lnSpc>
                <a:buNone/>
              </a:pPr>
              <a:r>
                <a:rPr lang="en-US" sz="165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手機號碼、LINE、Facebook、Google、Email 真實登入</a:t>
              </a:r>
              <a:endParaRPr lang="en-US" sz="1650" dirty="0"/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3A43ABC5-02FC-31A3-C010-E9AA8E06377B}"/>
              </a:ext>
            </a:extLst>
          </p:cNvPr>
          <p:cNvGrpSpPr/>
          <p:nvPr/>
        </p:nvGrpSpPr>
        <p:grpSpPr>
          <a:xfrm>
            <a:off x="10777895" y="2315885"/>
            <a:ext cx="3058716" cy="2135624"/>
            <a:chOff x="10777895" y="2315885"/>
            <a:chExt cx="3058716" cy="2135624"/>
          </a:xfrm>
        </p:grpSpPr>
        <p:sp>
          <p:nvSpPr>
            <p:cNvPr id="12" name="Text 10"/>
            <p:cNvSpPr/>
            <p:nvPr/>
          </p:nvSpPr>
          <p:spPr>
            <a:xfrm>
              <a:off x="10777895" y="2315885"/>
              <a:ext cx="3058716" cy="7110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5550"/>
                </a:lnSpc>
                <a:buNone/>
              </a:pPr>
              <a:r>
                <a:rPr lang="en-US" sz="5550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8</a:t>
              </a:r>
              <a:endParaRPr lang="en-US" sz="55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0960418" y="3296126"/>
              <a:ext cx="2693551" cy="33659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650"/>
                </a:lnSpc>
                <a:buNone/>
              </a:pPr>
              <a:r>
                <a:rPr lang="en-US" sz="2100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購物車 API 測試</a:t>
              </a:r>
              <a:endParaRPr lang="en-US" sz="21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0777895" y="3761899"/>
              <a:ext cx="3058716" cy="6896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2700"/>
                </a:lnSpc>
                <a:buNone/>
              </a:pPr>
              <a:r>
                <a:rPr lang="en-US" sz="165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快取查詢、金額計算、優惠券、訪客優惠、結帳配置</a:t>
              </a:r>
              <a:endParaRPr lang="en-US" sz="1650" dirty="0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03FD9305-A49A-7499-D3AA-17525EEF6E56}"/>
              </a:ext>
            </a:extLst>
          </p:cNvPr>
          <p:cNvGrpSpPr/>
          <p:nvPr/>
        </p:nvGrpSpPr>
        <p:grpSpPr>
          <a:xfrm>
            <a:off x="5785842" y="4990028"/>
            <a:ext cx="3058716" cy="2135625"/>
            <a:chOff x="5785842" y="4990028"/>
            <a:chExt cx="3058716" cy="2135625"/>
          </a:xfrm>
        </p:grpSpPr>
        <p:sp>
          <p:nvSpPr>
            <p:cNvPr id="15" name="Text 13"/>
            <p:cNvSpPr/>
            <p:nvPr/>
          </p:nvSpPr>
          <p:spPr>
            <a:xfrm>
              <a:off x="5785842" y="4990028"/>
              <a:ext cx="3058716" cy="7110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5550"/>
                </a:lnSpc>
                <a:buNone/>
              </a:pPr>
              <a:r>
                <a:rPr lang="en-US" sz="5550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4</a:t>
              </a:r>
              <a:endParaRPr lang="en-US" sz="55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968365" y="5970270"/>
              <a:ext cx="2693551" cy="33659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650"/>
                </a:lnSpc>
                <a:buNone/>
              </a:pPr>
              <a:r>
                <a:rPr lang="en-US" sz="2100" dirty="0">
                  <a:solidFill>
                    <a:srgbClr val="2C2821"/>
                  </a:solidFill>
                  <a:latin typeface="Alice" pitchFamily="34" charset="0"/>
                  <a:ea typeface="Alice" pitchFamily="34" charset="-122"/>
                  <a:cs typeface="Alice" pitchFamily="34" charset="-120"/>
                </a:rPr>
                <a:t>認證 API 測試</a:t>
              </a:r>
              <a:endParaRPr lang="en-US" sz="21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785842" y="6436043"/>
              <a:ext cx="3058716" cy="6896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2700"/>
                </a:lnSpc>
                <a:buNone/>
              </a:pPr>
              <a:r>
                <a:rPr lang="en-US" sz="1650" dirty="0">
                  <a:solidFill>
                    <a:srgbClr val="2C2821"/>
                  </a:solidFill>
                  <a:latin typeface="Lora" pitchFamily="34" charset="0"/>
                  <a:ea typeface="Lora" pitchFamily="34" charset="-122"/>
                  <a:cs typeface="Lora" pitchFamily="34" charset="-120"/>
                </a:rPr>
                <a:t>Token 驗證、刷新機制、無 Token 錯誤、無效 Token 錯誤</a:t>
              </a:r>
              <a:endParaRPr lang="en-US" sz="1650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3208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測試優先級與風險評估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94491"/>
            <a:ext cx="4196358" cy="4202906"/>
          </a:xfrm>
          <a:prstGeom prst="roundRect">
            <a:avLst>
              <a:gd name="adj" fmla="val 3486"/>
            </a:avLst>
          </a:prstGeom>
          <a:solidFill>
            <a:srgbClr val="FCFBF8"/>
          </a:solidFill>
          <a:ln w="30480">
            <a:solidFill>
              <a:srgbClr val="1B5F3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310" y="2594491"/>
            <a:ext cx="121920" cy="4202906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5" name="Text 3"/>
          <p:cNvSpPr/>
          <p:nvPr/>
        </p:nvSpPr>
        <p:spPr>
          <a:xfrm>
            <a:off x="1142524" y="2851785"/>
            <a:ext cx="286631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P0 - Critical (高優先級)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2524" y="3342203"/>
            <a:ext cx="35903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處理時效:</a:t>
            </a: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立即修復 (24 小時內)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1142524" y="3841194"/>
            <a:ext cx="35903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核心功能無法使用,嚴重影響業務運作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142524" y="4646295"/>
            <a:ext cx="35903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範例: 無法加入購物車、無法登入系統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142524" y="5451396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涵蓋測試: </a:t>
            </a:r>
            <a:b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</a:b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TC-CART-0001, 0002, 0005  TC-LOGIN-0001, 0004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5216962" y="2594491"/>
            <a:ext cx="4196358" cy="4202906"/>
          </a:xfrm>
          <a:prstGeom prst="roundRect">
            <a:avLst>
              <a:gd name="adj" fmla="val 3486"/>
            </a:avLst>
          </a:prstGeom>
          <a:solidFill>
            <a:srgbClr val="FCFBF8"/>
          </a:solidFill>
          <a:ln w="30480">
            <a:solidFill>
              <a:srgbClr val="D6D3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86482" y="2594491"/>
            <a:ext cx="121920" cy="4202906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12" name="Text 10"/>
          <p:cNvSpPr/>
          <p:nvPr/>
        </p:nvSpPr>
        <p:spPr>
          <a:xfrm>
            <a:off x="5565696" y="285178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P1 - High (中優先級)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565696" y="3342203"/>
            <a:ext cx="35903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處理時效:</a:t>
            </a: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1-3 天內修復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5565696" y="3841194"/>
            <a:ext cx="35903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重要功能異常,影響使用者體驗但有替代方案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5565696" y="4646295"/>
            <a:ext cx="35903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範例: 購物車數量錯誤、OTP 錯誤訊息不正確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5565696" y="5451396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涵蓋測試: </a:t>
            </a:r>
            <a:b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</a:b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TC-CART-0003, 0004 </a:t>
            </a:r>
            <a:b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</a:b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TC-LOGIN-0002, 0003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9640133" y="2594491"/>
            <a:ext cx="4196358" cy="4202906"/>
          </a:xfrm>
          <a:prstGeom prst="roundRect">
            <a:avLst>
              <a:gd name="adj" fmla="val 3486"/>
            </a:avLst>
          </a:prstGeom>
          <a:solidFill>
            <a:srgbClr val="FCFBF8"/>
          </a:solidFill>
          <a:ln w="30480">
            <a:solidFill>
              <a:srgbClr val="D6D3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9653" y="2594491"/>
            <a:ext cx="121920" cy="4202906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</p:sp>
      <p:sp>
        <p:nvSpPr>
          <p:cNvPr id="19" name="Text 17"/>
          <p:cNvSpPr/>
          <p:nvPr/>
        </p:nvSpPr>
        <p:spPr>
          <a:xfrm>
            <a:off x="9988868" y="285178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P2/P3 - Medium/Low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988868" y="3342203"/>
            <a:ext cx="35903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處理時效:</a:t>
            </a: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1 週或下個版本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9988868" y="3841194"/>
            <a:ext cx="35903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功能異常但不影響核心流程,或僅 UI 顯示問題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9988868" y="4646295"/>
            <a:ext cx="35903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範例: 某規格選項無法點擊、按鈕顏色錯誤</a:t>
            </a:r>
            <a:endParaRPr lang="en-US" sz="1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305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623768"/>
            <a:ext cx="3969425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缺陷管理流程</a:t>
            </a:r>
            <a:endParaRPr lang="en-US" sz="3100" dirty="0"/>
          </a:p>
        </p:txBody>
      </p:sp>
      <p:sp>
        <p:nvSpPr>
          <p:cNvPr id="4" name="Shape 1"/>
          <p:cNvSpPr/>
          <p:nvPr/>
        </p:nvSpPr>
        <p:spPr>
          <a:xfrm>
            <a:off x="4560570" y="1358027"/>
            <a:ext cx="22860" cy="5562005"/>
          </a:xfrm>
          <a:prstGeom prst="roundRect">
            <a:avLst>
              <a:gd name="adj" fmla="val 104186"/>
            </a:avLst>
          </a:prstGeom>
          <a:solidFill>
            <a:srgbClr val="D6D3CC"/>
          </a:solidFill>
          <a:ln/>
        </p:spPr>
      </p:sp>
      <p:sp>
        <p:nvSpPr>
          <p:cNvPr id="5" name="Shape 2"/>
          <p:cNvSpPr/>
          <p:nvPr/>
        </p:nvSpPr>
        <p:spPr>
          <a:xfrm>
            <a:off x="4277320" y="1525191"/>
            <a:ext cx="317540" cy="22860"/>
          </a:xfrm>
          <a:prstGeom prst="roundRect">
            <a:avLst>
              <a:gd name="adj" fmla="val 104186"/>
            </a:avLst>
          </a:prstGeom>
          <a:solidFill>
            <a:srgbClr val="D6D3CC"/>
          </a:solidFill>
          <a:ln/>
        </p:spPr>
      </p:sp>
      <p:sp>
        <p:nvSpPr>
          <p:cNvPr id="6" name="Shape 3"/>
          <p:cNvSpPr/>
          <p:nvPr/>
        </p:nvSpPr>
        <p:spPr>
          <a:xfrm>
            <a:off x="4512469" y="1477089"/>
            <a:ext cx="119063" cy="119063"/>
          </a:xfrm>
          <a:prstGeom prst="roundRect">
            <a:avLst>
              <a:gd name="adj" fmla="val 383998"/>
            </a:avLst>
          </a:prstGeom>
          <a:solidFill>
            <a:srgbClr val="1B5F39"/>
          </a:solidFill>
          <a:ln/>
        </p:spPr>
      </p:sp>
      <p:sp>
        <p:nvSpPr>
          <p:cNvPr id="7" name="Text 4"/>
          <p:cNvSpPr/>
          <p:nvPr/>
        </p:nvSpPr>
        <p:spPr>
          <a:xfrm>
            <a:off x="1952268" y="1412557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950"/>
              </a:lnSpc>
              <a:buNone/>
            </a:pPr>
            <a:r>
              <a:rPr lang="en-US" sz="2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發現缺陷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93790" y="1755815"/>
            <a:ext cx="3143131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0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測試執行時發現問題並記錄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4549140" y="2477810"/>
            <a:ext cx="317540" cy="22860"/>
          </a:xfrm>
          <a:prstGeom prst="roundRect">
            <a:avLst>
              <a:gd name="adj" fmla="val 104186"/>
            </a:avLst>
          </a:prstGeom>
          <a:solidFill>
            <a:srgbClr val="D6D3CC"/>
          </a:solidFill>
          <a:ln/>
        </p:spPr>
      </p:sp>
      <p:sp>
        <p:nvSpPr>
          <p:cNvPr id="10" name="Shape 7"/>
          <p:cNvSpPr/>
          <p:nvPr/>
        </p:nvSpPr>
        <p:spPr>
          <a:xfrm>
            <a:off x="4512469" y="2429708"/>
            <a:ext cx="119063" cy="119063"/>
          </a:xfrm>
          <a:prstGeom prst="roundRect">
            <a:avLst>
              <a:gd name="adj" fmla="val 383998"/>
            </a:avLst>
          </a:prstGeom>
          <a:solidFill>
            <a:srgbClr val="1B5F39"/>
          </a:solidFill>
          <a:ln/>
        </p:spPr>
      </p:sp>
      <p:sp>
        <p:nvSpPr>
          <p:cNvPr id="11" name="Text 8"/>
          <p:cNvSpPr/>
          <p:nvPr/>
        </p:nvSpPr>
        <p:spPr>
          <a:xfrm>
            <a:off x="5207079" y="2365177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收集資訊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207079" y="2708434"/>
            <a:ext cx="3143131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Playwright 自動截圖與 console log</a:t>
            </a: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4277320" y="3298865"/>
            <a:ext cx="317540" cy="22860"/>
          </a:xfrm>
          <a:prstGeom prst="roundRect">
            <a:avLst>
              <a:gd name="adj" fmla="val 104186"/>
            </a:avLst>
          </a:prstGeom>
          <a:solidFill>
            <a:srgbClr val="D6D3CC"/>
          </a:solidFill>
          <a:ln/>
        </p:spPr>
      </p:sp>
      <p:sp>
        <p:nvSpPr>
          <p:cNvPr id="14" name="Shape 11"/>
          <p:cNvSpPr/>
          <p:nvPr/>
        </p:nvSpPr>
        <p:spPr>
          <a:xfrm>
            <a:off x="4512469" y="3250763"/>
            <a:ext cx="119063" cy="119063"/>
          </a:xfrm>
          <a:prstGeom prst="roundRect">
            <a:avLst>
              <a:gd name="adj" fmla="val 383998"/>
            </a:avLst>
          </a:prstGeom>
          <a:solidFill>
            <a:srgbClr val="1B5F39"/>
          </a:solidFill>
          <a:ln/>
        </p:spPr>
      </p:sp>
      <p:sp>
        <p:nvSpPr>
          <p:cNvPr id="15" name="Text 12"/>
          <p:cNvSpPr/>
          <p:nvPr/>
        </p:nvSpPr>
        <p:spPr>
          <a:xfrm>
            <a:off x="1952268" y="3186232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950"/>
              </a:lnSpc>
              <a:buNone/>
            </a:pPr>
            <a:r>
              <a:rPr lang="en-US" sz="2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建立 Issue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93790" y="3529489"/>
            <a:ext cx="3143131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0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在 GitHub Issues 建立缺陷報告</a:t>
            </a:r>
            <a:endParaRPr lang="en-US" dirty="0"/>
          </a:p>
        </p:txBody>
      </p:sp>
      <p:sp>
        <p:nvSpPr>
          <p:cNvPr id="17" name="Shape 14"/>
          <p:cNvSpPr/>
          <p:nvPr/>
        </p:nvSpPr>
        <p:spPr>
          <a:xfrm>
            <a:off x="4549140" y="4120039"/>
            <a:ext cx="317540" cy="22860"/>
          </a:xfrm>
          <a:prstGeom prst="roundRect">
            <a:avLst>
              <a:gd name="adj" fmla="val 104186"/>
            </a:avLst>
          </a:prstGeom>
          <a:solidFill>
            <a:srgbClr val="D6D3CC"/>
          </a:solidFill>
          <a:ln/>
        </p:spPr>
      </p:sp>
      <p:sp>
        <p:nvSpPr>
          <p:cNvPr id="18" name="Shape 15"/>
          <p:cNvSpPr/>
          <p:nvPr/>
        </p:nvSpPr>
        <p:spPr>
          <a:xfrm>
            <a:off x="4512469" y="4071937"/>
            <a:ext cx="119063" cy="119063"/>
          </a:xfrm>
          <a:prstGeom prst="roundRect">
            <a:avLst>
              <a:gd name="adj" fmla="val 383998"/>
            </a:avLst>
          </a:prstGeom>
          <a:solidFill>
            <a:srgbClr val="1B5F39"/>
          </a:solidFill>
          <a:ln/>
        </p:spPr>
      </p:sp>
      <p:sp>
        <p:nvSpPr>
          <p:cNvPr id="19" name="Text 16"/>
          <p:cNvSpPr/>
          <p:nvPr/>
        </p:nvSpPr>
        <p:spPr>
          <a:xfrm>
            <a:off x="5207079" y="4007406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RD 修復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207079" y="4350663"/>
            <a:ext cx="3143131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RD 確認問題並提交修復 PR</a:t>
            </a:r>
            <a:endParaRPr lang="en-US" dirty="0"/>
          </a:p>
        </p:txBody>
      </p:sp>
      <p:sp>
        <p:nvSpPr>
          <p:cNvPr id="21" name="Shape 18"/>
          <p:cNvSpPr/>
          <p:nvPr/>
        </p:nvSpPr>
        <p:spPr>
          <a:xfrm>
            <a:off x="4277320" y="4941213"/>
            <a:ext cx="317540" cy="22860"/>
          </a:xfrm>
          <a:prstGeom prst="roundRect">
            <a:avLst>
              <a:gd name="adj" fmla="val 104186"/>
            </a:avLst>
          </a:prstGeom>
          <a:solidFill>
            <a:srgbClr val="D6D3CC"/>
          </a:solidFill>
          <a:ln/>
        </p:spPr>
      </p:sp>
      <p:sp>
        <p:nvSpPr>
          <p:cNvPr id="22" name="Shape 19"/>
          <p:cNvSpPr/>
          <p:nvPr/>
        </p:nvSpPr>
        <p:spPr>
          <a:xfrm>
            <a:off x="4512469" y="4893112"/>
            <a:ext cx="119063" cy="119063"/>
          </a:xfrm>
          <a:prstGeom prst="roundRect">
            <a:avLst>
              <a:gd name="adj" fmla="val 383998"/>
            </a:avLst>
          </a:prstGeom>
          <a:solidFill>
            <a:srgbClr val="1B5F39"/>
          </a:solidFill>
          <a:ln/>
        </p:spPr>
      </p:sp>
      <p:sp>
        <p:nvSpPr>
          <p:cNvPr id="23" name="Text 20"/>
          <p:cNvSpPr/>
          <p:nvPr/>
        </p:nvSpPr>
        <p:spPr>
          <a:xfrm>
            <a:off x="1952268" y="4828580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950"/>
              </a:lnSpc>
              <a:buNone/>
            </a:pPr>
            <a:r>
              <a:rPr lang="en-US" sz="2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QA 驗證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93790" y="5171837"/>
            <a:ext cx="3143131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0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重新執行測試確認修復</a:t>
            </a:r>
            <a:endParaRPr lang="en-US" dirty="0"/>
          </a:p>
        </p:txBody>
      </p:sp>
      <p:sp>
        <p:nvSpPr>
          <p:cNvPr id="25" name="Shape 22"/>
          <p:cNvSpPr/>
          <p:nvPr/>
        </p:nvSpPr>
        <p:spPr>
          <a:xfrm>
            <a:off x="4549140" y="5762387"/>
            <a:ext cx="317540" cy="22860"/>
          </a:xfrm>
          <a:prstGeom prst="roundRect">
            <a:avLst>
              <a:gd name="adj" fmla="val 104186"/>
            </a:avLst>
          </a:prstGeom>
          <a:solidFill>
            <a:srgbClr val="D6D3CC"/>
          </a:solidFill>
          <a:ln/>
        </p:spPr>
      </p:sp>
      <p:sp>
        <p:nvSpPr>
          <p:cNvPr id="26" name="Shape 23"/>
          <p:cNvSpPr/>
          <p:nvPr/>
        </p:nvSpPr>
        <p:spPr>
          <a:xfrm>
            <a:off x="4512469" y="5714286"/>
            <a:ext cx="119063" cy="119063"/>
          </a:xfrm>
          <a:prstGeom prst="roundRect">
            <a:avLst>
              <a:gd name="adj" fmla="val 383998"/>
            </a:avLst>
          </a:prstGeom>
          <a:solidFill>
            <a:srgbClr val="1B5F39"/>
          </a:solidFill>
          <a:ln/>
        </p:spPr>
      </p:sp>
      <p:sp>
        <p:nvSpPr>
          <p:cNvPr id="27" name="Text 24"/>
          <p:cNvSpPr/>
          <p:nvPr/>
        </p:nvSpPr>
        <p:spPr>
          <a:xfrm>
            <a:off x="5207079" y="5649754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關閉 Issue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5207079" y="5993011"/>
            <a:ext cx="3143131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驗證通過後關閉缺陷報告</a:t>
            </a: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793790" y="7098625"/>
            <a:ext cx="7556421" cy="508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GitHub Issues 作為缺陷追蹤平台,搭配標籤分類 (bug、enhancement、test-failure、priority-high/low) 進行管理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8392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驗收標準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159675"/>
            <a:ext cx="4252555" cy="432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✅</a:t>
            </a: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Entry Criteria (開始條件)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93790" y="2819400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功能開發完成,RD 確認可測試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326159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測試環境就緒,網站與 API 正常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370379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測試資料準備完成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14599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測試腳本開發完成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3790" y="458819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CI/CD 設定完成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599521" y="2159675"/>
            <a:ext cx="4002167" cy="432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✅</a:t>
            </a: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Exit Criteria (完成條件)</a:t>
            </a:r>
            <a:endParaRPr lang="en-US" sz="2650" dirty="0"/>
          </a:p>
        </p:txBody>
      </p:sp>
      <p:sp>
        <p:nvSpPr>
          <p:cNvPr id="10" name="Text 8"/>
          <p:cNvSpPr/>
          <p:nvPr/>
        </p:nvSpPr>
        <p:spPr>
          <a:xfrm>
            <a:off x="7599521" y="2819400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所有測試案例已執行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9521" y="326159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通過率 ≥ 95% (連續 5 次)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599521" y="370379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P0 缺陷修復率 100%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599521" y="414599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P1 缺陷修復率 ≥ 90%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7599521" y="458819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測試報告已產出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599521" y="5030391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UAT 驗收通過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93790" y="5841120"/>
            <a:ext cx="13042821" cy="35957"/>
          </a:xfrm>
          <a:prstGeom prst="rect">
            <a:avLst/>
          </a:prstGeom>
          <a:solidFill>
            <a:srgbClr val="2C2821">
              <a:alpha val="5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793790" y="6217206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Go/No-Go 上線決策</a:t>
            </a:r>
            <a:endParaRPr lang="en-US" sz="2650" dirty="0"/>
          </a:p>
        </p:txBody>
      </p:sp>
      <p:sp>
        <p:nvSpPr>
          <p:cNvPr id="18" name="Text 16"/>
          <p:cNvSpPr/>
          <p:nvPr/>
        </p:nvSpPr>
        <p:spPr>
          <a:xfrm>
            <a:off x="793790" y="698265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當自動化測試通過率 ≥ 95%、P0 缺陷 100% 修復、P1 缺陷 ≥ 90% 修復、PM 確認需求且無重大安全問題時,即可批准上線</a:t>
            </a:r>
            <a:endParaRPr lang="en-US" sz="1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4099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102888"/>
            <a:ext cx="3855958" cy="48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50"/>
              </a:lnSpc>
              <a:buNone/>
            </a:pPr>
            <a:r>
              <a:rPr lang="en-US" sz="30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測試執行成果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93790" y="3874056"/>
            <a:ext cx="6424970" cy="1734860"/>
          </a:xfrm>
          <a:prstGeom prst="roundRect">
            <a:avLst>
              <a:gd name="adj" fmla="val 1667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6650" y="3896916"/>
            <a:ext cx="6379250" cy="578406"/>
          </a:xfrm>
          <a:prstGeom prst="roundRect">
            <a:avLst>
              <a:gd name="adj" fmla="val 257"/>
            </a:avLst>
          </a:prstGeom>
          <a:solidFill>
            <a:srgbClr val="F0EDE6"/>
          </a:solidFill>
          <a:ln/>
        </p:spPr>
      </p:sp>
      <p:sp>
        <p:nvSpPr>
          <p:cNvPr id="6" name="Text 3"/>
          <p:cNvSpPr/>
          <p:nvPr/>
        </p:nvSpPr>
        <p:spPr>
          <a:xfrm>
            <a:off x="3861673" y="4005382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250" dirty="0"/>
          </a:p>
        </p:txBody>
      </p:sp>
      <p:sp>
        <p:nvSpPr>
          <p:cNvPr id="7" name="Text 4"/>
          <p:cNvSpPr/>
          <p:nvPr/>
        </p:nvSpPr>
        <p:spPr>
          <a:xfrm>
            <a:off x="1009412" y="466808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購物車測試通過率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1009412" y="5084921"/>
            <a:ext cx="5993725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5/5 測試案例穩定通過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411522" y="3874056"/>
            <a:ext cx="6425089" cy="1734860"/>
          </a:xfrm>
          <a:prstGeom prst="roundRect">
            <a:avLst>
              <a:gd name="adj" fmla="val 1667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34382" y="3896916"/>
            <a:ext cx="6379369" cy="578406"/>
          </a:xfrm>
          <a:prstGeom prst="roundRect">
            <a:avLst>
              <a:gd name="adj" fmla="val 257"/>
            </a:avLst>
          </a:prstGeom>
          <a:solidFill>
            <a:srgbClr val="F0EDE6"/>
          </a:solidFill>
          <a:ln/>
        </p:spPr>
      </p:sp>
      <p:sp>
        <p:nvSpPr>
          <p:cNvPr id="11" name="Text 8"/>
          <p:cNvSpPr/>
          <p:nvPr/>
        </p:nvSpPr>
        <p:spPr>
          <a:xfrm>
            <a:off x="10479405" y="4005382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7627144" y="466808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登入測試通過率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7627144" y="5084921"/>
            <a:ext cx="5993844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4/4 自動化案例穩定通過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93790" y="5801678"/>
            <a:ext cx="6424970" cy="1734860"/>
          </a:xfrm>
          <a:prstGeom prst="roundRect">
            <a:avLst>
              <a:gd name="adj" fmla="val 1667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6650" y="5824538"/>
            <a:ext cx="6379250" cy="578406"/>
          </a:xfrm>
          <a:prstGeom prst="roundRect">
            <a:avLst>
              <a:gd name="adj" fmla="val 257"/>
            </a:avLst>
          </a:prstGeom>
          <a:solidFill>
            <a:srgbClr val="F0EDE6"/>
          </a:solidFill>
          <a:ln/>
        </p:spPr>
      </p:sp>
      <p:sp>
        <p:nvSpPr>
          <p:cNvPr id="16" name="Text 13"/>
          <p:cNvSpPr/>
          <p:nvPr/>
        </p:nvSpPr>
        <p:spPr>
          <a:xfrm>
            <a:off x="3861673" y="5933003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009412" y="6595705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手動測試通過率</a:t>
            </a:r>
            <a:endParaRPr lang="en-US" sz="1850" dirty="0"/>
          </a:p>
        </p:txBody>
      </p:sp>
      <p:sp>
        <p:nvSpPr>
          <p:cNvPr id="18" name="Text 15"/>
          <p:cNvSpPr/>
          <p:nvPr/>
        </p:nvSpPr>
        <p:spPr>
          <a:xfrm>
            <a:off x="1009412" y="7012543"/>
            <a:ext cx="5993725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5/5 手動案例全數通過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411522" y="5801678"/>
            <a:ext cx="6425089" cy="1734860"/>
          </a:xfrm>
          <a:prstGeom prst="roundRect">
            <a:avLst>
              <a:gd name="adj" fmla="val 1667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4382" y="5824538"/>
            <a:ext cx="6379369" cy="578406"/>
          </a:xfrm>
          <a:prstGeom prst="roundRect">
            <a:avLst>
              <a:gd name="adj" fmla="val 257"/>
            </a:avLst>
          </a:prstGeom>
          <a:solidFill>
            <a:srgbClr val="F0EDE6"/>
          </a:solidFill>
          <a:ln/>
        </p:spPr>
      </p:sp>
      <p:sp>
        <p:nvSpPr>
          <p:cNvPr id="21" name="Text 18"/>
          <p:cNvSpPr/>
          <p:nvPr/>
        </p:nvSpPr>
        <p:spPr>
          <a:xfrm>
            <a:off x="10479405" y="5933003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4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7627144" y="6595705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整體測試通過率</a:t>
            </a:r>
            <a:endParaRPr lang="en-US" sz="1850" dirty="0"/>
          </a:p>
        </p:txBody>
      </p:sp>
      <p:sp>
        <p:nvSpPr>
          <p:cNvPr id="23" name="Text 20"/>
          <p:cNvSpPr/>
          <p:nvPr/>
        </p:nvSpPr>
        <p:spPr>
          <a:xfrm>
            <a:off x="7627144" y="7012543"/>
            <a:ext cx="5993844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連續 5 次執行穩定達標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1005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測試穩定性優化歷程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4695944"/>
            <a:ext cx="13042821" cy="30480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4" name="Shape 2"/>
          <p:cNvSpPr/>
          <p:nvPr/>
        </p:nvSpPr>
        <p:spPr>
          <a:xfrm>
            <a:off x="3301960" y="4015502"/>
            <a:ext cx="30480" cy="68044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5" name="Shape 3"/>
          <p:cNvSpPr/>
          <p:nvPr/>
        </p:nvSpPr>
        <p:spPr>
          <a:xfrm>
            <a:off x="3062049" y="4440793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sp>
        <p:nvSpPr>
          <p:cNvPr id="6" name="Text 4"/>
          <p:cNvSpPr/>
          <p:nvPr/>
        </p:nvSpPr>
        <p:spPr>
          <a:xfrm>
            <a:off x="3147120" y="4483298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899642" y="25724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優化前狀態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20604" y="3062883"/>
            <a:ext cx="459331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多 worker 並發執行,通過率僅 75%,測試結果不穩定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967293" y="4695944"/>
            <a:ext cx="30480" cy="68044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10" name="Shape 8"/>
          <p:cNvSpPr/>
          <p:nvPr/>
        </p:nvSpPr>
        <p:spPr>
          <a:xfrm>
            <a:off x="5727382" y="4440793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sp>
        <p:nvSpPr>
          <p:cNvPr id="11" name="Text 9"/>
          <p:cNvSpPr/>
          <p:nvPr/>
        </p:nvSpPr>
        <p:spPr>
          <a:xfrm>
            <a:off x="5812453" y="4483298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4564856" y="56032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問題診斷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85818" y="6093619"/>
            <a:ext cx="459343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發現並發競爭、Email 等待時間不足等問題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8632508" y="4015502"/>
            <a:ext cx="30480" cy="68044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15" name="Shape 13"/>
          <p:cNvSpPr/>
          <p:nvPr/>
        </p:nvSpPr>
        <p:spPr>
          <a:xfrm>
            <a:off x="8392597" y="4440793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sp>
        <p:nvSpPr>
          <p:cNvPr id="16" name="Text 14"/>
          <p:cNvSpPr/>
          <p:nvPr/>
        </p:nvSpPr>
        <p:spPr>
          <a:xfrm>
            <a:off x="8477667" y="4483298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7230070" y="25724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策略調整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51032" y="3062883"/>
            <a:ext cx="459343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改為單 worker 執行,增加 retry 機制,調整等待時間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11297841" y="4695944"/>
            <a:ext cx="30480" cy="680442"/>
          </a:xfrm>
          <a:prstGeom prst="roundRect">
            <a:avLst>
              <a:gd name="adj" fmla="val 111628"/>
            </a:avLst>
          </a:prstGeom>
          <a:solidFill>
            <a:srgbClr val="D6D3CC"/>
          </a:solidFill>
          <a:ln/>
        </p:spPr>
      </p:sp>
      <p:sp>
        <p:nvSpPr>
          <p:cNvPr id="20" name="Shape 18"/>
          <p:cNvSpPr/>
          <p:nvPr/>
        </p:nvSpPr>
        <p:spPr>
          <a:xfrm>
            <a:off x="11057930" y="4440793"/>
            <a:ext cx="510302" cy="510302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sp>
        <p:nvSpPr>
          <p:cNvPr id="21" name="Text 19"/>
          <p:cNvSpPr/>
          <p:nvPr/>
        </p:nvSpPr>
        <p:spPr>
          <a:xfrm>
            <a:off x="11143000" y="4483298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4</a:t>
            </a:r>
            <a:endParaRPr lang="en-US" sz="2650" dirty="0"/>
          </a:p>
        </p:txBody>
      </p:sp>
      <p:sp>
        <p:nvSpPr>
          <p:cNvPr id="22" name="Text 20"/>
          <p:cNvSpPr/>
          <p:nvPr/>
        </p:nvSpPr>
        <p:spPr>
          <a:xfrm>
            <a:off x="9895403" y="56032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優化後成果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016365" y="6093619"/>
            <a:ext cx="459343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通過率達 100%,執行策略: --workers=1 --retries=4</a:t>
            </a:r>
            <a:endParaRPr lang="en-US" sz="1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9434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CI/CD 三階段整合規劃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556754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01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911798"/>
            <a:ext cx="4196358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5" name="Text 3"/>
          <p:cNvSpPr/>
          <p:nvPr/>
        </p:nvSpPr>
        <p:spPr>
          <a:xfrm>
            <a:off x="793790" y="4086106"/>
            <a:ext cx="368522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CI-1: Pre-Commit Gate Check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4576524"/>
            <a:ext cx="419635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RD 提交程式碼前快速驗證,執行 Smoke Test,15-30 分鐘完成,通過後獲得 72 小時提交資格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216962" y="3556754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02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5216962" y="3911798"/>
            <a:ext cx="4196358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9" name="Text 7"/>
          <p:cNvSpPr/>
          <p:nvPr/>
        </p:nvSpPr>
        <p:spPr>
          <a:xfrm>
            <a:off x="5216962" y="408610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CI-MTBF: 壓力測試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216962" y="4576524"/>
            <a:ext cx="419635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長時間穩定性驗證,連續執行 50-100 次,監控記憶體洩漏與資源使用,通過後獲得 Merge Ticket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640133" y="3556754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03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9640133" y="3911798"/>
            <a:ext cx="4196358" cy="3048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3" name="Text 11"/>
          <p:cNvSpPr/>
          <p:nvPr/>
        </p:nvSpPr>
        <p:spPr>
          <a:xfrm>
            <a:off x="9640133" y="4086106"/>
            <a:ext cx="325540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CI-0: Internal Verification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40133" y="4576524"/>
            <a:ext cx="419635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每日凌晨 02:00 自動執行全回歸測試,100% 案例覆蓋率,10 輪連續執行驗證穩定性</a:t>
            </a:r>
            <a:endParaRPr lang="en-US" sz="1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18661"/>
            <a:ext cx="482000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CI/CD 實施效益與時程</a:t>
            </a:r>
            <a:endParaRPr lang="en-US" sz="3750" dirty="0"/>
          </a:p>
        </p:txBody>
      </p:sp>
      <p:sp>
        <p:nvSpPr>
          <p:cNvPr id="3" name="Text 1"/>
          <p:cNvSpPr/>
          <p:nvPr/>
        </p:nvSpPr>
        <p:spPr>
          <a:xfrm>
            <a:off x="793790" y="1803083"/>
            <a:ext cx="2892028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預期效益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793790" y="2477691"/>
            <a:ext cx="5689283" cy="240983"/>
          </a:xfrm>
          <a:prstGeom prst="roundRect">
            <a:avLst>
              <a:gd name="adj" fmla="val 12001"/>
            </a:avLst>
          </a:prstGeom>
          <a:solidFill>
            <a:srgbClr val="F0EDE6"/>
          </a:solidFill>
          <a:ln/>
        </p:spPr>
      </p:sp>
      <p:sp>
        <p:nvSpPr>
          <p:cNvPr id="5" name="Shape 3"/>
          <p:cNvSpPr/>
          <p:nvPr/>
        </p:nvSpPr>
        <p:spPr>
          <a:xfrm>
            <a:off x="793790" y="2477691"/>
            <a:ext cx="1706761" cy="240983"/>
          </a:xfrm>
          <a:prstGeom prst="roundRect">
            <a:avLst>
              <a:gd name="adj" fmla="val 12001"/>
            </a:avLst>
          </a:prstGeom>
          <a:solidFill>
            <a:srgbClr val="1B5F39"/>
          </a:solidFill>
          <a:ln/>
        </p:spPr>
      </p:sp>
      <p:sp>
        <p:nvSpPr>
          <p:cNvPr id="6" name="Text 4"/>
          <p:cNvSpPr/>
          <p:nvPr/>
        </p:nvSpPr>
        <p:spPr>
          <a:xfrm>
            <a:off x="6627614" y="2477691"/>
            <a:ext cx="452437" cy="240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30%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93790" y="2959537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程式碼品質提升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793790" y="3453527"/>
            <a:ext cx="6286262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提交前必須通過測試驗證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93790" y="4243745"/>
            <a:ext cx="5689759" cy="240983"/>
          </a:xfrm>
          <a:prstGeom prst="roundRect">
            <a:avLst>
              <a:gd name="adj" fmla="val 12001"/>
            </a:avLst>
          </a:prstGeom>
          <a:solidFill>
            <a:srgbClr val="F0EDE6"/>
          </a:solidFill>
          <a:ln/>
        </p:spPr>
      </p:sp>
      <p:sp>
        <p:nvSpPr>
          <p:cNvPr id="10" name="Shape 8"/>
          <p:cNvSpPr/>
          <p:nvPr/>
        </p:nvSpPr>
        <p:spPr>
          <a:xfrm>
            <a:off x="793790" y="4243745"/>
            <a:ext cx="2844879" cy="240983"/>
          </a:xfrm>
          <a:prstGeom prst="roundRect">
            <a:avLst>
              <a:gd name="adj" fmla="val 12001"/>
            </a:avLst>
          </a:prstGeom>
          <a:solidFill>
            <a:srgbClr val="1B5F39"/>
          </a:solidFill>
          <a:ln/>
        </p:spPr>
      </p:sp>
      <p:sp>
        <p:nvSpPr>
          <p:cNvPr id="11" name="Text 9"/>
          <p:cNvSpPr/>
          <p:nvPr/>
        </p:nvSpPr>
        <p:spPr>
          <a:xfrm>
            <a:off x="6628090" y="4243745"/>
            <a:ext cx="451961" cy="240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50%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793790" y="4725591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線上問題減少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793790" y="5219581"/>
            <a:ext cx="6286262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多層次驗證機制把關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93790" y="6009799"/>
            <a:ext cx="5684044" cy="240983"/>
          </a:xfrm>
          <a:prstGeom prst="roundRect">
            <a:avLst>
              <a:gd name="adj" fmla="val 12001"/>
            </a:avLst>
          </a:prstGeom>
          <a:solidFill>
            <a:srgbClr val="F0EDE6"/>
          </a:solidFill>
          <a:ln/>
        </p:spPr>
      </p:sp>
      <p:sp>
        <p:nvSpPr>
          <p:cNvPr id="15" name="Shape 13"/>
          <p:cNvSpPr/>
          <p:nvPr/>
        </p:nvSpPr>
        <p:spPr>
          <a:xfrm>
            <a:off x="793790" y="6009799"/>
            <a:ext cx="3410426" cy="240983"/>
          </a:xfrm>
          <a:prstGeom prst="roundRect">
            <a:avLst>
              <a:gd name="adj" fmla="val 12001"/>
            </a:avLst>
          </a:prstGeom>
          <a:solidFill>
            <a:srgbClr val="1B5F39"/>
          </a:solidFill>
          <a:ln/>
        </p:spPr>
      </p:sp>
      <p:sp>
        <p:nvSpPr>
          <p:cNvPr id="16" name="Text 14"/>
          <p:cNvSpPr/>
          <p:nvPr/>
        </p:nvSpPr>
        <p:spPr>
          <a:xfrm>
            <a:off x="6622375" y="6009799"/>
            <a:ext cx="457676" cy="240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60%</a:t>
            </a:r>
            <a:endParaRPr lang="en-US" sz="1850" dirty="0"/>
          </a:p>
        </p:txBody>
      </p:sp>
      <p:sp>
        <p:nvSpPr>
          <p:cNvPr id="17" name="Text 15"/>
          <p:cNvSpPr/>
          <p:nvPr/>
        </p:nvSpPr>
        <p:spPr>
          <a:xfrm>
            <a:off x="793790" y="6491645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測試時間縮短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793790" y="6985635"/>
            <a:ext cx="6286262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自動化取代手動測試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57968" y="1803083"/>
            <a:ext cx="2892028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dirty="0">
                <a:solidFill>
                  <a:schemeClr val="bg1">
                    <a:lumMod val="65000"/>
                  </a:schemeClr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實施時程</a:t>
            </a:r>
            <a:endParaRPr lang="en-US" sz="22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7557968" y="2357318"/>
            <a:ext cx="6286262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b="1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CI-1 建置:</a:t>
            </a:r>
            <a:r>
              <a:rPr lang="en-US" sz="1500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2025-11-01 ~ 11-15</a:t>
            </a:r>
            <a:endParaRPr lang="en-US" sz="15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7557968" y="2733080"/>
            <a:ext cx="6286262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b="1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CI-MTBF 建置:</a:t>
            </a:r>
            <a:r>
              <a:rPr lang="en-US" sz="1500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2025-11-16 ~ 11-30</a:t>
            </a:r>
            <a:endParaRPr lang="en-US" sz="15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7557968" y="3108841"/>
            <a:ext cx="6286262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b="1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CI-0 建置:</a:t>
            </a:r>
            <a:r>
              <a:rPr lang="en-US" sz="1500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2025-12-01 ~ 12-15</a:t>
            </a:r>
            <a:endParaRPr lang="en-US" sz="15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7557968" y="3484602"/>
            <a:ext cx="6286262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b="1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版控偵測:</a:t>
            </a:r>
            <a:r>
              <a:rPr lang="en-US" sz="1500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2025-12-16 ~ 12-22</a:t>
            </a:r>
            <a:endParaRPr lang="en-US" sz="15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7557968" y="3860363"/>
            <a:ext cx="6286262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b="1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整合測試:</a:t>
            </a:r>
            <a:r>
              <a:rPr lang="en-US" sz="1500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2025-12-23 ~ 12-31</a:t>
            </a:r>
            <a:endParaRPr lang="en-US" sz="15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7557968" y="4236125"/>
            <a:ext cx="6286262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b="1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正式上線:</a:t>
            </a:r>
            <a:r>
              <a:rPr lang="en-US" sz="1500" dirty="0">
                <a:solidFill>
                  <a:schemeClr val="bg1">
                    <a:lumMod val="65000"/>
                  </a:scheme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2026-01-01</a:t>
            </a:r>
            <a:endParaRPr lang="en-US" sz="15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810697"/>
            <a:ext cx="5387102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未來優化方向</a:t>
            </a:r>
            <a:endParaRPr lang="en-US" sz="4200" dirty="0"/>
          </a:p>
        </p:txBody>
      </p:sp>
      <p:sp>
        <p:nvSpPr>
          <p:cNvPr id="4" name="Shape 1"/>
          <p:cNvSpPr/>
          <p:nvPr/>
        </p:nvSpPr>
        <p:spPr>
          <a:xfrm>
            <a:off x="793790" y="1807250"/>
            <a:ext cx="7556421" cy="1241346"/>
          </a:xfrm>
          <a:prstGeom prst="roundRect">
            <a:avLst>
              <a:gd name="adj" fmla="val 2604"/>
            </a:avLst>
          </a:prstGeom>
          <a:solidFill>
            <a:srgbClr val="1B5F39"/>
          </a:solidFill>
          <a:ln/>
        </p:spPr>
      </p:sp>
      <p:sp>
        <p:nvSpPr>
          <p:cNvPr id="5" name="Text 2"/>
          <p:cNvSpPr/>
          <p:nvPr/>
        </p:nvSpPr>
        <p:spPr>
          <a:xfrm>
            <a:off x="1009174" y="2022634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CI/CD 三階段驗證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1009174" y="2488406"/>
            <a:ext cx="7125653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實施 CI-1、CI-MTBF、CI-0 完整自動化流程,提升程式碼品質與部署效率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93790" y="3263979"/>
            <a:ext cx="7556421" cy="1241346"/>
          </a:xfrm>
          <a:prstGeom prst="roundRect">
            <a:avLst>
              <a:gd name="adj" fmla="val 2604"/>
            </a:avLst>
          </a:prstGeom>
          <a:solidFill>
            <a:srgbClr val="F0EDE6"/>
          </a:solidFill>
          <a:ln/>
        </p:spPr>
      </p:sp>
      <p:sp>
        <p:nvSpPr>
          <p:cNvPr id="8" name="Text 5"/>
          <p:cNvSpPr/>
          <p:nvPr/>
        </p:nvSpPr>
        <p:spPr>
          <a:xfrm>
            <a:off x="1009174" y="3479363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擴充測試案例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09174" y="3945136"/>
            <a:ext cx="7125653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新增付款流程、優惠券折扣計算、會員積分系統等進階測試案例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93790" y="4720709"/>
            <a:ext cx="7556421" cy="1241346"/>
          </a:xfrm>
          <a:prstGeom prst="roundRect">
            <a:avLst>
              <a:gd name="adj" fmla="val 2604"/>
            </a:avLst>
          </a:prstGeom>
          <a:solidFill>
            <a:srgbClr val="F0EDE6"/>
          </a:solidFill>
          <a:ln/>
        </p:spPr>
      </p:sp>
      <p:sp>
        <p:nvSpPr>
          <p:cNvPr id="11" name="Text 8"/>
          <p:cNvSpPr/>
          <p:nvPr/>
        </p:nvSpPr>
        <p:spPr>
          <a:xfrm>
            <a:off x="1009174" y="4936093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跨瀏覽器測試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009174" y="5401866"/>
            <a:ext cx="7125653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擴充至 Firefox、Safari、Edge 多瀏覽器相容性驗證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793790" y="6177439"/>
            <a:ext cx="7556421" cy="1241346"/>
          </a:xfrm>
          <a:prstGeom prst="roundRect">
            <a:avLst>
              <a:gd name="adj" fmla="val 2604"/>
            </a:avLst>
          </a:prstGeom>
          <a:solidFill>
            <a:srgbClr val="F0EDE6"/>
          </a:solidFill>
          <a:ln/>
        </p:spPr>
      </p:sp>
      <p:sp>
        <p:nvSpPr>
          <p:cNvPr id="14" name="Text 11"/>
          <p:cNvSpPr/>
          <p:nvPr/>
        </p:nvSpPr>
        <p:spPr>
          <a:xfrm>
            <a:off x="1009174" y="6392823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效能與視覺測試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009174" y="6858595"/>
            <a:ext cx="7125653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整合 Lighthouse、k6 進行效能測試,使用 Visual Comparison 偵測 UI 變更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7241" y="618530"/>
            <a:ext cx="4217789" cy="527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專案成果總結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87241" y="1567458"/>
            <a:ext cx="2530673" cy="3163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8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核心成就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87241" y="2275298"/>
            <a:ext cx="379571" cy="379571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523" y="2338520"/>
            <a:ext cx="253008" cy="2530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5524" y="2333281"/>
            <a:ext cx="2108835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24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完整測試策略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35524" y="2765478"/>
            <a:ext cx="712065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建立清晰的測試目標、範圍、方法論與驗收標準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787241" y="3372816"/>
            <a:ext cx="379571" cy="379571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0523" y="3436038"/>
            <a:ext cx="253008" cy="2530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35524" y="3430799"/>
            <a:ext cx="2108835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24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高品質測試案例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1335524" y="3862996"/>
            <a:ext cx="712065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涵蓋購物車與登入功能,自動化搭配手動測試</a:t>
            </a: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787241" y="4470334"/>
            <a:ext cx="379571" cy="379571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0523" y="4533556"/>
            <a:ext cx="253008" cy="2530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35524" y="4528317"/>
            <a:ext cx="2108835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24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卓越測試成果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1335524" y="4960514"/>
            <a:ext cx="712065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100% 通過率,連續 5 次執行穩定通過</a:t>
            </a:r>
            <a:endParaRPr lang="en-US" dirty="0"/>
          </a:p>
        </p:txBody>
      </p:sp>
      <p:sp>
        <p:nvSpPr>
          <p:cNvPr id="16" name="Shape 11"/>
          <p:cNvSpPr/>
          <p:nvPr/>
        </p:nvSpPr>
        <p:spPr>
          <a:xfrm>
            <a:off x="787241" y="5567852"/>
            <a:ext cx="379571" cy="379571"/>
          </a:xfrm>
          <a:prstGeom prst="roundRect">
            <a:avLst>
              <a:gd name="adj" fmla="val 6667"/>
            </a:avLst>
          </a:prstGeom>
          <a:solidFill>
            <a:srgbClr val="F0EDE6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0523" y="5631074"/>
            <a:ext cx="253008" cy="2530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35524" y="5625835"/>
            <a:ext cx="2108835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24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完善文件體系</a:t>
            </a:r>
            <a:endParaRPr lang="en-US" sz="2400" dirty="0"/>
          </a:p>
        </p:txBody>
      </p:sp>
      <p:sp>
        <p:nvSpPr>
          <p:cNvPr id="19" name="Text 13"/>
          <p:cNvSpPr/>
          <p:nvPr/>
        </p:nvSpPr>
        <p:spPr>
          <a:xfrm>
            <a:off x="1335524" y="6058032"/>
            <a:ext cx="7120652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測試企劃書、案例、報告、架構文件一應俱全</a:t>
            </a:r>
            <a:endParaRPr lang="en-US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75276" y="1588532"/>
            <a:ext cx="3731538" cy="3731538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8875276" y="5509855"/>
            <a:ext cx="4975384" cy="1948339"/>
          </a:xfrm>
          <a:prstGeom prst="roundRect">
            <a:avLst>
              <a:gd name="adj" fmla="val 1299"/>
            </a:avLst>
          </a:prstGeom>
          <a:solidFill>
            <a:srgbClr val="C3EED6"/>
          </a:solidFill>
          <a:ln/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43988" y="5763578"/>
            <a:ext cx="210860" cy="16871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423559" y="5720715"/>
            <a:ext cx="4258389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專案資訊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9423559" y="6142434"/>
            <a:ext cx="4258389" cy="1079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撰寫: Howie</a:t>
            </a:r>
            <a:b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</a:br>
            <a:r>
              <a:rPr lang="en-US" sz="1600" dirty="0" err="1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最後更新</a:t>
            </a:r>
            <a: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 2025-10-29</a:t>
            </a:r>
            <a:b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</a:br>
            <a:r>
              <a:rPr lang="en-US" sz="1600" dirty="0" err="1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版本</a:t>
            </a:r>
            <a: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 2.0</a:t>
            </a:r>
            <a:b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</a:br>
            <a:r>
              <a:rPr lang="en-US" sz="16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QA Lead: Howie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901</Words>
  <Application>Microsoft Office PowerPoint</Application>
  <PresentationFormat>自訂</PresentationFormat>
  <Paragraphs>264</Paragraphs>
  <Slides>19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4" baseType="lpstr">
      <vt:lpstr>Alice</vt:lpstr>
      <vt:lpstr>Lora</vt:lpstr>
      <vt:lpstr>Alice Light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浩瑜 郝</cp:lastModifiedBy>
  <cp:revision>2</cp:revision>
  <dcterms:created xsi:type="dcterms:W3CDTF">2025-10-29T01:59:43Z</dcterms:created>
  <dcterms:modified xsi:type="dcterms:W3CDTF">2025-10-29T04:22:57Z</dcterms:modified>
</cp:coreProperties>
</file>