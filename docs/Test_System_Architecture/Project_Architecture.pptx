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Alice"/>
      <p:regular r:id="rId17"/>
    </p:embeddedFont>
    <p:embeddedFont>
      <p:font typeface="Alice"/>
      <p:regular r:id="rId18"/>
    </p:embeddedFon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slideLayout" Target="../slideLayouts/slideLayout8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slideLayout" Target="../slideLayouts/slideLayout9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338393"/>
            <a:ext cx="558998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DogCatStar E2E 測試架構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4256127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企業級電商平台自動化測試框架，基於 Playwright 打造的完整測試解決方案。涵蓋 E2E 與 API 雙軌測試，針對登入、購物車與結帳核心流程提供全面覆蓋。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1124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專案核心特色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428161"/>
            <a:ext cx="6422231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992148" y="262651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9" y="2790111"/>
            <a:ext cx="267891" cy="2678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2148" y="342018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分層架構設計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92148" y="3849410"/>
            <a:ext cx="60255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清晰的職責劃分，採用高內聚低耦合原則，確保各層級獨立運作且易於維護。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414379" y="2428161"/>
            <a:ext cx="6422231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9" name="Shape 6"/>
          <p:cNvSpPr/>
          <p:nvPr/>
        </p:nvSpPr>
        <p:spPr>
          <a:xfrm>
            <a:off x="7612737" y="262651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6448" y="2790111"/>
            <a:ext cx="267891" cy="2678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2737" y="342018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Page Object Model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7612737" y="3849410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將頁面元素與操作邏輯封裝，大幅提升測試可讀性與後續維護效率。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93790" y="4881205"/>
            <a:ext cx="6422231" cy="1937147"/>
          </a:xfrm>
          <a:prstGeom prst="roundRect">
            <a:avLst>
              <a:gd name="adj" fmla="val 1537"/>
            </a:avLst>
          </a:prstGeom>
          <a:solidFill>
            <a:srgbClr val="F0EDE6"/>
          </a:solidFill>
          <a:ln/>
        </p:spPr>
      </p:sp>
      <p:sp>
        <p:nvSpPr>
          <p:cNvPr id="14" name="Shape 10"/>
          <p:cNvSpPr/>
          <p:nvPr/>
        </p:nvSpPr>
        <p:spPr>
          <a:xfrm>
            <a:off x="992148" y="50795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5859" y="5243155"/>
            <a:ext cx="267891" cy="2678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92148" y="58732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E2E + API 雙軌測試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992148" y="6302454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完整覆蓋前端 UI 互動與後端邏輯驗證，確保系統各層面運作正常。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414379" y="4881205"/>
            <a:ext cx="6422231" cy="1937147"/>
          </a:xfrm>
          <a:prstGeom prst="roundRect">
            <a:avLst>
              <a:gd name="adj" fmla="val 1537"/>
            </a:avLst>
          </a:prstGeom>
          <a:solidFill>
            <a:srgbClr val="F0EDE6"/>
          </a:solidFill>
          <a:ln/>
        </p:spPr>
      </p:sp>
      <p:sp>
        <p:nvSpPr>
          <p:cNvPr id="19" name="Shape 14"/>
          <p:cNvSpPr/>
          <p:nvPr/>
        </p:nvSpPr>
        <p:spPr>
          <a:xfrm>
            <a:off x="7612737" y="50795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6448" y="5243155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12737" y="58732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Storage State 認證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7612737" y="6302454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避免重複登入流程，大幅減少測試執行時間，提升整體測試效率。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01504"/>
            <a:ext cx="4217551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專案目錄結構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533406"/>
            <a:ext cx="4970145" cy="344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📂</a:t>
            </a:r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核心資料夾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793790" y="2030135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docs/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完整文件與測試計畫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93790" y="2426375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fixtures/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測試資料與認證狀態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3790" y="2822615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helpers/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共用輔助工具與 API 封裝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3790" y="3218855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pages/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Page Object Model 實作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93790" y="3615095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tests/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E2E 與 API 測試案例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3790" y="4104203"/>
            <a:ext cx="4970145" cy="344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📋</a:t>
            </a:r>
            <a:pPr algn="l" indent="0" marL="0">
              <a:lnSpc>
                <a:spcPts val="26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重要檔案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93790" y="4600932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authStorageState.json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登入狀態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3790" y="4997172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api-tokens.json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API 測試 tokens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93790" y="5393412"/>
            <a:ext cx="4970145" cy="337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test-accounts.json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- 測試帳號資訊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5928" y="1571387"/>
            <a:ext cx="5175171" cy="517517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83035" y="6936343"/>
            <a:ext cx="7661077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所有敏感資料檔案（如 authStorageState.json、api-tokens.json）已加入 .gitignore，確保不會被提交至版本控制系統。團隊成員需根據 .example 範例檔案建立自己的測試資料。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62226"/>
            <a:ext cx="5250656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Page Object Model 設計模式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280190" y="1442323"/>
            <a:ext cx="7556421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POM 將頁面元素與操作邏輯封裝到獨立類別中，當 UI 變動時只需修改 Page Object，測試案例無需調整。這種設計大幅提升程式碼可維護性與團隊協作效率。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280190" y="2171938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280190" y="2435781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7" name="Text 4"/>
          <p:cNvSpPr/>
          <p:nvPr/>
        </p:nvSpPr>
        <p:spPr>
          <a:xfrm>
            <a:off x="6280190" y="2565797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base.page.ts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280190" y="2930485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基礎類別，提供共用方法如 goto()、waitForElement()，所有頁面物件繼承此類別。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80190" y="3495437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80190" y="3759279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1" name="Text 8"/>
          <p:cNvSpPr/>
          <p:nvPr/>
        </p:nvSpPr>
        <p:spPr>
          <a:xfrm>
            <a:off x="6280190" y="3889296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login.page.ts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280190" y="4253984"/>
            <a:ext cx="7556421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封裝登入流程、OTP 輸入、OAuth 認證等操作，包含 fillPhone()、fillEmail()、clickConfirmButton() 等方法。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80190" y="5088850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80190" y="5352693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5" name="Text 12"/>
          <p:cNvSpPr/>
          <p:nvPr/>
        </p:nvSpPr>
        <p:spPr>
          <a:xfrm>
            <a:off x="6280190" y="5482709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cart.page.ts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80190" y="5847398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購物車頁面操作，包含 getCartItemCount()、clearCart()、updateQuantity() 等購物車管理功能。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0190" y="6412349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0190" y="6676192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9" name="Text 16"/>
          <p:cNvSpPr/>
          <p:nvPr/>
        </p:nvSpPr>
        <p:spPr>
          <a:xfrm>
            <a:off x="6280190" y="6806208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product.page.ts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6280190" y="7170896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商品頁面操作，提供 selectProduct()、addToCart() 等方法處理商品選擇與加入購物車邏輯。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33964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系統分層架構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548533"/>
            <a:ext cx="6422231" cy="1705094"/>
          </a:xfrm>
          <a:prstGeom prst="roundRect">
            <a:avLst>
              <a:gd name="adj" fmla="val 1746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6650" y="2571393"/>
            <a:ext cx="6376511" cy="198358"/>
          </a:xfrm>
          <a:prstGeom prst="roundRect">
            <a:avLst>
              <a:gd name="adj" fmla="val 1179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1015008" y="296810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Test Cases 測試案例層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15008" y="3397329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位於 tests/ 目錄，負責定義業務邏輯與測試情境，呼叫 Page Object 執行操作。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2250877"/>
            <a:ext cx="6422231" cy="2002750"/>
          </a:xfrm>
          <a:prstGeom prst="roundRect">
            <a:avLst>
              <a:gd name="adj" fmla="val 148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37239" y="2273737"/>
            <a:ext cx="6376511" cy="198358"/>
          </a:xfrm>
          <a:prstGeom prst="roundRect">
            <a:avLst>
              <a:gd name="adj" fmla="val 1179"/>
            </a:avLst>
          </a:prstGeom>
          <a:solidFill>
            <a:srgbClr val="F0EDE6"/>
          </a:solidFill>
          <a:ln/>
        </p:spPr>
      </p:sp>
      <p:sp>
        <p:nvSpPr>
          <p:cNvPr id="9" name="Text 7"/>
          <p:cNvSpPr/>
          <p:nvPr/>
        </p:nvSpPr>
        <p:spPr>
          <a:xfrm>
            <a:off x="7635597" y="2670453"/>
            <a:ext cx="271426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Page Objects 頁面物件層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635597" y="3099673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位於 pages/ 目錄，封裝 UI 操作與元素定位，提供語意化的方法介面。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93790" y="4749641"/>
            <a:ext cx="6422231" cy="1705094"/>
          </a:xfrm>
          <a:prstGeom prst="roundRect">
            <a:avLst>
              <a:gd name="adj" fmla="val 1746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6650" y="4772501"/>
            <a:ext cx="6376511" cy="198358"/>
          </a:xfrm>
          <a:prstGeom prst="roundRect">
            <a:avLst>
              <a:gd name="adj" fmla="val 1179"/>
            </a:avLst>
          </a:prstGeom>
          <a:solidFill>
            <a:srgbClr val="F0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1015008" y="516921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Helpers 工具層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15008" y="5598438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位於 helpers/ 目錄，處理 API 請求封裝與共用邏輯，如 cartApiHelper.ts。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14379" y="4451985"/>
            <a:ext cx="6422231" cy="2002750"/>
          </a:xfrm>
          <a:prstGeom prst="roundRect">
            <a:avLst>
              <a:gd name="adj" fmla="val 148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37239" y="4474845"/>
            <a:ext cx="6376511" cy="198358"/>
          </a:xfrm>
          <a:prstGeom prst="roundRect">
            <a:avLst>
              <a:gd name="adj" fmla="val 1179"/>
            </a:avLst>
          </a:prstGeom>
          <a:solidFill>
            <a:srgbClr val="F0EDE6"/>
          </a:solidFill>
          <a:ln/>
        </p:spPr>
      </p:sp>
      <p:sp>
        <p:nvSpPr>
          <p:cNvPr id="17" name="Text 15"/>
          <p:cNvSpPr/>
          <p:nvPr/>
        </p:nvSpPr>
        <p:spPr>
          <a:xfrm>
            <a:off x="7635597" y="487156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Fixtures 資料層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635597" y="5300782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位於 fixtures/ 目錄，管理測試資料、認證狀態與設定檔，支援測試執行。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93790" y="6677978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此架構確保各層級職責清晰，修改某一層不會影響其他層，符合軟體工程的關注點分離原則。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60" y="436483"/>
            <a:ext cx="4023122" cy="49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Storage State 認證機制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34960" y="1329214"/>
            <a:ext cx="1984296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運作原理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34960" y="1735931"/>
            <a:ext cx="6486644" cy="507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透過一次性登入產生 authStorageState.json，儲存 cookies 與 localStorage 資訊。後續測試案例載入此狀態檔案，直接以已登入身份執行，省略重複登入步驟。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60" y="2402324"/>
            <a:ext cx="1984296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執行流程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34960" y="2809042"/>
            <a:ext cx="6486644" cy="253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 tests/manual/auth.spec.ts 產生認證狀態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60" y="3118366"/>
            <a:ext cx="6486644" cy="253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Font typeface="+mj-lt"/>
              <a:buAutoNum type="arabicPeriod" startAt="2"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儲存至 fixtures/authStorageState.json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60" y="3427690"/>
            <a:ext cx="6486644" cy="253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Font typeface="+mj-lt"/>
              <a:buAutoNum type="arabicPeriod" startAt="3"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測試案例透過 storageState 參數載入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60" y="3737015"/>
            <a:ext cx="6486644" cy="253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950"/>
              </a:lnSpc>
              <a:buSzPct val="100000"/>
              <a:buFont typeface="+mj-lt"/>
              <a:buAutoNum type="arabicPeriod" startAt="4"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直接進入測試核心邏輯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416" y="1348978"/>
            <a:ext cx="6486644" cy="64866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16416" y="8014097"/>
            <a:ext cx="6486644" cy="507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2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效能提升：</a:t>
            </a:r>
            <a:pPr algn="l" indent="0" marL="0">
              <a:lnSpc>
                <a:spcPts val="19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每個測試案例節省 5-10 秒登入時間，當測試案例數量增加時，總體時間節省相當可觀。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589359"/>
            <a:ext cx="446555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測試分類與策略</a:t>
            </a:r>
            <a:endParaRPr lang="en-US" sz="3500" dirty="0"/>
          </a:p>
        </p:txBody>
      </p:sp>
      <p:sp>
        <p:nvSpPr>
          <p:cNvPr id="4" name="Shape 1"/>
          <p:cNvSpPr/>
          <p:nvPr/>
        </p:nvSpPr>
        <p:spPr>
          <a:xfrm>
            <a:off x="793790" y="1415415"/>
            <a:ext cx="7556421" cy="2146340"/>
          </a:xfrm>
          <a:prstGeom prst="roundRect">
            <a:avLst>
              <a:gd name="adj" fmla="val 1248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6650" y="1438275"/>
            <a:ext cx="714494" cy="2100620"/>
          </a:xfrm>
          <a:prstGeom prst="rect">
            <a:avLst/>
          </a:prstGeom>
          <a:solidFill>
            <a:srgbClr val="F0EDE6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892" y="2354580"/>
            <a:ext cx="267891" cy="26789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09737" y="1616869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E2E 測試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1709737" y="2002988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位置：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tests/auto/cart/, tests/auto/login/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709737" y="2395895"/>
            <a:ext cx="64390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特性：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模擬真實用戶操作，驗證完整流程，涵蓋 UI 與後端整合。執行速度較慢但最接近實際使用情境。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709737" y="3074551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用戶旅程、UI 交互、跨頁面流程驗證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93790" y="3740348"/>
            <a:ext cx="7556421" cy="1860590"/>
          </a:xfrm>
          <a:prstGeom prst="roundRect">
            <a:avLst>
              <a:gd name="adj" fmla="val 1440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16650" y="3763208"/>
            <a:ext cx="714494" cy="1814870"/>
          </a:xfrm>
          <a:prstGeom prst="rect">
            <a:avLst/>
          </a:prstGeom>
          <a:solidFill>
            <a:srgbClr val="F0EDE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9892" y="4536638"/>
            <a:ext cx="267891" cy="26789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09737" y="3941802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API 測試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1709737" y="4327922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位置：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tests/auto/api/cart/, tests/auto/api/login/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709737" y="4720828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特性：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直接驗證後端邏輯，執行快速，不依賴 UI 層。維護成本低且穩定性高。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709737" y="5113734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後端邏輯、權限驗證、資料驗證、API 契約測試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93790" y="5779532"/>
            <a:ext cx="7556421" cy="1860590"/>
          </a:xfrm>
          <a:prstGeom prst="roundRect">
            <a:avLst>
              <a:gd name="adj" fmla="val 1440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16650" y="5802392"/>
            <a:ext cx="714494" cy="1814870"/>
          </a:xfrm>
          <a:prstGeom prst="rect">
            <a:avLst/>
          </a:prstGeom>
          <a:solidFill>
            <a:srgbClr val="F0EDE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39892" y="6575822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09737" y="5980986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手動測試</a:t>
            </a:r>
            <a:endParaRPr lang="en-US" sz="1750" dirty="0"/>
          </a:p>
        </p:txBody>
      </p:sp>
      <p:sp>
        <p:nvSpPr>
          <p:cNvPr id="22" name="Text 16"/>
          <p:cNvSpPr/>
          <p:nvPr/>
        </p:nvSpPr>
        <p:spPr>
          <a:xfrm>
            <a:off x="1709737" y="6367105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位置：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tests/manual/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709737" y="6760012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特性：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需人工介入的測試案例，如輸入真實 OTP、OAuth 第三方登入授權。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709737" y="7152918"/>
            <a:ext cx="643901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適用：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第三方整合、驗證碼流程、特殊權限操作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2318"/>
            <a:ext cx="3225165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資料流與核心流程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93790" y="1857018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登入流程（E2E）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93790" y="2485787"/>
            <a:ext cx="4261604" cy="951905"/>
          </a:xfrm>
          <a:prstGeom prst="roundRect">
            <a:avLst>
              <a:gd name="adj" fmla="val 7685"/>
            </a:avLst>
          </a:prstGeom>
          <a:solidFill>
            <a:srgbClr val="FCFBF8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2470547"/>
            <a:ext cx="4261604" cy="60960"/>
          </a:xfrm>
          <a:prstGeom prst="roundRect">
            <a:avLst>
              <a:gd name="adj" fmla="val 31744"/>
            </a:avLst>
          </a:prstGeom>
          <a:solidFill>
            <a:srgbClr val="1B5F39"/>
          </a:solidFill>
          <a:ln/>
        </p:spPr>
      </p:sp>
      <p:sp>
        <p:nvSpPr>
          <p:cNvPr id="6" name="Shape 4"/>
          <p:cNvSpPr/>
          <p:nvPr/>
        </p:nvSpPr>
        <p:spPr>
          <a:xfrm>
            <a:off x="2731056" y="2292310"/>
            <a:ext cx="386953" cy="386953"/>
          </a:xfrm>
          <a:prstGeom prst="roundRect">
            <a:avLst>
              <a:gd name="adj" fmla="val 236308"/>
            </a:avLst>
          </a:prstGeom>
          <a:solidFill>
            <a:srgbClr val="1B5F3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47142" y="2408277"/>
            <a:ext cx="154781" cy="1547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7974" y="2808208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輸入資訊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7974" y="3087053"/>
            <a:ext cx="3973235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用戶輸入手機或 Email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84338" y="2485787"/>
            <a:ext cx="4261604" cy="951905"/>
          </a:xfrm>
          <a:prstGeom prst="roundRect">
            <a:avLst>
              <a:gd name="adj" fmla="val 7685"/>
            </a:avLst>
          </a:prstGeom>
          <a:solidFill>
            <a:srgbClr val="FCFBF8"/>
          </a:solidFill>
          <a:ln/>
        </p:spPr>
      </p:sp>
      <p:sp>
        <p:nvSpPr>
          <p:cNvPr id="11" name="Shape 8"/>
          <p:cNvSpPr/>
          <p:nvPr/>
        </p:nvSpPr>
        <p:spPr>
          <a:xfrm>
            <a:off x="5184338" y="2470547"/>
            <a:ext cx="4261604" cy="60960"/>
          </a:xfrm>
          <a:prstGeom prst="roundRect">
            <a:avLst>
              <a:gd name="adj" fmla="val 31744"/>
            </a:avLst>
          </a:prstGeom>
          <a:solidFill>
            <a:srgbClr val="1B5F39"/>
          </a:solidFill>
          <a:ln/>
        </p:spPr>
      </p:sp>
      <p:sp>
        <p:nvSpPr>
          <p:cNvPr id="12" name="Shape 9"/>
          <p:cNvSpPr/>
          <p:nvPr/>
        </p:nvSpPr>
        <p:spPr>
          <a:xfrm>
            <a:off x="7121604" y="2292310"/>
            <a:ext cx="386953" cy="386953"/>
          </a:xfrm>
          <a:prstGeom prst="roundRect">
            <a:avLst>
              <a:gd name="adj" fmla="val 236308"/>
            </a:avLst>
          </a:prstGeom>
          <a:solidFill>
            <a:srgbClr val="1B5F3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7690" y="2408277"/>
            <a:ext cx="154781" cy="15478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28523" y="2808208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發送 OTP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328523" y="3087053"/>
            <a:ext cx="3973235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後端發送驗證碼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574887" y="2485787"/>
            <a:ext cx="4261723" cy="951905"/>
          </a:xfrm>
          <a:prstGeom prst="roundRect">
            <a:avLst>
              <a:gd name="adj" fmla="val 7685"/>
            </a:avLst>
          </a:prstGeom>
          <a:solidFill>
            <a:srgbClr val="FCFBF8"/>
          </a:solidFill>
          <a:ln/>
        </p:spPr>
      </p:sp>
      <p:sp>
        <p:nvSpPr>
          <p:cNvPr id="17" name="Shape 13"/>
          <p:cNvSpPr/>
          <p:nvPr/>
        </p:nvSpPr>
        <p:spPr>
          <a:xfrm>
            <a:off x="9574887" y="2470547"/>
            <a:ext cx="4261723" cy="60960"/>
          </a:xfrm>
          <a:prstGeom prst="roundRect">
            <a:avLst>
              <a:gd name="adj" fmla="val 31744"/>
            </a:avLst>
          </a:prstGeom>
          <a:solidFill>
            <a:srgbClr val="1B5F39"/>
          </a:solidFill>
          <a:ln/>
        </p:spPr>
      </p:sp>
      <p:sp>
        <p:nvSpPr>
          <p:cNvPr id="18" name="Shape 14"/>
          <p:cNvSpPr/>
          <p:nvPr/>
        </p:nvSpPr>
        <p:spPr>
          <a:xfrm>
            <a:off x="11512272" y="2292310"/>
            <a:ext cx="386953" cy="386953"/>
          </a:xfrm>
          <a:prstGeom prst="roundRect">
            <a:avLst>
              <a:gd name="adj" fmla="val 236308"/>
            </a:avLst>
          </a:prstGeom>
          <a:solidFill>
            <a:srgbClr val="1B5F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28358" y="2408277"/>
            <a:ext cx="154781" cy="15478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719072" y="2808208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驗證 OTP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719072" y="3087053"/>
            <a:ext cx="3973354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用戶輸入驗證碼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93790" y="3760113"/>
            <a:ext cx="6456878" cy="951905"/>
          </a:xfrm>
          <a:prstGeom prst="roundRect">
            <a:avLst>
              <a:gd name="adj" fmla="val 7685"/>
            </a:avLst>
          </a:prstGeom>
          <a:solidFill>
            <a:srgbClr val="FCFBF8"/>
          </a:solidFill>
          <a:ln/>
        </p:spPr>
      </p:sp>
      <p:sp>
        <p:nvSpPr>
          <p:cNvPr id="23" name="Shape 18"/>
          <p:cNvSpPr/>
          <p:nvPr/>
        </p:nvSpPr>
        <p:spPr>
          <a:xfrm>
            <a:off x="793790" y="3744873"/>
            <a:ext cx="6456878" cy="60960"/>
          </a:xfrm>
          <a:prstGeom prst="roundRect">
            <a:avLst>
              <a:gd name="adj" fmla="val 31744"/>
            </a:avLst>
          </a:prstGeom>
          <a:solidFill>
            <a:srgbClr val="1B5F39"/>
          </a:solidFill>
          <a:ln/>
        </p:spPr>
      </p:sp>
      <p:sp>
        <p:nvSpPr>
          <p:cNvPr id="24" name="Shape 19"/>
          <p:cNvSpPr/>
          <p:nvPr/>
        </p:nvSpPr>
        <p:spPr>
          <a:xfrm>
            <a:off x="3828693" y="3566636"/>
            <a:ext cx="386953" cy="386953"/>
          </a:xfrm>
          <a:prstGeom prst="roundRect">
            <a:avLst>
              <a:gd name="adj" fmla="val 236308"/>
            </a:avLst>
          </a:prstGeom>
          <a:solidFill>
            <a:srgbClr val="1B5F39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44779" y="3682603"/>
            <a:ext cx="154781" cy="15478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7974" y="4082534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取得 Token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937974" y="4361378"/>
            <a:ext cx="6168509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返回 JWT Token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7379613" y="3760113"/>
            <a:ext cx="6456998" cy="951905"/>
          </a:xfrm>
          <a:prstGeom prst="roundRect">
            <a:avLst>
              <a:gd name="adj" fmla="val 7685"/>
            </a:avLst>
          </a:prstGeom>
          <a:solidFill>
            <a:srgbClr val="FCFBF8"/>
          </a:solidFill>
          <a:ln/>
        </p:spPr>
      </p:sp>
      <p:sp>
        <p:nvSpPr>
          <p:cNvPr id="29" name="Shape 23"/>
          <p:cNvSpPr/>
          <p:nvPr/>
        </p:nvSpPr>
        <p:spPr>
          <a:xfrm>
            <a:off x="7379613" y="3744873"/>
            <a:ext cx="6456998" cy="60960"/>
          </a:xfrm>
          <a:prstGeom prst="roundRect">
            <a:avLst>
              <a:gd name="adj" fmla="val 31744"/>
            </a:avLst>
          </a:prstGeom>
          <a:solidFill>
            <a:srgbClr val="1B5F39"/>
          </a:solidFill>
          <a:ln/>
        </p:spPr>
      </p:sp>
      <p:sp>
        <p:nvSpPr>
          <p:cNvPr id="30" name="Shape 24"/>
          <p:cNvSpPr/>
          <p:nvPr/>
        </p:nvSpPr>
        <p:spPr>
          <a:xfrm>
            <a:off x="10414635" y="3566636"/>
            <a:ext cx="386953" cy="386953"/>
          </a:xfrm>
          <a:prstGeom prst="roundRect">
            <a:avLst>
              <a:gd name="adj" fmla="val 236308"/>
            </a:avLst>
          </a:prstGeom>
          <a:solidFill>
            <a:srgbClr val="1B5F39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30721" y="3682603"/>
            <a:ext cx="154781" cy="154781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523798" y="4082534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登入完成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7523798" y="4361378"/>
            <a:ext cx="6168628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重導向會員中心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793790" y="4905494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購物車流程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793790" y="5340787"/>
            <a:ext cx="13042821" cy="1486376"/>
          </a:xfrm>
          <a:prstGeom prst="roundRect">
            <a:avLst>
              <a:gd name="adj" fmla="val 1302"/>
            </a:avLst>
          </a:prstGeom>
          <a:solidFill>
            <a:srgbClr val="F0EDE6"/>
          </a:solidFill>
          <a:ln/>
        </p:spPr>
      </p:sp>
      <p:sp>
        <p:nvSpPr>
          <p:cNvPr id="36" name="Shape 29"/>
          <p:cNvSpPr/>
          <p:nvPr/>
        </p:nvSpPr>
        <p:spPr>
          <a:xfrm>
            <a:off x="793790" y="5340787"/>
            <a:ext cx="4347567" cy="743188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sp>
        <p:nvSpPr>
          <p:cNvPr id="37" name="Text 30"/>
          <p:cNvSpPr/>
          <p:nvPr/>
        </p:nvSpPr>
        <p:spPr>
          <a:xfrm>
            <a:off x="922734" y="546973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加入商品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922734" y="5748576"/>
            <a:ext cx="4089678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未登入存 localStorage，已登入存後端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5141357" y="5340787"/>
            <a:ext cx="4347567" cy="743188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40" name="Shape 33"/>
          <p:cNvSpPr/>
          <p:nvPr/>
        </p:nvSpPr>
        <p:spPr>
          <a:xfrm>
            <a:off x="5141357" y="5340787"/>
            <a:ext cx="15240" cy="743188"/>
          </a:xfrm>
          <a:prstGeom prst="roundRect">
            <a:avLst>
              <a:gd name="adj" fmla="val 126977"/>
            </a:avLst>
          </a:prstGeom>
          <a:solidFill>
            <a:srgbClr val="D6D3CC"/>
          </a:solidFill>
          <a:ln/>
        </p:spPr>
      </p:sp>
      <p:sp>
        <p:nvSpPr>
          <p:cNvPr id="41" name="Text 34"/>
          <p:cNvSpPr/>
          <p:nvPr/>
        </p:nvSpPr>
        <p:spPr>
          <a:xfrm>
            <a:off x="5270302" y="546973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查詢購物車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5270302" y="5748576"/>
            <a:ext cx="4089678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GET /api/cart/cache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9488924" y="5340787"/>
            <a:ext cx="4347567" cy="743188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44" name="Shape 37"/>
          <p:cNvSpPr/>
          <p:nvPr/>
        </p:nvSpPr>
        <p:spPr>
          <a:xfrm>
            <a:off x="9488924" y="5340787"/>
            <a:ext cx="15240" cy="743188"/>
          </a:xfrm>
          <a:prstGeom prst="roundRect">
            <a:avLst>
              <a:gd name="adj" fmla="val 126977"/>
            </a:avLst>
          </a:prstGeom>
          <a:solidFill>
            <a:srgbClr val="D6D3CC"/>
          </a:solidFill>
          <a:ln/>
        </p:spPr>
      </p:sp>
      <p:sp>
        <p:nvSpPr>
          <p:cNvPr id="45" name="Text 38"/>
          <p:cNvSpPr/>
          <p:nvPr/>
        </p:nvSpPr>
        <p:spPr>
          <a:xfrm>
            <a:off x="9617869" y="546973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計算金額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9617869" y="5748576"/>
            <a:ext cx="4089678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POST /api/cart/calculate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793790" y="6083975"/>
            <a:ext cx="6521291" cy="743188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48" name="Shape 41"/>
          <p:cNvSpPr/>
          <p:nvPr/>
        </p:nvSpPr>
        <p:spPr>
          <a:xfrm>
            <a:off x="793790" y="6083975"/>
            <a:ext cx="6521291" cy="15240"/>
          </a:xfrm>
          <a:prstGeom prst="roundRect">
            <a:avLst>
              <a:gd name="adj" fmla="val 126977"/>
            </a:avLst>
          </a:prstGeom>
          <a:solidFill>
            <a:srgbClr val="D6D3CC"/>
          </a:solidFill>
          <a:ln/>
        </p:spPr>
      </p:sp>
      <p:sp>
        <p:nvSpPr>
          <p:cNvPr id="49" name="Text 42"/>
          <p:cNvSpPr/>
          <p:nvPr/>
        </p:nvSpPr>
        <p:spPr>
          <a:xfrm>
            <a:off x="922734" y="6212919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查詢優惠券</a:t>
            </a:r>
            <a:endParaRPr lang="en-US" sz="1250" dirty="0"/>
          </a:p>
        </p:txBody>
      </p:sp>
      <p:sp>
        <p:nvSpPr>
          <p:cNvPr id="50" name="Text 43"/>
          <p:cNvSpPr/>
          <p:nvPr/>
        </p:nvSpPr>
        <p:spPr>
          <a:xfrm>
            <a:off x="922734" y="6491764"/>
            <a:ext cx="6263402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GET /api/cart/available-coupons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7315081" y="6083975"/>
            <a:ext cx="6521410" cy="743188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52" name="Shape 45"/>
          <p:cNvSpPr/>
          <p:nvPr/>
        </p:nvSpPr>
        <p:spPr>
          <a:xfrm>
            <a:off x="7315081" y="6083975"/>
            <a:ext cx="15240" cy="743188"/>
          </a:xfrm>
          <a:prstGeom prst="roundRect">
            <a:avLst>
              <a:gd name="adj" fmla="val 126977"/>
            </a:avLst>
          </a:prstGeom>
          <a:solidFill>
            <a:srgbClr val="D6D3CC"/>
          </a:solidFill>
          <a:ln/>
        </p:spPr>
      </p:sp>
      <p:sp>
        <p:nvSpPr>
          <p:cNvPr id="53" name="Shape 46"/>
          <p:cNvSpPr/>
          <p:nvPr/>
        </p:nvSpPr>
        <p:spPr>
          <a:xfrm>
            <a:off x="7315081" y="6083975"/>
            <a:ext cx="6521410" cy="15240"/>
          </a:xfrm>
          <a:prstGeom prst="roundRect">
            <a:avLst>
              <a:gd name="adj" fmla="val 126977"/>
            </a:avLst>
          </a:prstGeom>
          <a:solidFill>
            <a:srgbClr val="D6D3CC"/>
          </a:solidFill>
          <a:ln/>
        </p:spPr>
      </p:sp>
      <p:sp>
        <p:nvSpPr>
          <p:cNvPr id="54" name="Text 47"/>
          <p:cNvSpPr/>
          <p:nvPr/>
        </p:nvSpPr>
        <p:spPr>
          <a:xfrm>
            <a:off x="7444026" y="6212919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送出訂單</a:t>
            </a:r>
            <a:endParaRPr lang="en-US" sz="1250" dirty="0"/>
          </a:p>
        </p:txBody>
      </p:sp>
      <p:sp>
        <p:nvSpPr>
          <p:cNvPr id="55" name="Text 48"/>
          <p:cNvSpPr/>
          <p:nvPr/>
        </p:nvSpPr>
        <p:spPr>
          <a:xfrm>
            <a:off x="7444026" y="6491764"/>
            <a:ext cx="6263521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POST /api/checkout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4809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451503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未來優化方向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4567595"/>
            <a:ext cx="270438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🚀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短期目標（1-2 個月）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5076111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完成 CI/CD 整合（GitHub Actions）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5463064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建立測試資料工廠（Faker.js）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3790" y="5850017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新增 Allure 報告系統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93790" y="6236970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實作自動通知機制（Slack/Email）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265182" y="4567595"/>
            <a:ext cx="274605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📊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中期目標（3-6 個月）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5265182" y="5076111"/>
            <a:ext cx="39796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擴充 Page Object（結帳、訂單、會員中心）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265182" y="5780603"/>
            <a:ext cx="39796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完善 API Helper（登入、訂單、用戶、商品）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265182" y="6485096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實作 Visual Regression Testing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265182" y="6872049"/>
            <a:ext cx="39796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整合測試管理工具（TestRail）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9736574" y="4567595"/>
            <a:ext cx="284357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🎯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長期目標（6-12 個月）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736574" y="5076111"/>
            <a:ext cx="411503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完整安全性測試覆蓋（OWASP Top 10）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9736574" y="5463064"/>
            <a:ext cx="411503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效能測試整合（Lighthouse / k6）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9736574" y="5850017"/>
            <a:ext cx="411503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多語系測試覆蓋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9736574" y="6236970"/>
            <a:ext cx="411503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無障礙測試（Accessibility Testing）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15816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專案總結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93790" y="1733550"/>
            <a:ext cx="3679031" cy="2096095"/>
          </a:xfrm>
          <a:prstGeom prst="roundRect">
            <a:avLst>
              <a:gd name="adj" fmla="val 1420"/>
            </a:avLst>
          </a:prstGeom>
          <a:solidFill>
            <a:srgbClr val="F0EDE6"/>
          </a:solidFill>
          <a:ln/>
        </p:spPr>
      </p:sp>
      <p:sp>
        <p:nvSpPr>
          <p:cNvPr id="5" name="Text 2"/>
          <p:cNvSpPr/>
          <p:nvPr/>
        </p:nvSpPr>
        <p:spPr>
          <a:xfrm>
            <a:off x="992148" y="193190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架構優勢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92148" y="2361128"/>
            <a:ext cx="3282315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採用分層架構 + Page Object Model 設計，確保高內聚、低耦合、易維護。各層級職責清晰，修改影響範圍可控。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671179" y="1733550"/>
            <a:ext cx="3679031" cy="2096095"/>
          </a:xfrm>
          <a:prstGeom prst="roundRect">
            <a:avLst>
              <a:gd name="adj" fmla="val 1420"/>
            </a:avLst>
          </a:prstGeom>
          <a:solidFill>
            <a:srgbClr val="F0EDE6"/>
          </a:solidFill>
          <a:ln/>
        </p:spPr>
      </p:sp>
      <p:sp>
        <p:nvSpPr>
          <p:cNvPr id="8" name="Text 5"/>
          <p:cNvSpPr/>
          <p:nvPr/>
        </p:nvSpPr>
        <p:spPr>
          <a:xfrm>
            <a:off x="4869537" y="193190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4869537" y="2361128"/>
            <a:ext cx="328231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E2E 與 API 雙軌測試並行，涵蓋 UI 互動與後端邏輯。從登入、購物車到結帳的完整業務流程皆有測試保障。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93790" y="4028003"/>
            <a:ext cx="7556421" cy="1461016"/>
          </a:xfrm>
          <a:prstGeom prst="roundRect">
            <a:avLst>
              <a:gd name="adj" fmla="val 2038"/>
            </a:avLst>
          </a:prstGeom>
          <a:solidFill>
            <a:srgbClr val="F0EDE6"/>
          </a:solidFill>
          <a:ln/>
        </p:spPr>
      </p:sp>
      <p:sp>
        <p:nvSpPr>
          <p:cNvPr id="11" name="Text 8"/>
          <p:cNvSpPr/>
          <p:nvPr/>
        </p:nvSpPr>
        <p:spPr>
          <a:xfrm>
            <a:off x="992148" y="422636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持續優化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92148" y="4655582"/>
            <a:ext cx="715970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透過 CI/CD 整合、測試資料工廠、視覺回歸測試等優化措施，持續提升測試效率與專案品質。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93790" y="5712262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本測試框架為 DogCatStar 電商平台提供完善的品質保障，透過自動化測試大幅減少人工測試成本，提早發現潛在問題，確保每次發布都能維持高品質標準。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793790" y="6570583"/>
            <a:ext cx="7556421" cy="843201"/>
          </a:xfrm>
          <a:prstGeom prst="roundRect">
            <a:avLst>
              <a:gd name="adj" fmla="val 3531"/>
            </a:avLst>
          </a:prstGeom>
          <a:solidFill>
            <a:srgbClr val="C3EED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48" y="6873478"/>
            <a:ext cx="248007" cy="19835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38513" y="6818471"/>
            <a:ext cx="67133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文件維護者：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Howie｜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最後更新：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2025-01-29｜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版本：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v1.0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2025-10-29T00:53:56Z</dcterms:created>
  <dcterms:modified xsi:type="dcterms:W3CDTF">2025-10-29T00:53:56Z</dcterms:modified>
</cp:coreProperties>
</file>