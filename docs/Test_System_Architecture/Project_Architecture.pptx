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ice" pitchFamily="2" charset="0"/>
      <p:regular r:id="rId13"/>
    </p:embeddedFont>
    <p:embeddedFont>
      <p:font typeface="Lora" pitchFamily="2" charset="0"/>
      <p:regular r:id="rId14"/>
      <p:bold r:id="rId15"/>
      <p:italic r:id="rId16"/>
      <p:boldItalic r:id="rId17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598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38393"/>
            <a:ext cx="558998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DogCatStar E2E 測試架構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25612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企業級電商平台自動化測試框架，基於 Playwright 打造的完整測試解決方案。涵蓋 E2E 與 API 雙軌測試，針對登入、購物車與結帳核心流程提供全面覆蓋。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124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專案核心特色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28161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992148" y="262651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9" y="2790111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4201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分層架構設計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3849410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清晰的職責劃分，採用高內聚低耦合原則，確保各層級獨立運作且易於維護。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2428161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7612737" y="262651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6448" y="2790111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12737" y="34201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Page Object Model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12737" y="384941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將頁面元素與操作邏輯封裝，大幅提升測試可讀性與後續維護效率。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3790" y="4881205"/>
            <a:ext cx="6422231" cy="1937147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992148" y="507956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5859" y="5243155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2148" y="58732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E2E + API 雙軌測試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92148" y="6302454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完整覆蓋前端 UI 互動與後端邏輯驗證，確保系統各層面運作正常。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4379" y="4881205"/>
            <a:ext cx="6422231" cy="1937147"/>
          </a:xfrm>
          <a:prstGeom prst="roundRect">
            <a:avLst>
              <a:gd name="adj" fmla="val 1537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7612737" y="507956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5F3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6448" y="5243155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12737" y="58732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Storage State 認證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12737" y="6302454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避免重複登入流程，大幅減少測試執行時間，提升整體測試效率。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1504"/>
            <a:ext cx="421755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專案目錄結構</a:t>
            </a:r>
            <a:endParaRPr lang="en-US" sz="3300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0B615F3B-99C2-F3D6-E667-AD2C5A8494D7}"/>
              </a:ext>
            </a:extLst>
          </p:cNvPr>
          <p:cNvGrpSpPr/>
          <p:nvPr/>
        </p:nvGrpSpPr>
        <p:grpSpPr>
          <a:xfrm>
            <a:off x="793790" y="1533405"/>
            <a:ext cx="4970145" cy="5028759"/>
            <a:chOff x="793790" y="1533406"/>
            <a:chExt cx="4970145" cy="4197310"/>
          </a:xfrm>
        </p:grpSpPr>
        <p:sp>
          <p:nvSpPr>
            <p:cNvPr id="3" name="Text 1"/>
            <p:cNvSpPr/>
            <p:nvPr/>
          </p:nvSpPr>
          <p:spPr>
            <a:xfrm>
              <a:off x="793790" y="1533406"/>
              <a:ext cx="4970145" cy="3449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000" dirty="0">
                  <a:solidFill>
                    <a:srgbClr val="00000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📂</a:t>
              </a:r>
              <a:r>
                <a:rPr lang="en-US" sz="20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核心資料夾</a:t>
              </a:r>
              <a:endParaRPr lang="en-US" sz="2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793790" y="2030135"/>
              <a:ext cx="4970145" cy="3373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docs/</a:t>
              </a: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- 完整文件與測試計畫</a:t>
              </a:r>
              <a:endParaRPr lang="en-US" sz="16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93790" y="2426375"/>
              <a:ext cx="4970145" cy="3373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fixtures/</a:t>
              </a: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- 測試資料與認證狀態</a:t>
              </a:r>
              <a:endParaRPr lang="en-US" sz="16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793790" y="2822615"/>
              <a:ext cx="4970145" cy="3373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helpers/</a:t>
              </a: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- 共用輔助工具與 API 封裝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93790" y="3218855"/>
              <a:ext cx="4970145" cy="3373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pages/</a:t>
              </a: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- Page Object Model 實作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93790" y="3615095"/>
              <a:ext cx="4970145" cy="3373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tests/</a:t>
              </a: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- E2E 與 API 測試案例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93790" y="4104203"/>
              <a:ext cx="4970145" cy="3449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000" dirty="0">
                  <a:solidFill>
                    <a:srgbClr val="000000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📋</a:t>
              </a:r>
              <a:r>
                <a:rPr lang="en-US" sz="20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重要檔案</a:t>
              </a:r>
              <a:endParaRPr lang="en-US" sz="2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93790" y="4600932"/>
              <a:ext cx="4970145" cy="3373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authStorageState.json</a:t>
              </a: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- 登入狀態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93790" y="4997172"/>
              <a:ext cx="4970145" cy="3373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api-tokens.json</a:t>
              </a: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- API 測試 tokens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93790" y="5393412"/>
              <a:ext cx="4970145" cy="3373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1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test-accounts.json</a:t>
              </a: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 - 測試帳號資訊</a:t>
              </a:r>
              <a:endParaRPr lang="en-US" sz="1600" dirty="0"/>
            </a:p>
          </p:txBody>
        </p:sp>
      </p:grp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928" y="1571387"/>
            <a:ext cx="5175171" cy="517517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83035" y="6936343"/>
            <a:ext cx="7661077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Lora" pitchFamily="34" charset="-120"/>
              </a:rPr>
              <a:t>所有敏感資料檔案（如 authStorageState.json、api-tokens.json）已加入 .gitignore，確保不會被提交至版本控制系統。團隊成員需根據 .example 範例檔案建立自己的測試資料。</a:t>
            </a:r>
            <a:endParaRPr lang="en-US" sz="1300" dirty="0">
              <a:latin typeface="Alice" pitchFamily="2" charset="0"/>
              <a:ea typeface="Alice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62226"/>
            <a:ext cx="5250656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Page Object Model 設計模式</a:t>
            </a:r>
            <a:endParaRPr lang="en-US" sz="3300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6063E65D-0B26-C0D0-26A2-8E57030C0BD8}"/>
              </a:ext>
            </a:extLst>
          </p:cNvPr>
          <p:cNvGrpSpPr/>
          <p:nvPr/>
        </p:nvGrpSpPr>
        <p:grpSpPr>
          <a:xfrm>
            <a:off x="6280190" y="1442323"/>
            <a:ext cx="7556421" cy="5998488"/>
            <a:chOff x="6280190" y="1442323"/>
            <a:chExt cx="7556421" cy="5998488"/>
          </a:xfrm>
        </p:grpSpPr>
        <p:sp>
          <p:nvSpPr>
            <p:cNvPr id="4" name="Text 1"/>
            <p:cNvSpPr/>
            <p:nvPr/>
          </p:nvSpPr>
          <p:spPr>
            <a:xfrm>
              <a:off x="6280190" y="1442323"/>
              <a:ext cx="7556421" cy="5398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POM 將頁面元素與操作邏輯封裝到獨立類別中，當 UI 變動時只需修改 Page Object，測試案例無需調整。這種設計大幅提升程式碼可維護性與團隊協作效率。</a:t>
              </a:r>
              <a:endParaRPr lang="en-US" sz="16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6280190" y="2171938"/>
              <a:ext cx="168593" cy="2108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Alice Light" pitchFamily="34" charset="0"/>
                  <a:ea typeface="Alice Light" pitchFamily="34" charset="-122"/>
                  <a:cs typeface="Alice Light" pitchFamily="34" charset="-120"/>
                </a:rPr>
                <a:t>01</a:t>
              </a:r>
              <a:endParaRPr lang="en-US" sz="16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6280190" y="2435781"/>
              <a:ext cx="7556421" cy="22860"/>
            </a:xfrm>
            <a:prstGeom prst="rect">
              <a:avLst/>
            </a:prstGeom>
            <a:solidFill>
              <a:srgbClr val="1B5F39"/>
            </a:solidFill>
            <a:ln/>
          </p:spPr>
        </p:sp>
        <p:sp>
          <p:nvSpPr>
            <p:cNvPr id="7" name="Text 4"/>
            <p:cNvSpPr/>
            <p:nvPr/>
          </p:nvSpPr>
          <p:spPr>
            <a:xfrm>
              <a:off x="6280190" y="2565797"/>
              <a:ext cx="2108716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base.page.ts</a:t>
              </a:r>
              <a:endParaRPr lang="en-US" sz="20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6280190" y="2930485"/>
              <a:ext cx="7556421" cy="2699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基礎類別，提供共用方法如 goto()、waitForElement()，所有頁面物件繼承此類別。</a:t>
              </a:r>
              <a:endParaRPr lang="en-US" sz="16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280190" y="3495437"/>
              <a:ext cx="168593" cy="2108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Alice Light" pitchFamily="34" charset="0"/>
                  <a:ea typeface="Alice Light" pitchFamily="34" charset="-122"/>
                  <a:cs typeface="Alice Light" pitchFamily="34" charset="-120"/>
                </a:rPr>
                <a:t>02</a:t>
              </a:r>
              <a:endParaRPr lang="en-US" sz="16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6280190" y="3759279"/>
              <a:ext cx="7556421" cy="22860"/>
            </a:xfrm>
            <a:prstGeom prst="rect">
              <a:avLst/>
            </a:prstGeom>
            <a:solidFill>
              <a:srgbClr val="1B5F39"/>
            </a:solidFill>
            <a:ln/>
          </p:spPr>
        </p:sp>
        <p:sp>
          <p:nvSpPr>
            <p:cNvPr id="11" name="Text 8"/>
            <p:cNvSpPr/>
            <p:nvPr/>
          </p:nvSpPr>
          <p:spPr>
            <a:xfrm>
              <a:off x="6280190" y="3889296"/>
              <a:ext cx="2108716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login.page.ts</a:t>
              </a:r>
              <a:endParaRPr lang="en-US" sz="20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280190" y="4253984"/>
              <a:ext cx="7556421" cy="5398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封裝登入流程、OTP 輸入、OAuth 認證等操作，包含 fillPhone()、fillEmail()、clickConfirmButton() 等方法。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280190" y="5088850"/>
              <a:ext cx="168593" cy="2108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Alice Light" pitchFamily="34" charset="0"/>
                  <a:ea typeface="Alice Light" pitchFamily="34" charset="-122"/>
                  <a:cs typeface="Alice Light" pitchFamily="34" charset="-120"/>
                </a:rPr>
                <a:t>03</a:t>
              </a:r>
              <a:endParaRPr lang="en-US" sz="16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6280190" y="5352693"/>
              <a:ext cx="7556421" cy="22860"/>
            </a:xfrm>
            <a:prstGeom prst="rect">
              <a:avLst/>
            </a:prstGeom>
            <a:solidFill>
              <a:srgbClr val="1B5F39"/>
            </a:solidFill>
            <a:ln/>
          </p:spPr>
        </p:sp>
        <p:sp>
          <p:nvSpPr>
            <p:cNvPr id="15" name="Text 12"/>
            <p:cNvSpPr/>
            <p:nvPr/>
          </p:nvSpPr>
          <p:spPr>
            <a:xfrm>
              <a:off x="6280190" y="5482709"/>
              <a:ext cx="2108716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cart.page.ts</a:t>
              </a:r>
              <a:endParaRPr lang="en-US" sz="20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280190" y="5847398"/>
              <a:ext cx="7556421" cy="2699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購物車頁面操作，包含 getCartItemCount()、clearCart()、updateQuantity() </a:t>
              </a:r>
              <a:b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</a:br>
              <a:r>
                <a:rPr lang="en-US" sz="1600" dirty="0" err="1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等購物車管理功能</a:t>
              </a: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。</a:t>
              </a:r>
              <a:endParaRPr lang="en-US" sz="1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6280190" y="6412349"/>
              <a:ext cx="168593" cy="2108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Alice Light" pitchFamily="34" charset="0"/>
                  <a:ea typeface="Alice Light" pitchFamily="34" charset="-122"/>
                  <a:cs typeface="Alice Light" pitchFamily="34" charset="-120"/>
                </a:rPr>
                <a:t>04</a:t>
              </a:r>
              <a:endParaRPr lang="en-US" sz="16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6280190" y="6676192"/>
              <a:ext cx="7556421" cy="22860"/>
            </a:xfrm>
            <a:prstGeom prst="rect">
              <a:avLst/>
            </a:prstGeom>
            <a:solidFill>
              <a:srgbClr val="1B5F39"/>
            </a:solidFill>
            <a:ln/>
          </p:spPr>
        </p:sp>
        <p:sp>
          <p:nvSpPr>
            <p:cNvPr id="19" name="Text 16"/>
            <p:cNvSpPr/>
            <p:nvPr/>
          </p:nvSpPr>
          <p:spPr>
            <a:xfrm>
              <a:off x="6280190" y="6806208"/>
              <a:ext cx="2108716" cy="2634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2000" dirty="0">
                  <a:solidFill>
                    <a:srgbClr val="2C2821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product.page.ts</a:t>
              </a:r>
              <a:endParaRPr lang="en-US" sz="20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6280190" y="7170896"/>
              <a:ext cx="7556421" cy="26991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商品頁面操作，提供 selectProduct()、addToCart() </a:t>
              </a:r>
              <a:r>
                <a:rPr lang="en-US" sz="1600" dirty="0" err="1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等方法處理商品選擇與</a:t>
              </a:r>
              <a:b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</a:br>
              <a:r>
                <a:rPr lang="en-US" sz="1600" dirty="0" err="1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加入購物車邏輯</a:t>
              </a:r>
              <a:r>
                <a:rPr lang="en-US" sz="1600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。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396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系統分層架構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48533"/>
            <a:ext cx="6422231" cy="1705094"/>
          </a:xfrm>
          <a:prstGeom prst="roundRect">
            <a:avLst>
              <a:gd name="adj" fmla="val 1746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2571393"/>
            <a:ext cx="6376511" cy="198358"/>
          </a:xfrm>
          <a:prstGeom prst="roundRect">
            <a:avLst>
              <a:gd name="adj" fmla="val 1179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1015008" y="29681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Test Cases 測試案例層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15008" y="3397329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位於 tests/ 目錄，負責定義業務邏輯與測試情境，呼叫 Page Object 執行操作。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250877"/>
            <a:ext cx="6422231" cy="2002750"/>
          </a:xfrm>
          <a:prstGeom prst="roundRect">
            <a:avLst>
              <a:gd name="adj" fmla="val 1487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37239" y="2273737"/>
            <a:ext cx="6376511" cy="198358"/>
          </a:xfrm>
          <a:prstGeom prst="roundRect">
            <a:avLst>
              <a:gd name="adj" fmla="val 1179"/>
            </a:avLst>
          </a:prstGeom>
          <a:solidFill>
            <a:srgbClr val="F0EDE6"/>
          </a:solidFill>
          <a:ln/>
        </p:spPr>
      </p:sp>
      <p:sp>
        <p:nvSpPr>
          <p:cNvPr id="9" name="Text 7"/>
          <p:cNvSpPr/>
          <p:nvPr/>
        </p:nvSpPr>
        <p:spPr>
          <a:xfrm>
            <a:off x="7635597" y="2670453"/>
            <a:ext cx="27142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Page Objects 頁面物件層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35597" y="3099673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位於 pages/ 目錄，封裝 UI 操作與元素定位，提供語意化的方法介面。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749641"/>
            <a:ext cx="6422231" cy="1705094"/>
          </a:xfrm>
          <a:prstGeom prst="roundRect">
            <a:avLst>
              <a:gd name="adj" fmla="val 1746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650" y="4772501"/>
            <a:ext cx="6376511" cy="198358"/>
          </a:xfrm>
          <a:prstGeom prst="roundRect">
            <a:avLst>
              <a:gd name="adj" fmla="val 1179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1015008" y="51692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Helpers 工具層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15008" y="5598438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位於 helpers/ 目錄，處理 API 請求封裝與共用邏輯，如 cartApiHelper.ts。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451985"/>
            <a:ext cx="6422231" cy="2002750"/>
          </a:xfrm>
          <a:prstGeom prst="roundRect">
            <a:avLst>
              <a:gd name="adj" fmla="val 1487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7239" y="4474845"/>
            <a:ext cx="6376511" cy="198358"/>
          </a:xfrm>
          <a:prstGeom prst="roundRect">
            <a:avLst>
              <a:gd name="adj" fmla="val 1179"/>
            </a:avLst>
          </a:prstGeom>
          <a:solidFill>
            <a:srgbClr val="F0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597" y="48715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Fixtures 資料層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35597" y="5300782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位於 fixtures/ 目錄，管理測試資料、認證狀態與設定檔，支援測試執行。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3790" y="667797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Lora" pitchFamily="34" charset="-120"/>
              </a:rPr>
              <a:t>此架構確保各層級職責清晰，修改某一層不會影響其他層，符合軟體工程的關注點分離原則。</a:t>
            </a:r>
            <a:endParaRPr lang="en-US" sz="1400" dirty="0">
              <a:latin typeface="Alice" pitchFamily="2" charset="0"/>
              <a:ea typeface="Alice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60" y="436483"/>
            <a:ext cx="4023122" cy="49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Storage State 認證機制</a:t>
            </a:r>
            <a:endParaRPr lang="en-US" sz="3100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6F8EE6B1-9B15-E8E2-A9D3-C3BFC8986D83}"/>
              </a:ext>
            </a:extLst>
          </p:cNvPr>
          <p:cNvGrpSpPr/>
          <p:nvPr/>
        </p:nvGrpSpPr>
        <p:grpSpPr>
          <a:xfrm>
            <a:off x="634960" y="1826755"/>
            <a:ext cx="6486644" cy="4036162"/>
            <a:chOff x="634960" y="1329214"/>
            <a:chExt cx="6486644" cy="2661642"/>
          </a:xfrm>
        </p:grpSpPr>
        <p:sp>
          <p:nvSpPr>
            <p:cNvPr id="3" name="Text 1"/>
            <p:cNvSpPr/>
            <p:nvPr/>
          </p:nvSpPr>
          <p:spPr>
            <a:xfrm>
              <a:off x="634960" y="1329214"/>
              <a:ext cx="1984296" cy="2480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2000" dirty="0">
                  <a:solidFill>
                    <a:srgbClr val="233E32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運作原理</a:t>
              </a:r>
              <a:endParaRPr lang="en-US" sz="20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634960" y="1735931"/>
              <a:ext cx="6486644" cy="5076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透過一次性登入產生 authStorageState.json，儲存 cookies 與 localStorage 資訊。後續測試案例載入此狀態檔案，直接以已登入身份執行，省略重複登入步驟。</a:t>
              </a:r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34960" y="2402324"/>
              <a:ext cx="1984296" cy="2480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2000" dirty="0">
                  <a:solidFill>
                    <a:srgbClr val="233E32"/>
                  </a:solidFill>
                  <a:latin typeface="Alice" pitchFamily="34" charset="0"/>
                  <a:ea typeface="Alice" pitchFamily="34" charset="-122"/>
                  <a:cs typeface="Alice" pitchFamily="34" charset="-120"/>
                </a:rPr>
                <a:t>執行流程</a:t>
              </a:r>
              <a:endParaRPr lang="en-US" sz="2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634960" y="2809042"/>
              <a:ext cx="6486644" cy="253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Font typeface="+mj-lt"/>
                <a:buAutoNum type="arabicPeriod"/>
              </a:pPr>
              <a:r>
                <a:rPr lang="en-US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執行 tests/manual/auth.spec.ts 產生認證狀態</a:t>
              </a: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34960" y="3118366"/>
              <a:ext cx="6486644" cy="253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Font typeface="+mj-lt"/>
                <a:buAutoNum type="arabicPeriod" startAt="2"/>
              </a:pPr>
              <a:r>
                <a:rPr lang="en-US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儲存至 fixtures/authStorageState.json</a:t>
              </a:r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34960" y="3427690"/>
              <a:ext cx="6486644" cy="253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Font typeface="+mj-lt"/>
                <a:buAutoNum type="arabicPeriod" startAt="3"/>
              </a:pPr>
              <a:r>
                <a:rPr lang="en-US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測試案例透過 storageState 參數載入</a:t>
              </a: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34960" y="3737015"/>
              <a:ext cx="6486644" cy="2538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Font typeface="+mj-lt"/>
                <a:buAutoNum type="arabicPeriod" startAt="4"/>
              </a:pPr>
              <a:r>
                <a:rPr lang="en-US" dirty="0">
                  <a:solidFill>
                    <a:srgbClr val="2C2821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直接進入測試核心邏輯</a:t>
              </a:r>
              <a:endParaRPr lang="en-US" dirty="0"/>
            </a:p>
          </p:txBody>
        </p:sp>
      </p:grp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357" y="1329214"/>
            <a:ext cx="6065113" cy="606511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65531" y="7698328"/>
            <a:ext cx="6674903" cy="33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Lora" pitchFamily="34" charset="-120"/>
              </a:rPr>
              <a:t>效能提升：</a:t>
            </a:r>
            <a:r>
              <a:rPr lang="en-US" sz="120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Lora" pitchFamily="34" charset="-120"/>
              </a:rPr>
              <a:t>每個測試案例節省 5-10 秒登入時間，當測試案例數量增加時，總體時間節省相當可觀。</a:t>
            </a:r>
            <a:endParaRPr lang="en-US" sz="1200" dirty="0">
              <a:latin typeface="Alice" pitchFamily="2" charset="0"/>
              <a:ea typeface="Alice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89359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測試分類與策略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793790" y="1415415"/>
            <a:ext cx="7556421" cy="2146340"/>
          </a:xfrm>
          <a:prstGeom prst="roundRect">
            <a:avLst>
              <a:gd name="adj" fmla="val 1248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6650" y="1438275"/>
            <a:ext cx="714494" cy="2100620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9892" y="2354580"/>
            <a:ext cx="267891" cy="2678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09737" y="161686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E2E 測試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709737" y="2002988"/>
            <a:ext cx="64390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位置：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tests/auto/cart/, tests/auto/login/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709737" y="2395895"/>
            <a:ext cx="64390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特性：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模擬真實用戶操作，驗證完整流程，涵蓋 UI 與後端整合。執行速度較慢但最接近實際使用情境。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709737" y="3074551"/>
            <a:ext cx="64390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適用：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用戶旅程、UI 交互、跨頁面流程驗證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93790" y="3740348"/>
            <a:ext cx="7556421" cy="1860590"/>
          </a:xfrm>
          <a:prstGeom prst="roundRect">
            <a:avLst>
              <a:gd name="adj" fmla="val 1440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16650" y="3763208"/>
            <a:ext cx="714494" cy="1814870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9892" y="4536638"/>
            <a:ext cx="267891" cy="2678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09737" y="394180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API 測試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709737" y="4327922"/>
            <a:ext cx="64390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位置：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tests/auto/api/cart/, tests/auto/api/login/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709737" y="4720828"/>
            <a:ext cx="64390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特性：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直接驗證後端邏輯，執行快速，不依賴 UI 層。維護成本低且穩定性高。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709737" y="5113734"/>
            <a:ext cx="64390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適用：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後端邏輯、權限驗證、資料驗證、API 契約測試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93790" y="5779532"/>
            <a:ext cx="7556421" cy="1860590"/>
          </a:xfrm>
          <a:prstGeom prst="roundRect">
            <a:avLst>
              <a:gd name="adj" fmla="val 1440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16650" y="5802392"/>
            <a:ext cx="714494" cy="1814870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9892" y="6575822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09737" y="598098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手動測試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1709737" y="6367105"/>
            <a:ext cx="64390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位置：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tests/manual/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709737" y="6760012"/>
            <a:ext cx="64390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特性：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需人工介入的測試案例，如輸入真實 OTP、OAuth 第三方登入授權。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709737" y="7152918"/>
            <a:ext cx="64390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適用：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第三方整合、驗證碼流程、特殊權限操作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3376"/>
            <a:ext cx="3275144" cy="513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資料流與核心流程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93790" y="1931391"/>
            <a:ext cx="1965111" cy="308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登入流程（E2E）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3790" y="2625481"/>
            <a:ext cx="4327644" cy="1019698"/>
          </a:xfrm>
          <a:prstGeom prst="roundRect">
            <a:avLst>
              <a:gd name="adj" fmla="val 7685"/>
            </a:avLst>
          </a:prstGeom>
          <a:solidFill>
            <a:srgbClr val="FCFBF8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609155"/>
            <a:ext cx="4327644" cy="65301"/>
          </a:xfrm>
          <a:prstGeom prst="roundRect">
            <a:avLst>
              <a:gd name="adj" fmla="val 31744"/>
            </a:avLst>
          </a:prstGeom>
          <a:solidFill>
            <a:srgbClr val="1B5F39"/>
          </a:solidFill>
          <a:ln/>
        </p:spPr>
      </p:sp>
      <p:sp>
        <p:nvSpPr>
          <p:cNvPr id="6" name="Shape 4"/>
          <p:cNvSpPr/>
          <p:nvPr/>
        </p:nvSpPr>
        <p:spPr>
          <a:xfrm>
            <a:off x="2761077" y="2418225"/>
            <a:ext cx="392949" cy="414511"/>
          </a:xfrm>
          <a:prstGeom prst="roundRect">
            <a:avLst>
              <a:gd name="adj" fmla="val 236308"/>
            </a:avLst>
          </a:prstGeom>
          <a:solidFill>
            <a:srgbClr val="1B5F3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8962" y="2542451"/>
            <a:ext cx="157180" cy="1658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8696" y="2970864"/>
            <a:ext cx="1637572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輸入資訊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67102" y="3269568"/>
            <a:ext cx="4034806" cy="22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用戶輸入手機或 Email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52376" y="2625481"/>
            <a:ext cx="4327644" cy="1019698"/>
          </a:xfrm>
          <a:prstGeom prst="roundRect">
            <a:avLst>
              <a:gd name="adj" fmla="val 7685"/>
            </a:avLst>
          </a:prstGeom>
          <a:solidFill>
            <a:srgbClr val="FCFBF8"/>
          </a:solidFill>
          <a:ln/>
        </p:spPr>
      </p:sp>
      <p:sp>
        <p:nvSpPr>
          <p:cNvPr id="11" name="Shape 8"/>
          <p:cNvSpPr/>
          <p:nvPr/>
        </p:nvSpPr>
        <p:spPr>
          <a:xfrm>
            <a:off x="5252376" y="2609155"/>
            <a:ext cx="4327644" cy="65301"/>
          </a:xfrm>
          <a:prstGeom prst="roundRect">
            <a:avLst>
              <a:gd name="adj" fmla="val 31744"/>
            </a:avLst>
          </a:prstGeom>
          <a:solidFill>
            <a:srgbClr val="1B5F39"/>
          </a:solidFill>
          <a:ln/>
        </p:spPr>
      </p:sp>
      <p:sp>
        <p:nvSpPr>
          <p:cNvPr id="12" name="Shape 9"/>
          <p:cNvSpPr/>
          <p:nvPr/>
        </p:nvSpPr>
        <p:spPr>
          <a:xfrm>
            <a:off x="7219663" y="2418225"/>
            <a:ext cx="392949" cy="414511"/>
          </a:xfrm>
          <a:prstGeom prst="roundRect">
            <a:avLst>
              <a:gd name="adj" fmla="val 236308"/>
            </a:avLst>
          </a:prstGeom>
          <a:solidFill>
            <a:srgbClr val="1B5F3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37548" y="2542451"/>
            <a:ext cx="157180" cy="1658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70389" y="2970864"/>
            <a:ext cx="1637572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發送 OTP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398795" y="3269568"/>
            <a:ext cx="4034806" cy="22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後端發送驗證碼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710963" y="2625481"/>
            <a:ext cx="4327765" cy="1019698"/>
          </a:xfrm>
          <a:prstGeom prst="roundRect">
            <a:avLst>
              <a:gd name="adj" fmla="val 7685"/>
            </a:avLst>
          </a:prstGeom>
          <a:solidFill>
            <a:srgbClr val="FCFBF8"/>
          </a:solidFill>
          <a:ln/>
        </p:spPr>
      </p:sp>
      <p:sp>
        <p:nvSpPr>
          <p:cNvPr id="17" name="Shape 13"/>
          <p:cNvSpPr/>
          <p:nvPr/>
        </p:nvSpPr>
        <p:spPr>
          <a:xfrm>
            <a:off x="9710963" y="2609155"/>
            <a:ext cx="4327765" cy="65301"/>
          </a:xfrm>
          <a:prstGeom prst="roundRect">
            <a:avLst>
              <a:gd name="adj" fmla="val 31744"/>
            </a:avLst>
          </a:prstGeom>
          <a:solidFill>
            <a:srgbClr val="1B5F39"/>
          </a:solidFill>
          <a:ln/>
        </p:spPr>
      </p:sp>
      <p:sp>
        <p:nvSpPr>
          <p:cNvPr id="18" name="Shape 14"/>
          <p:cNvSpPr/>
          <p:nvPr/>
        </p:nvSpPr>
        <p:spPr>
          <a:xfrm>
            <a:off x="11678371" y="2418225"/>
            <a:ext cx="392949" cy="414511"/>
          </a:xfrm>
          <a:prstGeom prst="roundRect">
            <a:avLst>
              <a:gd name="adj" fmla="val 236308"/>
            </a:avLst>
          </a:prstGeom>
          <a:solidFill>
            <a:srgbClr val="1B5F39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96256" y="2542451"/>
            <a:ext cx="157180" cy="1658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88636" y="2970864"/>
            <a:ext cx="1637572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驗證 OTP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9870830" y="3269568"/>
            <a:ext cx="4034927" cy="22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用戶輸入驗證碼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93790" y="3990563"/>
            <a:ext cx="6556937" cy="1019698"/>
          </a:xfrm>
          <a:prstGeom prst="roundRect">
            <a:avLst>
              <a:gd name="adj" fmla="val 7685"/>
            </a:avLst>
          </a:prstGeom>
          <a:solidFill>
            <a:srgbClr val="FCFBF8"/>
          </a:solidFill>
          <a:ln/>
        </p:spPr>
      </p:sp>
      <p:sp>
        <p:nvSpPr>
          <p:cNvPr id="23" name="Shape 18"/>
          <p:cNvSpPr/>
          <p:nvPr/>
        </p:nvSpPr>
        <p:spPr>
          <a:xfrm>
            <a:off x="793790" y="3974238"/>
            <a:ext cx="6556937" cy="65301"/>
          </a:xfrm>
          <a:prstGeom prst="roundRect">
            <a:avLst>
              <a:gd name="adj" fmla="val 31744"/>
            </a:avLst>
          </a:prstGeom>
          <a:solidFill>
            <a:srgbClr val="1B5F39"/>
          </a:solidFill>
          <a:ln/>
        </p:spPr>
      </p:sp>
      <p:sp>
        <p:nvSpPr>
          <p:cNvPr id="24" name="Shape 19"/>
          <p:cNvSpPr/>
          <p:nvPr/>
        </p:nvSpPr>
        <p:spPr>
          <a:xfrm>
            <a:off x="3875723" y="3783306"/>
            <a:ext cx="392949" cy="414511"/>
          </a:xfrm>
          <a:prstGeom prst="roundRect">
            <a:avLst>
              <a:gd name="adj" fmla="val 236308"/>
            </a:avLst>
          </a:prstGeom>
          <a:solidFill>
            <a:srgbClr val="1B5F39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93608" y="3907533"/>
            <a:ext cx="157180" cy="1658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253098" y="4335946"/>
            <a:ext cx="1637572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取得 Token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940208" y="4634649"/>
            <a:ext cx="6264099" cy="22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返回 JWT Token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481670" y="3990563"/>
            <a:ext cx="6557059" cy="1019698"/>
          </a:xfrm>
          <a:prstGeom prst="roundRect">
            <a:avLst>
              <a:gd name="adj" fmla="val 7685"/>
            </a:avLst>
          </a:prstGeom>
          <a:solidFill>
            <a:srgbClr val="FCFBF8"/>
          </a:solidFill>
          <a:ln/>
        </p:spPr>
      </p:sp>
      <p:sp>
        <p:nvSpPr>
          <p:cNvPr id="29" name="Shape 23"/>
          <p:cNvSpPr/>
          <p:nvPr/>
        </p:nvSpPr>
        <p:spPr>
          <a:xfrm>
            <a:off x="7481670" y="3974238"/>
            <a:ext cx="6557059" cy="65301"/>
          </a:xfrm>
          <a:prstGeom prst="roundRect">
            <a:avLst>
              <a:gd name="adj" fmla="val 31744"/>
            </a:avLst>
          </a:prstGeom>
          <a:solidFill>
            <a:srgbClr val="1B5F39"/>
          </a:solidFill>
          <a:ln/>
        </p:spPr>
      </p:sp>
      <p:sp>
        <p:nvSpPr>
          <p:cNvPr id="30" name="Shape 24"/>
          <p:cNvSpPr/>
          <p:nvPr/>
        </p:nvSpPr>
        <p:spPr>
          <a:xfrm>
            <a:off x="10563724" y="3783306"/>
            <a:ext cx="392949" cy="414511"/>
          </a:xfrm>
          <a:prstGeom prst="roundRect">
            <a:avLst>
              <a:gd name="adj" fmla="val 236308"/>
            </a:avLst>
          </a:prstGeom>
          <a:solidFill>
            <a:srgbClr val="1B5F39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81609" y="3907533"/>
            <a:ext cx="157180" cy="16580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169579" y="4335946"/>
            <a:ext cx="1637572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登入完成</a:t>
            </a:r>
            <a:endParaRPr lang="en-US" sz="2400" dirty="0"/>
          </a:p>
        </p:txBody>
      </p:sp>
      <p:sp>
        <p:nvSpPr>
          <p:cNvPr id="33" name="Text 26"/>
          <p:cNvSpPr/>
          <p:nvPr/>
        </p:nvSpPr>
        <p:spPr>
          <a:xfrm>
            <a:off x="7628090" y="4634649"/>
            <a:ext cx="6264220" cy="22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重導向會員中心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793790" y="5256769"/>
            <a:ext cx="1965111" cy="308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購物車流程</a:t>
            </a:r>
            <a:endParaRPr lang="en-US" sz="2800" dirty="0"/>
          </a:p>
        </p:txBody>
      </p:sp>
      <p:sp>
        <p:nvSpPr>
          <p:cNvPr id="35" name="Shape 28"/>
          <p:cNvSpPr/>
          <p:nvPr/>
        </p:nvSpPr>
        <p:spPr>
          <a:xfrm>
            <a:off x="793790" y="5811375"/>
            <a:ext cx="13244939" cy="1893790"/>
          </a:xfrm>
          <a:prstGeom prst="roundRect">
            <a:avLst>
              <a:gd name="adj" fmla="val 1302"/>
            </a:avLst>
          </a:prstGeom>
          <a:solidFill>
            <a:srgbClr val="F0EDE6"/>
          </a:solidFill>
          <a:ln/>
        </p:spPr>
      </p:sp>
      <p:sp>
        <p:nvSpPr>
          <p:cNvPr id="36" name="Shape 29"/>
          <p:cNvSpPr/>
          <p:nvPr/>
        </p:nvSpPr>
        <p:spPr>
          <a:xfrm>
            <a:off x="793790" y="5811375"/>
            <a:ext cx="4414939" cy="946895"/>
          </a:xfrm>
          <a:prstGeom prst="roundRect">
            <a:avLst>
              <a:gd name="adj" fmla="val 2604"/>
            </a:avLst>
          </a:prstGeom>
          <a:solidFill>
            <a:srgbClr val="F0EDE6"/>
          </a:solidFill>
          <a:ln/>
        </p:spPr>
      </p:sp>
      <p:sp>
        <p:nvSpPr>
          <p:cNvPr id="37" name="Text 30"/>
          <p:cNvSpPr/>
          <p:nvPr/>
        </p:nvSpPr>
        <p:spPr>
          <a:xfrm>
            <a:off x="924732" y="5975662"/>
            <a:ext cx="1637572" cy="256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加入商品</a:t>
            </a:r>
            <a:endParaRPr lang="en-US" sz="2400" dirty="0"/>
          </a:p>
        </p:txBody>
      </p:sp>
      <p:sp>
        <p:nvSpPr>
          <p:cNvPr id="38" name="Text 31"/>
          <p:cNvSpPr/>
          <p:nvPr/>
        </p:nvSpPr>
        <p:spPr>
          <a:xfrm>
            <a:off x="924732" y="6330938"/>
            <a:ext cx="4153054" cy="26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未登入存 localStorage，已登入存後端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5208729" y="5811375"/>
            <a:ext cx="4414939" cy="946895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40" name="Shape 33"/>
          <p:cNvSpPr/>
          <p:nvPr/>
        </p:nvSpPr>
        <p:spPr>
          <a:xfrm>
            <a:off x="5208729" y="5811375"/>
            <a:ext cx="15476" cy="946895"/>
          </a:xfrm>
          <a:prstGeom prst="roundRect">
            <a:avLst>
              <a:gd name="adj" fmla="val 126977"/>
            </a:avLst>
          </a:prstGeom>
          <a:solidFill>
            <a:srgbClr val="D6D3CC"/>
          </a:solidFill>
          <a:ln/>
        </p:spPr>
      </p:sp>
      <p:sp>
        <p:nvSpPr>
          <p:cNvPr id="41" name="Text 34"/>
          <p:cNvSpPr/>
          <p:nvPr/>
        </p:nvSpPr>
        <p:spPr>
          <a:xfrm>
            <a:off x="5339672" y="5975662"/>
            <a:ext cx="1637572" cy="256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查詢購物車</a:t>
            </a:r>
            <a:endParaRPr lang="en-US" sz="2400" dirty="0"/>
          </a:p>
        </p:txBody>
      </p:sp>
      <p:sp>
        <p:nvSpPr>
          <p:cNvPr id="42" name="Text 35"/>
          <p:cNvSpPr/>
          <p:nvPr/>
        </p:nvSpPr>
        <p:spPr>
          <a:xfrm>
            <a:off x="5339672" y="6330938"/>
            <a:ext cx="4153054" cy="26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GET /api/cart/cache</a:t>
            </a:r>
            <a:endParaRPr lang="en-US" sz="1600" dirty="0"/>
          </a:p>
        </p:txBody>
      </p:sp>
      <p:sp>
        <p:nvSpPr>
          <p:cNvPr id="43" name="Shape 36"/>
          <p:cNvSpPr/>
          <p:nvPr/>
        </p:nvSpPr>
        <p:spPr>
          <a:xfrm>
            <a:off x="9623668" y="5811375"/>
            <a:ext cx="4414939" cy="946895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44" name="Shape 37"/>
          <p:cNvSpPr/>
          <p:nvPr/>
        </p:nvSpPr>
        <p:spPr>
          <a:xfrm>
            <a:off x="9623668" y="5811375"/>
            <a:ext cx="15476" cy="946895"/>
          </a:xfrm>
          <a:prstGeom prst="roundRect">
            <a:avLst>
              <a:gd name="adj" fmla="val 126977"/>
            </a:avLst>
          </a:prstGeom>
          <a:solidFill>
            <a:srgbClr val="D6D3CC"/>
          </a:solidFill>
          <a:ln/>
        </p:spPr>
      </p:sp>
      <p:sp>
        <p:nvSpPr>
          <p:cNvPr id="45" name="Text 38"/>
          <p:cNvSpPr/>
          <p:nvPr/>
        </p:nvSpPr>
        <p:spPr>
          <a:xfrm>
            <a:off x="9754611" y="5975662"/>
            <a:ext cx="1637572" cy="256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計算金額</a:t>
            </a:r>
            <a:endParaRPr lang="en-US" sz="2400" dirty="0"/>
          </a:p>
        </p:txBody>
      </p:sp>
      <p:sp>
        <p:nvSpPr>
          <p:cNvPr id="46" name="Text 39"/>
          <p:cNvSpPr/>
          <p:nvPr/>
        </p:nvSpPr>
        <p:spPr>
          <a:xfrm>
            <a:off x="9754611" y="6330938"/>
            <a:ext cx="4153054" cy="26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 /api/cart/calculate</a:t>
            </a:r>
            <a:endParaRPr lang="en-US" sz="1600" dirty="0"/>
          </a:p>
        </p:txBody>
      </p:sp>
      <p:sp>
        <p:nvSpPr>
          <p:cNvPr id="47" name="Shape 40"/>
          <p:cNvSpPr/>
          <p:nvPr/>
        </p:nvSpPr>
        <p:spPr>
          <a:xfrm>
            <a:off x="793790" y="6758270"/>
            <a:ext cx="6622348" cy="946895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48" name="Shape 41"/>
          <p:cNvSpPr/>
          <p:nvPr/>
        </p:nvSpPr>
        <p:spPr>
          <a:xfrm>
            <a:off x="793790" y="6758270"/>
            <a:ext cx="6622348" cy="19417"/>
          </a:xfrm>
          <a:prstGeom prst="roundRect">
            <a:avLst>
              <a:gd name="adj" fmla="val 126977"/>
            </a:avLst>
          </a:prstGeom>
          <a:solidFill>
            <a:srgbClr val="D6D3CC"/>
          </a:solidFill>
          <a:ln/>
        </p:spPr>
      </p:sp>
      <p:sp>
        <p:nvSpPr>
          <p:cNvPr id="49" name="Text 42"/>
          <p:cNvSpPr/>
          <p:nvPr/>
        </p:nvSpPr>
        <p:spPr>
          <a:xfrm>
            <a:off x="924732" y="6922557"/>
            <a:ext cx="1637572" cy="256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查詢優惠券</a:t>
            </a:r>
            <a:endParaRPr lang="en-US" sz="2400" dirty="0"/>
          </a:p>
        </p:txBody>
      </p:sp>
      <p:sp>
        <p:nvSpPr>
          <p:cNvPr id="50" name="Text 43"/>
          <p:cNvSpPr/>
          <p:nvPr/>
        </p:nvSpPr>
        <p:spPr>
          <a:xfrm>
            <a:off x="924732" y="7277834"/>
            <a:ext cx="6360463" cy="26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GET /api/cart/available-coupons</a:t>
            </a:r>
            <a:endParaRPr lang="en-US" sz="1600" dirty="0"/>
          </a:p>
        </p:txBody>
      </p:sp>
      <p:sp>
        <p:nvSpPr>
          <p:cNvPr id="51" name="Shape 44"/>
          <p:cNvSpPr/>
          <p:nvPr/>
        </p:nvSpPr>
        <p:spPr>
          <a:xfrm>
            <a:off x="7416138" y="6758270"/>
            <a:ext cx="6622469" cy="946895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52" name="Shape 45"/>
          <p:cNvSpPr/>
          <p:nvPr/>
        </p:nvSpPr>
        <p:spPr>
          <a:xfrm>
            <a:off x="7416138" y="6758270"/>
            <a:ext cx="15476" cy="946895"/>
          </a:xfrm>
          <a:prstGeom prst="roundRect">
            <a:avLst>
              <a:gd name="adj" fmla="val 126977"/>
            </a:avLst>
          </a:prstGeom>
          <a:solidFill>
            <a:srgbClr val="D6D3CC"/>
          </a:solidFill>
          <a:ln/>
        </p:spPr>
      </p:sp>
      <p:sp>
        <p:nvSpPr>
          <p:cNvPr id="53" name="Shape 46"/>
          <p:cNvSpPr/>
          <p:nvPr/>
        </p:nvSpPr>
        <p:spPr>
          <a:xfrm>
            <a:off x="7416138" y="6758270"/>
            <a:ext cx="6622469" cy="19417"/>
          </a:xfrm>
          <a:prstGeom prst="roundRect">
            <a:avLst>
              <a:gd name="adj" fmla="val 126977"/>
            </a:avLst>
          </a:prstGeom>
          <a:solidFill>
            <a:srgbClr val="D6D3CC"/>
          </a:solidFill>
          <a:ln/>
        </p:spPr>
      </p:sp>
      <p:sp>
        <p:nvSpPr>
          <p:cNvPr id="54" name="Text 47"/>
          <p:cNvSpPr/>
          <p:nvPr/>
        </p:nvSpPr>
        <p:spPr>
          <a:xfrm>
            <a:off x="7547081" y="6922557"/>
            <a:ext cx="1637572" cy="256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送出訂單</a:t>
            </a:r>
            <a:endParaRPr lang="en-US" sz="2400" dirty="0"/>
          </a:p>
        </p:txBody>
      </p:sp>
      <p:sp>
        <p:nvSpPr>
          <p:cNvPr id="55" name="Text 48"/>
          <p:cNvSpPr/>
          <p:nvPr/>
        </p:nvSpPr>
        <p:spPr>
          <a:xfrm>
            <a:off x="7547081" y="7277834"/>
            <a:ext cx="6360584" cy="26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 /api/checkout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5150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未來優化方向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567595"/>
            <a:ext cx="270438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🚀</a:t>
            </a: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短期目標（1-2 個月）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5076111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完成 CI/CD 整合（GitHub Actions）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463064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建立測試資料工廠（Faker.js）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850017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新增 Allure 報告系統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6236970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實作自動通知機制（Slack/Email）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265182" y="4567595"/>
            <a:ext cx="27460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📊</a:t>
            </a: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中期目標（3-6 個月）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265182" y="5076111"/>
            <a:ext cx="39796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擴充 Page Object（結帳、訂單、會員中心）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265182" y="5780603"/>
            <a:ext cx="39796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完善 API Helper（登入、訂單、用戶、商品）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265182" y="6485096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實作 Visual Regression Testing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265182" y="6872049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整合測試管理工具（TestRail）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9736574" y="4567595"/>
            <a:ext cx="28435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🎯</a:t>
            </a:r>
            <a:r>
              <a:rPr lang="en-US" sz="1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長期目標（6-12 個月）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736574" y="5076111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完整安全性測試覆蓋（OWASP Top 10）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736574" y="5463064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效能測試整合（Lighthouse / k6）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736574" y="5850017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多語系測試覆蓋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736574" y="6236970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無障礙測試（Accessibility Testing）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581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專案總結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1733550"/>
            <a:ext cx="3679031" cy="2096095"/>
          </a:xfrm>
          <a:prstGeom prst="roundRect">
            <a:avLst>
              <a:gd name="adj" fmla="val 1420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992148" y="19319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架構優勢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2148" y="2361128"/>
            <a:ext cx="32823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採用分層架構 + Page Object Model 設計，確保高內聚、低耦合、易維護。各層級職責清晰，修改影響範圍可控。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671179" y="1733550"/>
            <a:ext cx="3679031" cy="2096095"/>
          </a:xfrm>
          <a:prstGeom prst="roundRect">
            <a:avLst>
              <a:gd name="adj" fmla="val 1420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4869537" y="19319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測試覆蓋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69537" y="2361128"/>
            <a:ext cx="32823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E2E 與 API 雙軌測試並行，涵蓋 UI 互動與後端邏輯。從登入、購物車到結帳的完整業務流程皆有測試保障。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4028003"/>
            <a:ext cx="7556421" cy="1461016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992148" y="42263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持續優化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92148" y="4655582"/>
            <a:ext cx="71597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透過 CI/CD 整合、測試資料工廠、視覺回歸測試等優化措施，持續提升測試效率與專案品質。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3790" y="571226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本測試框架為 DogCatStar 電商平台提供完善的品質保障，透過自動化測試大幅減少人工測試成本，提早發現潛在問題，確保每次發布都能維持高品質標準。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93790" y="6570583"/>
            <a:ext cx="7556421" cy="843201"/>
          </a:xfrm>
          <a:prstGeom prst="roundRect">
            <a:avLst>
              <a:gd name="adj" fmla="val 3531"/>
            </a:avLst>
          </a:prstGeom>
          <a:solidFill>
            <a:srgbClr val="C3EED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48" y="6873478"/>
            <a:ext cx="248007" cy="1983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38513" y="6818471"/>
            <a:ext cx="67133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文件維護者：</a:t>
            </a: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Howie｜</a:t>
            </a:r>
            <a:r>
              <a:rPr lang="en-US" sz="15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最後更新：</a:t>
            </a: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2025-01-29｜</a:t>
            </a:r>
            <a:r>
              <a:rPr lang="en-US" sz="15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版本：</a:t>
            </a: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v1.0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自訂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Alice</vt:lpstr>
      <vt:lpstr>Lora</vt:lpstr>
      <vt:lpstr>Alice Light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浩瑜 郝</cp:lastModifiedBy>
  <cp:revision>2</cp:revision>
  <dcterms:created xsi:type="dcterms:W3CDTF">2025-10-29T00:53:56Z</dcterms:created>
  <dcterms:modified xsi:type="dcterms:W3CDTF">2025-10-29T04:33:05Z</dcterms:modified>
</cp:coreProperties>
</file>