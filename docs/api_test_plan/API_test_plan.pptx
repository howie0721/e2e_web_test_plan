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4630400" cy="8229600"/>
  <p:notesSz cx="8229600" cy="14630400"/>
  <p:embeddedFontLst>
    <p:embeddedFont>
      <p:font typeface="Alice"/>
      <p:regular r:id="rId27"/>
    </p:embeddedFont>
    <p:embeddedFont>
      <p:font typeface="Alice"/>
      <p:regular r:id="rId28"/>
    </p:embeddedFont>
    <p:embeddedFont>
      <p:font typeface="Lora"/>
      <p:regular r:id="rId29"/>
    </p:embeddedFont>
    <p:embeddedFont>
      <p:font typeface="Lora"/>
      <p:regular r:id="rId30"/>
    </p:embeddedFont>
    <p:embeddedFont>
      <p:font typeface="Lora"/>
      <p:regular r:id="rId31"/>
    </p:embeddedFont>
    <p:embeddedFont>
      <p:font typeface="Lora"/>
      <p:regular r:id="rId3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7" Type="http://schemas.openxmlformats.org/officeDocument/2006/relationships/font" Target="fonts/font1.fntdata"/><Relationship Id="rId28" Type="http://schemas.openxmlformats.org/officeDocument/2006/relationships/font" Target="fonts/font2.fntdata"/><Relationship Id="rId29" Type="http://schemas.openxmlformats.org/officeDocument/2006/relationships/font" Target="fonts/font3.fntdata"/><Relationship Id="rId30" Type="http://schemas.openxmlformats.org/officeDocument/2006/relationships/font" Target="fonts/font4.fntdata"/><Relationship Id="rId31" Type="http://schemas.openxmlformats.org/officeDocument/2006/relationships/font" Target="fonts/font5.fntdata"/><Relationship Id="rId32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8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9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0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6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svg"/><Relationship Id="rId4" Type="http://schemas.openxmlformats.org/officeDocument/2006/relationships/image" Target="../media/image-8-4.png"/><Relationship Id="rId5" Type="http://schemas.openxmlformats.org/officeDocument/2006/relationships/image" Target="../media/image-8-5.svg"/><Relationship Id="rId6" Type="http://schemas.openxmlformats.org/officeDocument/2006/relationships/slideLayout" Target="../slideLayouts/slideLayout9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image" Target="../media/image-9-7.png"/><Relationship Id="rId8" Type="http://schemas.openxmlformats.org/officeDocument/2006/relationships/image" Target="../media/image-9-8.svg"/><Relationship Id="rId9" Type="http://schemas.openxmlformats.org/officeDocument/2006/relationships/image" Target="../media/image-9-9.png"/><Relationship Id="rId10" Type="http://schemas.openxmlformats.org/officeDocument/2006/relationships/image" Target="../media/image-9-10.svg"/><Relationship Id="rId11" Type="http://schemas.openxmlformats.org/officeDocument/2006/relationships/image" Target="../media/image-9-11.png"/><Relationship Id="rId12" Type="http://schemas.openxmlformats.org/officeDocument/2006/relationships/image" Target="../media/image-9-12.svg"/><Relationship Id="rId13" Type="http://schemas.openxmlformats.org/officeDocument/2006/relationships/slideLayout" Target="../slideLayouts/slideLayout10.xml"/><Relationship Id="rId1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svg"/><Relationship Id="rId3" Type="http://schemas.openxmlformats.org/officeDocument/2006/relationships/image" Target="../media/image-13-3.png"/><Relationship Id="rId4" Type="http://schemas.openxmlformats.org/officeDocument/2006/relationships/image" Target="../media/image-13-4.svg"/><Relationship Id="rId5" Type="http://schemas.openxmlformats.org/officeDocument/2006/relationships/image" Target="../media/image-13-5.png"/><Relationship Id="rId6" Type="http://schemas.openxmlformats.org/officeDocument/2006/relationships/image" Target="../media/image-13-6.svg"/><Relationship Id="rId7" Type="http://schemas.openxmlformats.org/officeDocument/2006/relationships/image" Target="../media/image-13-7.png"/><Relationship Id="rId8" Type="http://schemas.openxmlformats.org/officeDocument/2006/relationships/image" Target="../media/image-13-8.svg"/><Relationship Id="rId9" Type="http://schemas.openxmlformats.org/officeDocument/2006/relationships/slideLayout" Target="../slideLayouts/slideLayout14.xml"/><Relationship Id="rId10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6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7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image" Target="../media/image-18-7.png"/><Relationship Id="rId8" Type="http://schemas.openxmlformats.org/officeDocument/2006/relationships/image" Target="../media/image-18-8.png"/><Relationship Id="rId9" Type="http://schemas.openxmlformats.org/officeDocument/2006/relationships/slideLayout" Target="../slideLayouts/slideLayout19.xml"/><Relationship Id="rId10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sv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svg"/><Relationship Id="rId7" Type="http://schemas.openxmlformats.org/officeDocument/2006/relationships/image" Target="../media/image-19-7.png"/><Relationship Id="rId8" Type="http://schemas.openxmlformats.org/officeDocument/2006/relationships/image" Target="../media/image-19-8.png"/><Relationship Id="rId9" Type="http://schemas.openxmlformats.org/officeDocument/2006/relationships/image" Target="../media/image-19-9.svg"/><Relationship Id="rId10" Type="http://schemas.openxmlformats.org/officeDocument/2006/relationships/image" Target="../media/image-19-10.png"/><Relationship Id="rId11" Type="http://schemas.openxmlformats.org/officeDocument/2006/relationships/image" Target="../media/image-19-11.png"/><Relationship Id="rId12" Type="http://schemas.openxmlformats.org/officeDocument/2006/relationships/image" Target="../media/image-19-12.svg"/><Relationship Id="rId13" Type="http://schemas.openxmlformats.org/officeDocument/2006/relationships/image" Target="../media/image-19-13.png"/><Relationship Id="rId14" Type="http://schemas.openxmlformats.org/officeDocument/2006/relationships/image" Target="../media/image-19-14.png"/><Relationship Id="rId15" Type="http://schemas.openxmlformats.org/officeDocument/2006/relationships/image" Target="../media/image-19-15.svg"/><Relationship Id="rId16" Type="http://schemas.openxmlformats.org/officeDocument/2006/relationships/image" Target="../media/image-19-16.png"/><Relationship Id="rId17" Type="http://schemas.openxmlformats.org/officeDocument/2006/relationships/image" Target="../media/image-19-17.png"/><Relationship Id="rId18" Type="http://schemas.openxmlformats.org/officeDocument/2006/relationships/image" Target="../media/image-19-18.svg"/><Relationship Id="rId19" Type="http://schemas.openxmlformats.org/officeDocument/2006/relationships/slideLayout" Target="../slideLayouts/slideLayout20.xml"/><Relationship Id="rId20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slideLayout" Target="../slideLayouts/slideLayout21.xml"/><Relationship Id="rId7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227427"/>
            <a:ext cx="681513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購物車與登入 API 測試文件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27636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完整記錄電商平台購物車與 OTP 登入流程的所有 API 規格、測試方法與自動化案例設計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69867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測試範圍概覽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861078"/>
            <a:ext cx="4196358" cy="1669852"/>
          </a:xfrm>
          <a:prstGeom prst="roundRect">
            <a:avLst>
              <a:gd name="adj" fmla="val 2038"/>
            </a:avLst>
          </a:prstGeom>
          <a:solidFill>
            <a:srgbClr val="F0EDE6"/>
          </a:solidFill>
          <a:ln/>
        </p:spPr>
      </p:sp>
      <p:sp>
        <p:nvSpPr>
          <p:cNvPr id="4" name="Text 2"/>
          <p:cNvSpPr/>
          <p:nvPr/>
        </p:nvSpPr>
        <p:spPr>
          <a:xfrm>
            <a:off x="1020604" y="408789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購物車流程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20604" y="4578310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從商品瀏覽、加入購物車到結帳的完整 API 互動測試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5216962" y="3861078"/>
            <a:ext cx="4196358" cy="1669852"/>
          </a:xfrm>
          <a:prstGeom prst="roundRect">
            <a:avLst>
              <a:gd name="adj" fmla="val 2038"/>
            </a:avLst>
          </a:prstGeom>
          <a:solidFill>
            <a:srgbClr val="F0EDE6"/>
          </a:solidFill>
          <a:ln/>
        </p:spPr>
      </p:sp>
      <p:sp>
        <p:nvSpPr>
          <p:cNvPr id="7" name="Text 5"/>
          <p:cNvSpPr/>
          <p:nvPr/>
        </p:nvSpPr>
        <p:spPr>
          <a:xfrm>
            <a:off x="5443776" y="408789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登入驗證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43776" y="4578310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涵蓋 OTP 發送、驗證與 JWT Token 登入的完整認證流程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9640133" y="3861078"/>
            <a:ext cx="4196358" cy="1669852"/>
          </a:xfrm>
          <a:prstGeom prst="roundRect">
            <a:avLst>
              <a:gd name="adj" fmla="val 2038"/>
            </a:avLst>
          </a:prstGeom>
          <a:solidFill>
            <a:srgbClr val="F0EDE6"/>
          </a:solidFill>
          <a:ln/>
        </p:spPr>
      </p:sp>
      <p:sp>
        <p:nvSpPr>
          <p:cNvPr id="10" name="Text 8"/>
          <p:cNvSpPr/>
          <p:nvPr/>
        </p:nvSpPr>
        <p:spPr>
          <a:xfrm>
            <a:off x="9866948" y="408789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雙模式支援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866948" y="4578310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同時測試訪客模式與會員模式的功能差異與優惠計算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5162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購物車 API 架構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1927384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核心功能模組</a:t>
            </a:r>
            <a:endParaRPr lang="en-US" sz="2650" dirty="0"/>
          </a:p>
        </p:txBody>
      </p:sp>
      <p:sp>
        <p:nvSpPr>
          <p:cNvPr id="4" name="Text 2"/>
          <p:cNvSpPr/>
          <p:nvPr/>
        </p:nvSpPr>
        <p:spPr>
          <a:xfrm>
            <a:off x="793790" y="2579489"/>
            <a:ext cx="77402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購物車查詢與快取管理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3021687"/>
            <a:ext cx="77402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金額計算與優惠折扣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3463885"/>
            <a:ext cx="77402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優惠券系統整合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3906083"/>
            <a:ext cx="77402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配送與結帳資訊</a:t>
            </a:r>
            <a:endParaRPr lang="en-US" sz="17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95065" y="1955721"/>
            <a:ext cx="4749046" cy="474904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93790" y="721506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API 端點涵蓋購物車生命週期的各個階段,從商品查詢到訂單提交,確保流程完整且資料一致。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86044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購物車關鍵 API 端點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84845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Alice Light" pitchFamily="34" charset="0"/>
                <a:ea typeface="Alice Light" pitchFamily="34" charset="-122"/>
                <a:cs typeface="Alice Light" pitchFamily="34" charset="-120"/>
              </a:rPr>
              <a:t>01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203496"/>
            <a:ext cx="4196358" cy="30480"/>
          </a:xfrm>
          <a:prstGeom prst="rect">
            <a:avLst/>
          </a:prstGeom>
          <a:solidFill>
            <a:srgbClr val="1B5F39"/>
          </a:solidFill>
          <a:ln/>
        </p:spPr>
      </p:sp>
      <p:sp>
        <p:nvSpPr>
          <p:cNvPr id="5" name="Text 3"/>
          <p:cNvSpPr/>
          <p:nvPr/>
        </p:nvSpPr>
        <p:spPr>
          <a:xfrm>
            <a:off x="793790" y="3377803"/>
            <a:ext cx="327207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/cart/cart_request_cache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3868222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查詢購物車快取資料,包含商品列表、數量與價格資訊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5216962" y="284845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Alice Light" pitchFamily="34" charset="0"/>
                <a:ea typeface="Alice Light" pitchFamily="34" charset="-122"/>
                <a:cs typeface="Alice Light" pitchFamily="34" charset="-120"/>
              </a:rPr>
              <a:t>02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216962" y="3203496"/>
            <a:ext cx="4196358" cy="30480"/>
          </a:xfrm>
          <a:prstGeom prst="rect">
            <a:avLst/>
          </a:prstGeom>
          <a:solidFill>
            <a:srgbClr val="1B5F39"/>
          </a:solidFill>
          <a:ln/>
        </p:spPr>
      </p:sp>
      <p:sp>
        <p:nvSpPr>
          <p:cNvPr id="9" name="Text 7"/>
          <p:cNvSpPr/>
          <p:nvPr/>
        </p:nvSpPr>
        <p:spPr>
          <a:xfrm>
            <a:off x="5216962" y="33778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/cart/first_purchase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216962" y="3868222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檢查是否為首次購物,影響首購優惠顯示與活動觸發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9640133" y="284845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Alice Light" pitchFamily="34" charset="0"/>
                <a:ea typeface="Alice Light" pitchFamily="34" charset="-122"/>
                <a:cs typeface="Alice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9640133" y="3203496"/>
            <a:ext cx="4196358" cy="30480"/>
          </a:xfrm>
          <a:prstGeom prst="rect">
            <a:avLst/>
          </a:prstGeom>
          <a:solidFill>
            <a:srgbClr val="1B5F39"/>
          </a:solidFill>
          <a:ln/>
        </p:spPr>
      </p:sp>
      <p:sp>
        <p:nvSpPr>
          <p:cNvPr id="13" name="Text 11"/>
          <p:cNvSpPr/>
          <p:nvPr/>
        </p:nvSpPr>
        <p:spPr>
          <a:xfrm>
            <a:off x="9640133" y="33778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/cart/calculate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640133" y="3868222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計算購物車總金額,整合優惠券折扣、運費與紅利點數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93790" y="499086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Alice Light" pitchFamily="34" charset="0"/>
                <a:ea typeface="Alice Light" pitchFamily="34" charset="-122"/>
                <a:cs typeface="Alice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93790" y="5345906"/>
            <a:ext cx="6407944" cy="30480"/>
          </a:xfrm>
          <a:prstGeom prst="rect">
            <a:avLst/>
          </a:prstGeom>
          <a:solidFill>
            <a:srgbClr val="1B5F39"/>
          </a:solidFill>
          <a:ln/>
        </p:spPr>
      </p:sp>
      <p:sp>
        <p:nvSpPr>
          <p:cNvPr id="17" name="Text 15"/>
          <p:cNvSpPr/>
          <p:nvPr/>
        </p:nvSpPr>
        <p:spPr>
          <a:xfrm>
            <a:off x="793790" y="5520214"/>
            <a:ext cx="401907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/cart/calculate_guest_discount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93790" y="6010632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專為訪客模式設計,計算特殊訪客優惠折扣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7428548" y="499086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Alice Light" pitchFamily="34" charset="0"/>
                <a:ea typeface="Alice Light" pitchFamily="34" charset="-122"/>
                <a:cs typeface="Alice Light" pitchFamily="34" charset="-120"/>
              </a:rPr>
              <a:t>05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7428548" y="5345906"/>
            <a:ext cx="6407944" cy="30480"/>
          </a:xfrm>
          <a:prstGeom prst="rect">
            <a:avLst/>
          </a:prstGeom>
          <a:solidFill>
            <a:srgbClr val="1B5F39"/>
          </a:solidFill>
          <a:ln/>
        </p:spPr>
      </p:sp>
      <p:sp>
        <p:nvSpPr>
          <p:cNvPr id="21" name="Text 19"/>
          <p:cNvSpPr/>
          <p:nvPr/>
        </p:nvSpPr>
        <p:spPr>
          <a:xfrm>
            <a:off x="7428548" y="5520214"/>
            <a:ext cx="365438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/coupons/available_coupons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428548" y="6010632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取得當前購物車可使用的優惠券清單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751642"/>
            <a:ext cx="5103614" cy="637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000"/>
              </a:lnSpc>
              <a:buNone/>
            </a:pPr>
            <a:r>
              <a:rPr lang="en-US" sz="40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購物車金額計算規則</a:t>
            </a:r>
            <a:endParaRPr lang="en-US" sz="40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0190" y="1695688"/>
            <a:ext cx="1020723" cy="122479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504986" y="1899761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商品價格</a:t>
            </a:r>
            <a:endParaRPr lang="en-US" sz="2000" dirty="0"/>
          </a:p>
        </p:txBody>
      </p:sp>
      <p:sp>
        <p:nvSpPr>
          <p:cNvPr id="6" name="Text 2"/>
          <p:cNvSpPr/>
          <p:nvPr/>
        </p:nvSpPr>
        <p:spPr>
          <a:xfrm>
            <a:off x="7504986" y="2341007"/>
            <a:ext cx="6331625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基礎售價 × 數量</a:t>
            </a:r>
            <a:endParaRPr lang="en-US" sz="16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0190" y="2920484"/>
            <a:ext cx="1020723" cy="122479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504986" y="3124557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優惠折扣</a:t>
            </a:r>
            <a:endParaRPr lang="en-US" sz="2000" dirty="0"/>
          </a:p>
        </p:txBody>
      </p:sp>
      <p:sp>
        <p:nvSpPr>
          <p:cNvPr id="9" name="Text 4"/>
          <p:cNvSpPr/>
          <p:nvPr/>
        </p:nvSpPr>
        <p:spPr>
          <a:xfrm>
            <a:off x="7504986" y="3565803"/>
            <a:ext cx="6331625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優惠券 + 活動折扣</a:t>
            </a:r>
            <a:endParaRPr lang="en-US" sz="16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0190" y="4145280"/>
            <a:ext cx="1020723" cy="122479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504986" y="4349353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運費計算</a:t>
            </a:r>
            <a:endParaRPr lang="en-US" sz="2000" dirty="0"/>
          </a:p>
        </p:txBody>
      </p:sp>
      <p:sp>
        <p:nvSpPr>
          <p:cNvPr id="12" name="Text 6"/>
          <p:cNvSpPr/>
          <p:nvPr/>
        </p:nvSpPr>
        <p:spPr>
          <a:xfrm>
            <a:off x="7504986" y="4790599"/>
            <a:ext cx="6331625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依配送方式與地區</a:t>
            </a:r>
            <a:endParaRPr lang="en-US" sz="16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0190" y="5370076"/>
            <a:ext cx="1020723" cy="1224796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7504986" y="5574149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最終金額</a:t>
            </a:r>
            <a:endParaRPr lang="en-US" sz="2000" dirty="0"/>
          </a:p>
        </p:txBody>
      </p:sp>
      <p:sp>
        <p:nvSpPr>
          <p:cNvPr id="15" name="Text 8"/>
          <p:cNvSpPr/>
          <p:nvPr/>
        </p:nvSpPr>
        <p:spPr>
          <a:xfrm>
            <a:off x="7504986" y="6015395"/>
            <a:ext cx="6331625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含稅總計金額</a:t>
            </a:r>
            <a:endParaRPr lang="en-US" sz="1600" dirty="0"/>
          </a:p>
        </p:txBody>
      </p:sp>
      <p:sp>
        <p:nvSpPr>
          <p:cNvPr id="16" name="Text 9"/>
          <p:cNvSpPr/>
          <p:nvPr/>
        </p:nvSpPr>
        <p:spPr>
          <a:xfrm>
            <a:off x="6280190" y="6824424"/>
            <a:ext cx="7556421" cy="653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系統會根據商品類型、會員身分、優惠券使用情況與配送地區,自動計算最優惠的價格組合。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42593"/>
            <a:ext cx="4820007" cy="602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700"/>
              </a:lnSpc>
              <a:buNone/>
            </a:pPr>
            <a:r>
              <a:rPr lang="en-US" sz="37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登入流程架構</a:t>
            </a:r>
            <a:endParaRPr lang="en-US" sz="3750" dirty="0"/>
          </a:p>
        </p:txBody>
      </p:sp>
      <p:sp>
        <p:nvSpPr>
          <p:cNvPr id="3" name="Shape 1"/>
          <p:cNvSpPr/>
          <p:nvPr/>
        </p:nvSpPr>
        <p:spPr>
          <a:xfrm>
            <a:off x="7303770" y="1730573"/>
            <a:ext cx="22860" cy="5756315"/>
          </a:xfrm>
          <a:prstGeom prst="roundRect">
            <a:avLst>
              <a:gd name="adj" fmla="val 126512"/>
            </a:avLst>
          </a:prstGeom>
          <a:solidFill>
            <a:srgbClr val="D6D3CC"/>
          </a:solidFill>
          <a:ln/>
        </p:spPr>
      </p:sp>
      <p:sp>
        <p:nvSpPr>
          <p:cNvPr id="4" name="Shape 2"/>
          <p:cNvSpPr/>
          <p:nvPr/>
        </p:nvSpPr>
        <p:spPr>
          <a:xfrm>
            <a:off x="6542782" y="1935956"/>
            <a:ext cx="578406" cy="22860"/>
          </a:xfrm>
          <a:prstGeom prst="roundRect">
            <a:avLst>
              <a:gd name="adj" fmla="val 126512"/>
            </a:avLst>
          </a:prstGeom>
          <a:solidFill>
            <a:srgbClr val="D6D3CC"/>
          </a:solidFill>
          <a:ln/>
        </p:spPr>
      </p:sp>
      <p:sp>
        <p:nvSpPr>
          <p:cNvPr id="5" name="Shape 3"/>
          <p:cNvSpPr/>
          <p:nvPr/>
        </p:nvSpPr>
        <p:spPr>
          <a:xfrm>
            <a:off x="7098328" y="1730573"/>
            <a:ext cx="433745" cy="433745"/>
          </a:xfrm>
          <a:prstGeom prst="roundRect">
            <a:avLst>
              <a:gd name="adj" fmla="val 6668"/>
            </a:avLst>
          </a:prstGeom>
          <a:solidFill>
            <a:srgbClr val="F0EDE6"/>
          </a:solidFill>
          <a:ln/>
        </p:spPr>
      </p:sp>
      <p:sp>
        <p:nvSpPr>
          <p:cNvPr id="6" name="Text 4"/>
          <p:cNvSpPr/>
          <p:nvPr/>
        </p:nvSpPr>
        <p:spPr>
          <a:xfrm>
            <a:off x="7170539" y="1766649"/>
            <a:ext cx="289203" cy="3614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22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1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3941326" y="1796772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進入訪客會員中心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793790" y="2213610"/>
            <a:ext cx="5557480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用戶訪問 visitor-my-account 頁面,準備進行身分驗證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509212" y="3092648"/>
            <a:ext cx="578406" cy="22860"/>
          </a:xfrm>
          <a:prstGeom prst="roundRect">
            <a:avLst>
              <a:gd name="adj" fmla="val 126512"/>
            </a:avLst>
          </a:prstGeom>
          <a:solidFill>
            <a:srgbClr val="D6D3CC"/>
          </a:solidFill>
          <a:ln/>
        </p:spPr>
      </p:sp>
      <p:sp>
        <p:nvSpPr>
          <p:cNvPr id="10" name="Shape 8"/>
          <p:cNvSpPr/>
          <p:nvPr/>
        </p:nvSpPr>
        <p:spPr>
          <a:xfrm>
            <a:off x="7098328" y="2887266"/>
            <a:ext cx="433745" cy="433745"/>
          </a:xfrm>
          <a:prstGeom prst="roundRect">
            <a:avLst>
              <a:gd name="adj" fmla="val 6668"/>
            </a:avLst>
          </a:prstGeom>
          <a:solidFill>
            <a:srgbClr val="F0EDE6"/>
          </a:solidFill>
          <a:ln/>
        </p:spPr>
      </p:sp>
      <p:sp>
        <p:nvSpPr>
          <p:cNvPr id="11" name="Text 9"/>
          <p:cNvSpPr/>
          <p:nvPr/>
        </p:nvSpPr>
        <p:spPr>
          <a:xfrm>
            <a:off x="7170539" y="2923342"/>
            <a:ext cx="289203" cy="3614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22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2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8279130" y="2953464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發送 OTP 驗證碼</a:t>
            </a:r>
            <a:endParaRPr lang="en-US" sz="1850" dirty="0"/>
          </a:p>
        </p:txBody>
      </p:sp>
      <p:sp>
        <p:nvSpPr>
          <p:cNvPr id="13" name="Text 11"/>
          <p:cNvSpPr/>
          <p:nvPr/>
        </p:nvSpPr>
        <p:spPr>
          <a:xfrm>
            <a:off x="8279130" y="3370302"/>
            <a:ext cx="5557480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輸入手機號碼,系統透過簡訊發送 6 位數驗證碼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542782" y="4089678"/>
            <a:ext cx="578406" cy="22860"/>
          </a:xfrm>
          <a:prstGeom prst="roundRect">
            <a:avLst>
              <a:gd name="adj" fmla="val 126512"/>
            </a:avLst>
          </a:prstGeom>
          <a:solidFill>
            <a:srgbClr val="D6D3CC"/>
          </a:solidFill>
          <a:ln/>
        </p:spPr>
      </p:sp>
      <p:sp>
        <p:nvSpPr>
          <p:cNvPr id="15" name="Shape 13"/>
          <p:cNvSpPr/>
          <p:nvPr/>
        </p:nvSpPr>
        <p:spPr>
          <a:xfrm>
            <a:off x="7098328" y="3884295"/>
            <a:ext cx="433745" cy="433745"/>
          </a:xfrm>
          <a:prstGeom prst="roundRect">
            <a:avLst>
              <a:gd name="adj" fmla="val 6668"/>
            </a:avLst>
          </a:prstGeom>
          <a:solidFill>
            <a:srgbClr val="F0EDE6"/>
          </a:solidFill>
          <a:ln/>
        </p:spPr>
      </p:sp>
      <p:sp>
        <p:nvSpPr>
          <p:cNvPr id="16" name="Text 14"/>
          <p:cNvSpPr/>
          <p:nvPr/>
        </p:nvSpPr>
        <p:spPr>
          <a:xfrm>
            <a:off x="7170539" y="3920371"/>
            <a:ext cx="289203" cy="3614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22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3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3941326" y="3950494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驗證 OTP 取得 Token</a:t>
            </a:r>
            <a:endParaRPr lang="en-US" sz="1850" dirty="0"/>
          </a:p>
        </p:txBody>
      </p:sp>
      <p:sp>
        <p:nvSpPr>
          <p:cNvPr id="18" name="Text 16"/>
          <p:cNvSpPr/>
          <p:nvPr/>
        </p:nvSpPr>
        <p:spPr>
          <a:xfrm>
            <a:off x="793790" y="4367332"/>
            <a:ext cx="5557480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輸入驗證碼,系統驗證後回傳 JWT Token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509212" y="5086707"/>
            <a:ext cx="578406" cy="22860"/>
          </a:xfrm>
          <a:prstGeom prst="roundRect">
            <a:avLst>
              <a:gd name="adj" fmla="val 126512"/>
            </a:avLst>
          </a:prstGeom>
          <a:solidFill>
            <a:srgbClr val="D6D3CC"/>
          </a:solidFill>
          <a:ln/>
        </p:spPr>
      </p:sp>
      <p:sp>
        <p:nvSpPr>
          <p:cNvPr id="20" name="Shape 18"/>
          <p:cNvSpPr/>
          <p:nvPr/>
        </p:nvSpPr>
        <p:spPr>
          <a:xfrm>
            <a:off x="7098328" y="4881324"/>
            <a:ext cx="433745" cy="433745"/>
          </a:xfrm>
          <a:prstGeom prst="roundRect">
            <a:avLst>
              <a:gd name="adj" fmla="val 6668"/>
            </a:avLst>
          </a:prstGeom>
          <a:solidFill>
            <a:srgbClr val="F0EDE6"/>
          </a:solidFill>
          <a:ln/>
        </p:spPr>
      </p:sp>
      <p:sp>
        <p:nvSpPr>
          <p:cNvPr id="21" name="Text 19"/>
          <p:cNvSpPr/>
          <p:nvPr/>
        </p:nvSpPr>
        <p:spPr>
          <a:xfrm>
            <a:off x="7170539" y="4917400"/>
            <a:ext cx="289203" cy="3614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22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4</a:t>
            </a:r>
            <a:endParaRPr lang="en-US" sz="2250" dirty="0"/>
          </a:p>
        </p:txBody>
      </p:sp>
      <p:sp>
        <p:nvSpPr>
          <p:cNvPr id="22" name="Text 20"/>
          <p:cNvSpPr/>
          <p:nvPr/>
        </p:nvSpPr>
        <p:spPr>
          <a:xfrm>
            <a:off x="8279130" y="4947523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JWT Token 登入</a:t>
            </a:r>
            <a:endParaRPr lang="en-US" sz="1850" dirty="0"/>
          </a:p>
        </p:txBody>
      </p:sp>
      <p:sp>
        <p:nvSpPr>
          <p:cNvPr id="23" name="Text 21"/>
          <p:cNvSpPr/>
          <p:nvPr/>
        </p:nvSpPr>
        <p:spPr>
          <a:xfrm>
            <a:off x="8279130" y="5364361"/>
            <a:ext cx="5557480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使用 Token 完成登入,設定 session 與 cookies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542782" y="6083737"/>
            <a:ext cx="578406" cy="22860"/>
          </a:xfrm>
          <a:prstGeom prst="roundRect">
            <a:avLst>
              <a:gd name="adj" fmla="val 126512"/>
            </a:avLst>
          </a:prstGeom>
          <a:solidFill>
            <a:srgbClr val="D6D3CC"/>
          </a:solidFill>
          <a:ln/>
        </p:spPr>
      </p:sp>
      <p:sp>
        <p:nvSpPr>
          <p:cNvPr id="25" name="Shape 23"/>
          <p:cNvSpPr/>
          <p:nvPr/>
        </p:nvSpPr>
        <p:spPr>
          <a:xfrm>
            <a:off x="7098328" y="5878354"/>
            <a:ext cx="433745" cy="433745"/>
          </a:xfrm>
          <a:prstGeom prst="roundRect">
            <a:avLst>
              <a:gd name="adj" fmla="val 6668"/>
            </a:avLst>
          </a:prstGeom>
          <a:solidFill>
            <a:srgbClr val="F0EDE6"/>
          </a:solidFill>
          <a:ln/>
        </p:spPr>
      </p:sp>
      <p:sp>
        <p:nvSpPr>
          <p:cNvPr id="26" name="Text 24"/>
          <p:cNvSpPr/>
          <p:nvPr/>
        </p:nvSpPr>
        <p:spPr>
          <a:xfrm>
            <a:off x="7170539" y="5914430"/>
            <a:ext cx="289203" cy="3614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22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5</a:t>
            </a:r>
            <a:endParaRPr lang="en-US" sz="2250" dirty="0"/>
          </a:p>
        </p:txBody>
      </p:sp>
      <p:sp>
        <p:nvSpPr>
          <p:cNvPr id="27" name="Text 25"/>
          <p:cNvSpPr/>
          <p:nvPr/>
        </p:nvSpPr>
        <p:spPr>
          <a:xfrm>
            <a:off x="3941326" y="5944553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跳轉會員中心</a:t>
            </a:r>
            <a:endParaRPr lang="en-US" sz="1850" dirty="0"/>
          </a:p>
        </p:txBody>
      </p:sp>
      <p:sp>
        <p:nvSpPr>
          <p:cNvPr id="28" name="Text 26"/>
          <p:cNvSpPr/>
          <p:nvPr/>
        </p:nvSpPr>
        <p:spPr>
          <a:xfrm>
            <a:off x="793790" y="6361390"/>
            <a:ext cx="5557480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自動重定向至 my-account 頁面,完成登入流程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97556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OTP 發送 API 規格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673310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端點資訊</a:t>
            </a:r>
            <a:endParaRPr lang="en-US" sz="2650" dirty="0"/>
          </a:p>
        </p:txBody>
      </p:sp>
      <p:sp>
        <p:nvSpPr>
          <p:cNvPr id="4" name="Text 2"/>
          <p:cNvSpPr/>
          <p:nvPr/>
        </p:nvSpPr>
        <p:spPr>
          <a:xfrm>
            <a:off x="793790" y="3325416"/>
            <a:ext cx="48850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Method: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POST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3892391"/>
            <a:ext cx="48850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URL: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/api/platform-sdk/otp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448210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必要參數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93790" y="5063252"/>
            <a:ext cx="48850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account:手機號碼(含國碼)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93790" y="5505450"/>
            <a:ext cx="48850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countryCode:國家代碼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93790" y="5947648"/>
            <a:ext cx="48850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type:驗證類型(sms/email)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93790" y="6389846"/>
            <a:ext cx="48850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purpose:用途(login/register)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6239828" y="2673310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安全機制</a:t>
            </a:r>
            <a:endParaRPr lang="en-US" sz="2650" dirty="0"/>
          </a:p>
        </p:txBody>
      </p:sp>
      <p:sp>
        <p:nvSpPr>
          <p:cNvPr id="12" name="Shape 10"/>
          <p:cNvSpPr/>
          <p:nvPr/>
        </p:nvSpPr>
        <p:spPr>
          <a:xfrm>
            <a:off x="6239828" y="3353753"/>
            <a:ext cx="3688675" cy="1458635"/>
          </a:xfrm>
          <a:prstGeom prst="roundRect">
            <a:avLst>
              <a:gd name="adj" fmla="val 2333"/>
            </a:avLst>
          </a:prstGeom>
          <a:solidFill>
            <a:srgbClr val="FCFBF8"/>
          </a:solidFill>
          <a:ln w="30480">
            <a:solidFill>
              <a:srgbClr val="D6D3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7122" y="361104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Rate Limiting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497122" y="4192191"/>
            <a:ext cx="317408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60 秒內限制重複發送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10155317" y="3353753"/>
            <a:ext cx="3688794" cy="1458635"/>
          </a:xfrm>
          <a:prstGeom prst="roundRect">
            <a:avLst>
              <a:gd name="adj" fmla="val 2333"/>
            </a:avLst>
          </a:prstGeom>
          <a:solidFill>
            <a:srgbClr val="FCFBF8"/>
          </a:solidFill>
          <a:ln w="30480">
            <a:solidFill>
              <a:srgbClr val="D6D3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412611" y="361104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reCAPTCHA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0412611" y="4192191"/>
            <a:ext cx="317420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防止機器人濫發</a:t>
            </a:r>
            <a:endParaRPr lang="en-US" sz="1750" dirty="0"/>
          </a:p>
        </p:txBody>
      </p:sp>
      <p:sp>
        <p:nvSpPr>
          <p:cNvPr id="18" name="Shape 16"/>
          <p:cNvSpPr/>
          <p:nvPr/>
        </p:nvSpPr>
        <p:spPr>
          <a:xfrm>
            <a:off x="6239828" y="5039201"/>
            <a:ext cx="7604284" cy="1458635"/>
          </a:xfrm>
          <a:prstGeom prst="roundRect">
            <a:avLst>
              <a:gd name="adj" fmla="val 2333"/>
            </a:avLst>
          </a:prstGeom>
          <a:solidFill>
            <a:srgbClr val="FCFBF8"/>
          </a:solidFill>
          <a:ln w="30480">
            <a:solidFill>
              <a:srgbClr val="D6D3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7122" y="529649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IP 監控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497122" y="5877639"/>
            <a:ext cx="708969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異常行為自動封鎖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772001"/>
            <a:ext cx="463260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OTP 驗證與 JWT Token</a:t>
            </a:r>
            <a:endParaRPr lang="en-US" sz="3550" dirty="0"/>
          </a:p>
        </p:txBody>
      </p:sp>
      <p:sp>
        <p:nvSpPr>
          <p:cNvPr id="4" name="Shape 1"/>
          <p:cNvSpPr/>
          <p:nvPr/>
        </p:nvSpPr>
        <p:spPr>
          <a:xfrm>
            <a:off x="793790" y="1611154"/>
            <a:ext cx="7556421" cy="2832497"/>
          </a:xfrm>
          <a:prstGeom prst="roundRect">
            <a:avLst>
              <a:gd name="adj" fmla="val 961"/>
            </a:avLst>
          </a:prstGeom>
          <a:solidFill>
            <a:srgbClr val="F0EDE6"/>
          </a:solidFill>
          <a:ln/>
        </p:spPr>
      </p:sp>
      <p:sp>
        <p:nvSpPr>
          <p:cNvPr id="5" name="Shape 2"/>
          <p:cNvSpPr/>
          <p:nvPr/>
        </p:nvSpPr>
        <p:spPr>
          <a:xfrm>
            <a:off x="975241" y="1792605"/>
            <a:ext cx="544354" cy="544354"/>
          </a:xfrm>
          <a:prstGeom prst="roundRect">
            <a:avLst>
              <a:gd name="adj" fmla="val 16796213"/>
            </a:avLst>
          </a:prstGeom>
          <a:solidFill>
            <a:srgbClr val="1B5F39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4903" y="1942267"/>
            <a:ext cx="244912" cy="24491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75241" y="2518410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OTP 驗證規則</a:t>
            </a:r>
            <a:endParaRPr lang="en-US" sz="1750" dirty="0"/>
          </a:p>
        </p:txBody>
      </p:sp>
      <p:sp>
        <p:nvSpPr>
          <p:cNvPr id="8" name="Text 4"/>
          <p:cNvSpPr/>
          <p:nvPr/>
        </p:nvSpPr>
        <p:spPr>
          <a:xfrm>
            <a:off x="975241" y="2910721"/>
            <a:ext cx="7193518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6 位數字驗證碼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975241" y="3264456"/>
            <a:ext cx="7193518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5 分鐘有效期限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975241" y="3618190"/>
            <a:ext cx="7193518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單次使用限制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975241" y="3971925"/>
            <a:ext cx="7193518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錯誤 5 次自動鎖定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793790" y="4625102"/>
            <a:ext cx="7556421" cy="2832497"/>
          </a:xfrm>
          <a:prstGeom prst="roundRect">
            <a:avLst>
              <a:gd name="adj" fmla="val 961"/>
            </a:avLst>
          </a:prstGeom>
          <a:solidFill>
            <a:srgbClr val="F0EDE6"/>
          </a:solidFill>
          <a:ln/>
        </p:spPr>
      </p:sp>
      <p:sp>
        <p:nvSpPr>
          <p:cNvPr id="13" name="Shape 9"/>
          <p:cNvSpPr/>
          <p:nvPr/>
        </p:nvSpPr>
        <p:spPr>
          <a:xfrm>
            <a:off x="975241" y="4806553"/>
            <a:ext cx="544354" cy="544354"/>
          </a:xfrm>
          <a:prstGeom prst="roundRect">
            <a:avLst>
              <a:gd name="adj" fmla="val 16796213"/>
            </a:avLst>
          </a:prstGeom>
          <a:solidFill>
            <a:srgbClr val="1B5F39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24903" y="4956215"/>
            <a:ext cx="244912" cy="24491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75241" y="5532358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JWT Token 結構</a:t>
            </a:r>
            <a:endParaRPr lang="en-US" sz="1750" dirty="0"/>
          </a:p>
        </p:txBody>
      </p:sp>
      <p:sp>
        <p:nvSpPr>
          <p:cNvPr id="16" name="Text 11"/>
          <p:cNvSpPr/>
          <p:nvPr/>
        </p:nvSpPr>
        <p:spPr>
          <a:xfrm>
            <a:off x="975241" y="5924669"/>
            <a:ext cx="7193518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Header:演算法與類型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975241" y="6278404"/>
            <a:ext cx="7193518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Payload:用戶資訊與權限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975241" y="6632138"/>
            <a:ext cx="7193518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Signature:數位簽章驗證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975241" y="6985873"/>
            <a:ext cx="7193518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有效期限 5 分鐘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14970"/>
            <a:ext cx="3746897" cy="460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9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Postman 手動測試步驟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941189" y="1691640"/>
            <a:ext cx="147399" cy="663297"/>
          </a:xfrm>
          <a:prstGeom prst="roundRect">
            <a:avLst>
              <a:gd name="adj" fmla="val 15004"/>
            </a:avLst>
          </a:prstGeom>
          <a:solidFill>
            <a:srgbClr val="F0EDE6"/>
          </a:solidFill>
          <a:ln/>
        </p:spPr>
      </p:sp>
      <p:sp>
        <p:nvSpPr>
          <p:cNvPr id="4" name="Shape 2"/>
          <p:cNvSpPr/>
          <p:nvPr/>
        </p:nvSpPr>
        <p:spPr>
          <a:xfrm>
            <a:off x="793790" y="1594842"/>
            <a:ext cx="442198" cy="442198"/>
          </a:xfrm>
          <a:prstGeom prst="roundRect">
            <a:avLst>
              <a:gd name="adj" fmla="val 103393"/>
            </a:avLst>
          </a:prstGeom>
          <a:solidFill>
            <a:srgbClr val="F0EDE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04280" y="1705451"/>
            <a:ext cx="221099" cy="22109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83387" y="1617940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環境設定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1383387" y="1936671"/>
            <a:ext cx="12453223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建立 Environment 並設定 api-token、platform-token、base-url 等變數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1162288" y="2723555"/>
            <a:ext cx="147399" cy="663297"/>
          </a:xfrm>
          <a:prstGeom prst="roundRect">
            <a:avLst>
              <a:gd name="adj" fmla="val 15004"/>
            </a:avLst>
          </a:prstGeom>
          <a:solidFill>
            <a:srgbClr val="F0EDE6"/>
          </a:solidFill>
          <a:ln/>
        </p:spPr>
      </p:sp>
      <p:sp>
        <p:nvSpPr>
          <p:cNvPr id="9" name="Shape 6"/>
          <p:cNvSpPr/>
          <p:nvPr/>
        </p:nvSpPr>
        <p:spPr>
          <a:xfrm>
            <a:off x="1014889" y="2626757"/>
            <a:ext cx="442198" cy="442198"/>
          </a:xfrm>
          <a:prstGeom prst="roundRect">
            <a:avLst>
              <a:gd name="adj" fmla="val 103393"/>
            </a:avLst>
          </a:prstGeom>
          <a:solidFill>
            <a:srgbClr val="F0EDE6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25379" y="2737366"/>
            <a:ext cx="221099" cy="22109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04486" y="2649855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檢查首購狀態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1604486" y="2968585"/>
            <a:ext cx="12232124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呼叫 /cart/first_purchase API 確認是否為首次購物用戶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1383387" y="3755469"/>
            <a:ext cx="147399" cy="663297"/>
          </a:xfrm>
          <a:prstGeom prst="roundRect">
            <a:avLst>
              <a:gd name="adj" fmla="val 15004"/>
            </a:avLst>
          </a:prstGeom>
          <a:solidFill>
            <a:srgbClr val="F0EDE6"/>
          </a:solidFill>
          <a:ln/>
        </p:spPr>
      </p:sp>
      <p:sp>
        <p:nvSpPr>
          <p:cNvPr id="14" name="Shape 10"/>
          <p:cNvSpPr/>
          <p:nvPr/>
        </p:nvSpPr>
        <p:spPr>
          <a:xfrm>
            <a:off x="1235988" y="3658672"/>
            <a:ext cx="442198" cy="442198"/>
          </a:xfrm>
          <a:prstGeom prst="roundRect">
            <a:avLst>
              <a:gd name="adj" fmla="val 103393"/>
            </a:avLst>
          </a:prstGeom>
          <a:solidFill>
            <a:srgbClr val="F0EDE6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46478" y="3769281"/>
            <a:ext cx="221099" cy="22109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825585" y="3681770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查詢購物車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1825585" y="4000500"/>
            <a:ext cx="12011025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使用 /cart/cart_request_cache 取得當前購物車內容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1604605" y="4787384"/>
            <a:ext cx="147399" cy="663297"/>
          </a:xfrm>
          <a:prstGeom prst="roundRect">
            <a:avLst>
              <a:gd name="adj" fmla="val 15004"/>
            </a:avLst>
          </a:prstGeom>
          <a:solidFill>
            <a:srgbClr val="F0EDE6"/>
          </a:solidFill>
          <a:ln/>
        </p:spPr>
      </p:sp>
      <p:sp>
        <p:nvSpPr>
          <p:cNvPr id="19" name="Shape 14"/>
          <p:cNvSpPr/>
          <p:nvPr/>
        </p:nvSpPr>
        <p:spPr>
          <a:xfrm>
            <a:off x="1457206" y="4690586"/>
            <a:ext cx="442198" cy="442198"/>
          </a:xfrm>
          <a:prstGeom prst="roundRect">
            <a:avLst>
              <a:gd name="adj" fmla="val 103393"/>
            </a:avLst>
          </a:prstGeom>
          <a:solidFill>
            <a:srgbClr val="F0EDE6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567696" y="4801195"/>
            <a:ext cx="221099" cy="221099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2046803" y="4713684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計算金額</a:t>
            </a:r>
            <a:endParaRPr lang="en-US" sz="1450" dirty="0"/>
          </a:p>
        </p:txBody>
      </p:sp>
      <p:sp>
        <p:nvSpPr>
          <p:cNvPr id="22" name="Text 16"/>
          <p:cNvSpPr/>
          <p:nvPr/>
        </p:nvSpPr>
        <p:spPr>
          <a:xfrm>
            <a:off x="2046803" y="5032415"/>
            <a:ext cx="11789807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POST /cart/calculate 計算總金額、折扣與運費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1383387" y="5819299"/>
            <a:ext cx="147399" cy="663297"/>
          </a:xfrm>
          <a:prstGeom prst="roundRect">
            <a:avLst>
              <a:gd name="adj" fmla="val 15004"/>
            </a:avLst>
          </a:prstGeom>
          <a:solidFill>
            <a:srgbClr val="F0EDE6"/>
          </a:solidFill>
          <a:ln/>
        </p:spPr>
      </p:sp>
      <p:sp>
        <p:nvSpPr>
          <p:cNvPr id="24" name="Shape 18"/>
          <p:cNvSpPr/>
          <p:nvPr/>
        </p:nvSpPr>
        <p:spPr>
          <a:xfrm>
            <a:off x="1235988" y="5722501"/>
            <a:ext cx="442198" cy="442198"/>
          </a:xfrm>
          <a:prstGeom prst="roundRect">
            <a:avLst>
              <a:gd name="adj" fmla="val 103393"/>
            </a:avLst>
          </a:prstGeom>
          <a:solidFill>
            <a:srgbClr val="F0EDE6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346478" y="5833110"/>
            <a:ext cx="221099" cy="221099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825585" y="5745599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查詢優惠券</a:t>
            </a:r>
            <a:endParaRPr lang="en-US" sz="1450" dirty="0"/>
          </a:p>
        </p:txBody>
      </p:sp>
      <p:sp>
        <p:nvSpPr>
          <p:cNvPr id="27" name="Text 20"/>
          <p:cNvSpPr/>
          <p:nvPr/>
        </p:nvSpPr>
        <p:spPr>
          <a:xfrm>
            <a:off x="1825585" y="6064329"/>
            <a:ext cx="12011025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GET /coupons/available_coupons 取得可用優惠券列表</a:t>
            </a:r>
            <a:endParaRPr lang="en-US" sz="1150" dirty="0"/>
          </a:p>
        </p:txBody>
      </p:sp>
      <p:sp>
        <p:nvSpPr>
          <p:cNvPr id="28" name="Shape 21"/>
          <p:cNvSpPr/>
          <p:nvPr/>
        </p:nvSpPr>
        <p:spPr>
          <a:xfrm>
            <a:off x="1162288" y="6851213"/>
            <a:ext cx="147399" cy="663297"/>
          </a:xfrm>
          <a:prstGeom prst="roundRect">
            <a:avLst>
              <a:gd name="adj" fmla="val 15004"/>
            </a:avLst>
          </a:prstGeom>
          <a:solidFill>
            <a:srgbClr val="F0EDE6"/>
          </a:solidFill>
          <a:ln/>
        </p:spPr>
      </p:sp>
      <p:sp>
        <p:nvSpPr>
          <p:cNvPr id="29" name="Shape 22"/>
          <p:cNvSpPr/>
          <p:nvPr/>
        </p:nvSpPr>
        <p:spPr>
          <a:xfrm>
            <a:off x="1014889" y="6754416"/>
            <a:ext cx="442198" cy="442198"/>
          </a:xfrm>
          <a:prstGeom prst="roundRect">
            <a:avLst>
              <a:gd name="adj" fmla="val 103393"/>
            </a:avLst>
          </a:prstGeom>
          <a:solidFill>
            <a:srgbClr val="F0EDE6"/>
          </a:solidFill>
          <a:ln/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25379" y="6865025"/>
            <a:ext cx="221099" cy="221099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1604486" y="6777514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驗證結果</a:t>
            </a:r>
            <a:endParaRPr lang="en-US" sz="1450" dirty="0"/>
          </a:p>
        </p:txBody>
      </p:sp>
      <p:sp>
        <p:nvSpPr>
          <p:cNvPr id="32" name="Text 24"/>
          <p:cNvSpPr/>
          <p:nvPr/>
        </p:nvSpPr>
        <p:spPr>
          <a:xfrm>
            <a:off x="1604486" y="7096244"/>
            <a:ext cx="12232124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確認回應狀態碼、資料結構與業務邏輯正確性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4308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自動化測試案例設計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118836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測試檔案結構</a:t>
            </a:r>
            <a:endParaRPr lang="en-US" sz="2650" dirty="0"/>
          </a:p>
        </p:txBody>
      </p:sp>
      <p:sp>
        <p:nvSpPr>
          <p:cNvPr id="4" name="Shape 2"/>
          <p:cNvSpPr/>
          <p:nvPr/>
        </p:nvSpPr>
        <p:spPr>
          <a:xfrm>
            <a:off x="793790" y="2799278"/>
            <a:ext cx="4205168" cy="4331970"/>
          </a:xfrm>
          <a:prstGeom prst="roundRect">
            <a:avLst>
              <a:gd name="adj" fmla="val 809"/>
            </a:avLst>
          </a:prstGeom>
          <a:solidFill>
            <a:srgbClr val="EFEEEB"/>
          </a:solidFill>
          <a:ln/>
        </p:spPr>
      </p:sp>
      <p:sp>
        <p:nvSpPr>
          <p:cNvPr id="5" name="Shape 3"/>
          <p:cNvSpPr/>
          <p:nvPr/>
        </p:nvSpPr>
        <p:spPr>
          <a:xfrm>
            <a:off x="782479" y="2799278"/>
            <a:ext cx="4227790" cy="4331970"/>
          </a:xfrm>
          <a:prstGeom prst="roundRect">
            <a:avLst>
              <a:gd name="adj" fmla="val 805"/>
            </a:avLst>
          </a:prstGeom>
          <a:solidFill>
            <a:srgbClr val="EFEEEB"/>
          </a:solidFill>
          <a:ln/>
        </p:spPr>
      </p:sp>
      <p:sp>
        <p:nvSpPr>
          <p:cNvPr id="6" name="Text 4"/>
          <p:cNvSpPr/>
          <p:nvPr/>
        </p:nvSpPr>
        <p:spPr>
          <a:xfrm>
            <a:off x="1009293" y="2969300"/>
            <a:ext cx="3774162" cy="3991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tests/api/├── cart/│   ├── TC-001-first-purchase│   ├── TC-002-cart-cache│   ├── TC-003-calculate│   └── TC-008-complete-flow└── login/    ├── TC-001-send-otp    ├── TC-002-verify-otp    ├── TC-003-jwt-login    └── TC-007-complete-flow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5559981" y="2118836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測試框架選擇</a:t>
            </a:r>
            <a:endParaRPr lang="en-US" sz="2650" dirty="0"/>
          </a:p>
        </p:txBody>
      </p:sp>
      <p:sp>
        <p:nvSpPr>
          <p:cNvPr id="8" name="Text 6"/>
          <p:cNvSpPr/>
          <p:nvPr/>
        </p:nvSpPr>
        <p:spPr>
          <a:xfrm>
            <a:off x="5559981" y="2770942"/>
            <a:ext cx="828413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使用 Playwright 進行 API 測試,提供跨平台支援與豐富的斷言功能。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5559981" y="336065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核心優勢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559981" y="3941802"/>
            <a:ext cx="828413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原生支援 HTTP 請求測試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5559981" y="4384000"/>
            <a:ext cx="828413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完整的瀏覽器上下文模擬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5559981" y="4826198"/>
            <a:ext cx="828413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強大的錯誤處理機制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5559981" y="5268397"/>
            <a:ext cx="828413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詳細的測試報告產生</a:t>
            </a:r>
            <a:endParaRPr lang="en-US" sz="1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72847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購物車 API 測試案例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035254"/>
            <a:ext cx="6407944" cy="2547342"/>
          </a:xfrm>
          <a:prstGeom prst="roundRect">
            <a:avLst>
              <a:gd name="adj" fmla="val 1336"/>
            </a:avLst>
          </a:prstGeom>
          <a:solidFill>
            <a:srgbClr val="FCFBF8"/>
          </a:solidFill>
          <a:ln w="30480">
            <a:solidFill>
              <a:srgbClr val="D6D3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4270" y="2065734"/>
            <a:ext cx="6346984" cy="680442"/>
          </a:xfrm>
          <a:prstGeom prst="rect">
            <a:avLst/>
          </a:prstGeom>
          <a:solidFill>
            <a:srgbClr val="F0EDE6"/>
          </a:solidFill>
          <a:ln/>
        </p:spPr>
      </p:sp>
      <p:sp>
        <p:nvSpPr>
          <p:cNvPr id="5" name="Text 3"/>
          <p:cNvSpPr/>
          <p:nvPr/>
        </p:nvSpPr>
        <p:spPr>
          <a:xfrm>
            <a:off x="3827621" y="2193250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4"/>
          <p:cNvSpPr/>
          <p:nvPr/>
        </p:nvSpPr>
        <p:spPr>
          <a:xfrm>
            <a:off x="1051084" y="297299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TC-CART-API-001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51084" y="3463409"/>
            <a:ext cx="589335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測試目標: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驗證首購檢查 API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1051084" y="3962400"/>
            <a:ext cx="589335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預期結果: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Status 200,回傳 is_first_purchase 布林值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7428548" y="2035254"/>
            <a:ext cx="6408063" cy="2547342"/>
          </a:xfrm>
          <a:prstGeom prst="roundRect">
            <a:avLst>
              <a:gd name="adj" fmla="val 1336"/>
            </a:avLst>
          </a:prstGeom>
          <a:solidFill>
            <a:srgbClr val="FCFBF8"/>
          </a:solidFill>
          <a:ln w="30480">
            <a:solidFill>
              <a:srgbClr val="D6D3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59027" y="2065734"/>
            <a:ext cx="6347103" cy="680442"/>
          </a:xfrm>
          <a:prstGeom prst="rect">
            <a:avLst/>
          </a:prstGeom>
          <a:solidFill>
            <a:srgbClr val="F0EDE6"/>
          </a:solidFill>
          <a:ln/>
        </p:spPr>
      </p:sp>
      <p:sp>
        <p:nvSpPr>
          <p:cNvPr id="11" name="Text 9"/>
          <p:cNvSpPr/>
          <p:nvPr/>
        </p:nvSpPr>
        <p:spPr>
          <a:xfrm>
            <a:off x="10462498" y="2193250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2</a:t>
            </a:r>
            <a:endParaRPr lang="en-US" sz="2650" dirty="0"/>
          </a:p>
        </p:txBody>
      </p:sp>
      <p:sp>
        <p:nvSpPr>
          <p:cNvPr id="12" name="Text 10"/>
          <p:cNvSpPr/>
          <p:nvPr/>
        </p:nvSpPr>
        <p:spPr>
          <a:xfrm>
            <a:off x="7685842" y="297299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TC-CART-API-002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685842" y="3463409"/>
            <a:ext cx="589347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測試目標: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查詢購物車快取功能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7685842" y="3962400"/>
            <a:ext cx="589347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預期結果: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Status 200,回傳購物車內容結構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793790" y="4809411"/>
            <a:ext cx="6407944" cy="2547342"/>
          </a:xfrm>
          <a:prstGeom prst="roundRect">
            <a:avLst>
              <a:gd name="adj" fmla="val 1336"/>
            </a:avLst>
          </a:prstGeom>
          <a:solidFill>
            <a:srgbClr val="FCFBF8"/>
          </a:solidFill>
          <a:ln w="30480">
            <a:solidFill>
              <a:srgbClr val="D6D3C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4270" y="4839891"/>
            <a:ext cx="6346984" cy="680442"/>
          </a:xfrm>
          <a:prstGeom prst="rect">
            <a:avLst/>
          </a:prstGeom>
          <a:solidFill>
            <a:srgbClr val="F0EDE6"/>
          </a:solidFill>
          <a:ln/>
        </p:spPr>
      </p:sp>
      <p:sp>
        <p:nvSpPr>
          <p:cNvPr id="17" name="Text 15"/>
          <p:cNvSpPr/>
          <p:nvPr/>
        </p:nvSpPr>
        <p:spPr>
          <a:xfrm>
            <a:off x="3827621" y="4967407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3</a:t>
            </a:r>
            <a:endParaRPr lang="en-US" sz="2650" dirty="0"/>
          </a:p>
        </p:txBody>
      </p:sp>
      <p:sp>
        <p:nvSpPr>
          <p:cNvPr id="18" name="Text 16"/>
          <p:cNvSpPr/>
          <p:nvPr/>
        </p:nvSpPr>
        <p:spPr>
          <a:xfrm>
            <a:off x="1051084" y="574714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TC-CART-API-003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051084" y="6237565"/>
            <a:ext cx="589335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測試目標: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驗證金額計算正確性</a:t>
            </a:r>
            <a:endParaRPr lang="en-US" sz="1750" dirty="0"/>
          </a:p>
        </p:txBody>
      </p:sp>
      <p:sp>
        <p:nvSpPr>
          <p:cNvPr id="20" name="Text 18"/>
          <p:cNvSpPr/>
          <p:nvPr/>
        </p:nvSpPr>
        <p:spPr>
          <a:xfrm>
            <a:off x="1051084" y="6736556"/>
            <a:ext cx="589335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預期結果: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Status 200,總金額、折扣與運費正確</a:t>
            </a:r>
            <a:endParaRPr lang="en-US" sz="1750" dirty="0"/>
          </a:p>
        </p:txBody>
      </p:sp>
      <p:sp>
        <p:nvSpPr>
          <p:cNvPr id="21" name="Shape 19"/>
          <p:cNvSpPr/>
          <p:nvPr/>
        </p:nvSpPr>
        <p:spPr>
          <a:xfrm>
            <a:off x="7428548" y="4809411"/>
            <a:ext cx="6408063" cy="2547342"/>
          </a:xfrm>
          <a:prstGeom prst="roundRect">
            <a:avLst>
              <a:gd name="adj" fmla="val 1336"/>
            </a:avLst>
          </a:prstGeom>
          <a:solidFill>
            <a:srgbClr val="FCFBF8"/>
          </a:solidFill>
          <a:ln w="30480">
            <a:solidFill>
              <a:srgbClr val="D6D3C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459027" y="4839891"/>
            <a:ext cx="6347103" cy="680442"/>
          </a:xfrm>
          <a:prstGeom prst="rect">
            <a:avLst/>
          </a:prstGeom>
          <a:solidFill>
            <a:srgbClr val="F0EDE6"/>
          </a:solidFill>
          <a:ln/>
        </p:spPr>
      </p:sp>
      <p:sp>
        <p:nvSpPr>
          <p:cNvPr id="23" name="Text 21"/>
          <p:cNvSpPr/>
          <p:nvPr/>
        </p:nvSpPr>
        <p:spPr>
          <a:xfrm>
            <a:off x="10462498" y="4967407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4</a:t>
            </a:r>
            <a:endParaRPr lang="en-US" sz="2650" dirty="0"/>
          </a:p>
        </p:txBody>
      </p:sp>
      <p:sp>
        <p:nvSpPr>
          <p:cNvPr id="24" name="Text 22"/>
          <p:cNvSpPr/>
          <p:nvPr/>
        </p:nvSpPr>
        <p:spPr>
          <a:xfrm>
            <a:off x="7685842" y="574714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TC-CART-API-008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7685842" y="6237565"/>
            <a:ext cx="589347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測試目標: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完整購物流程整合測試</a:t>
            </a:r>
            <a:endParaRPr lang="en-US" sz="1750" dirty="0"/>
          </a:p>
        </p:txBody>
      </p:sp>
      <p:sp>
        <p:nvSpPr>
          <p:cNvPr id="26" name="Text 24"/>
          <p:cNvSpPr/>
          <p:nvPr/>
        </p:nvSpPr>
        <p:spPr>
          <a:xfrm>
            <a:off x="7685842" y="6736556"/>
            <a:ext cx="589347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預期結果: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所有 API 順序執行成功,資料一致</a:t>
            </a:r>
            <a:endParaRPr lang="en-US" sz="1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04751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登入 API 測試案例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2096453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0EDE6"/>
          </a:solidFill>
          <a:ln/>
        </p:spPr>
      </p:sp>
      <p:sp>
        <p:nvSpPr>
          <p:cNvPr id="5" name="Text 2"/>
          <p:cNvSpPr/>
          <p:nvPr/>
        </p:nvSpPr>
        <p:spPr>
          <a:xfrm>
            <a:off x="878860" y="2138958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3"/>
          <p:cNvSpPr/>
          <p:nvPr/>
        </p:nvSpPr>
        <p:spPr>
          <a:xfrm>
            <a:off x="1530906" y="2174319"/>
            <a:ext cx="428089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TC-LOGIN-API-001:發送 OTP 簡訊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530906" y="2664738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測試 OTP 發送功能,驗證 Status 201 與 success 回應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793790" y="3481268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0EDE6"/>
          </a:solidFill>
          <a:ln/>
        </p:spPr>
      </p:sp>
      <p:sp>
        <p:nvSpPr>
          <p:cNvPr id="9" name="Text 6"/>
          <p:cNvSpPr/>
          <p:nvPr/>
        </p:nvSpPr>
        <p:spPr>
          <a:xfrm>
            <a:off x="878860" y="3523774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2</a:t>
            </a:r>
            <a:endParaRPr lang="en-US" sz="2650" dirty="0"/>
          </a:p>
        </p:txBody>
      </p:sp>
      <p:sp>
        <p:nvSpPr>
          <p:cNvPr id="10" name="Text 7"/>
          <p:cNvSpPr/>
          <p:nvPr/>
        </p:nvSpPr>
        <p:spPr>
          <a:xfrm>
            <a:off x="1530906" y="3559135"/>
            <a:ext cx="519076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TC-LOGIN-API-002:驗證 OTP 並取得 JWT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530906" y="4049554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輸入驗證碼,確認回傳有效的 JWT Token 與正確結構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793790" y="4866084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0EDE6"/>
          </a:solidFill>
          <a:ln/>
        </p:spPr>
      </p:sp>
      <p:sp>
        <p:nvSpPr>
          <p:cNvPr id="13" name="Text 10"/>
          <p:cNvSpPr/>
          <p:nvPr/>
        </p:nvSpPr>
        <p:spPr>
          <a:xfrm>
            <a:off x="878860" y="4908590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3</a:t>
            </a:r>
            <a:endParaRPr lang="en-US" sz="2650" dirty="0"/>
          </a:p>
        </p:txBody>
      </p:sp>
      <p:sp>
        <p:nvSpPr>
          <p:cNvPr id="14" name="Text 11"/>
          <p:cNvSpPr/>
          <p:nvPr/>
        </p:nvSpPr>
        <p:spPr>
          <a:xfrm>
            <a:off x="1530906" y="4943951"/>
            <a:ext cx="450222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TC-LOGIN-API-003:JWT Token 登入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530906" y="5434370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使用 Token 完成登入,驗證 302 重定向與 cookies 設定</a:t>
            </a:r>
            <a:endParaRPr lang="en-US" sz="1750" dirty="0"/>
          </a:p>
        </p:txBody>
      </p:sp>
      <p:sp>
        <p:nvSpPr>
          <p:cNvPr id="16" name="Shape 13"/>
          <p:cNvSpPr/>
          <p:nvPr/>
        </p:nvSpPr>
        <p:spPr>
          <a:xfrm>
            <a:off x="793790" y="6250900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0EDE6"/>
          </a:solidFill>
          <a:ln/>
        </p:spPr>
      </p:sp>
      <p:sp>
        <p:nvSpPr>
          <p:cNvPr id="17" name="Text 14"/>
          <p:cNvSpPr/>
          <p:nvPr/>
        </p:nvSpPr>
        <p:spPr>
          <a:xfrm>
            <a:off x="878860" y="6293406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4</a:t>
            </a:r>
            <a:endParaRPr lang="en-US" sz="2650" dirty="0"/>
          </a:p>
        </p:txBody>
      </p:sp>
      <p:sp>
        <p:nvSpPr>
          <p:cNvPr id="18" name="Text 15"/>
          <p:cNvSpPr/>
          <p:nvPr/>
        </p:nvSpPr>
        <p:spPr>
          <a:xfrm>
            <a:off x="1530906" y="6328767"/>
            <a:ext cx="417183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TC-LOGIN-API-007:完整登入流程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1530906" y="6819186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整合測試從檢查註冊到登入成功的完整 API 互動</a:t>
            </a:r>
            <a:endParaRPr lang="en-US" sz="1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13729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錯誤處理測試重點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3790" y="3299698"/>
            <a:ext cx="566976" cy="5669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44253" y="343435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無效 Token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644253" y="3924776"/>
            <a:ext cx="552914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測試使用錯誤或過期的 api-token,預期回傳 401/403 狀態碼</a:t>
            </a:r>
            <a:endParaRPr lang="en-US" sz="17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56884" y="3299698"/>
            <a:ext cx="566976" cy="56697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307348" y="343435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缺少參數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8307348" y="3924776"/>
            <a:ext cx="552926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故意省略必要欄位,驗證系統回傳 400/422 錯誤訊息</a:t>
            </a:r>
            <a:endParaRPr lang="en-US" sz="17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3790" y="5104209"/>
            <a:ext cx="566976" cy="56697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644253" y="523886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無效商品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1644253" y="5729288"/>
            <a:ext cx="552914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使用不存在的 SKU,確認 API 正確處理並回傳適當錯誤</a:t>
            </a:r>
            <a:endParaRPr lang="en-US" sz="17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456884" y="5104209"/>
            <a:ext cx="566976" cy="56697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307348" y="523886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Rate Limiting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8307348" y="5729288"/>
            <a:ext cx="552926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短時間內連續發送請求,測試系統回傳 429 限流機制</a:t>
            </a:r>
            <a:endParaRPr lang="en-US" sz="1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05984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測試資料管理策略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481739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Fixtures 結構</a:t>
            </a:r>
            <a:endParaRPr lang="en-US" sz="2650" dirty="0"/>
          </a:p>
        </p:txBody>
      </p:sp>
      <p:sp>
        <p:nvSpPr>
          <p:cNvPr id="4" name="Shape 2"/>
          <p:cNvSpPr/>
          <p:nvPr/>
        </p:nvSpPr>
        <p:spPr>
          <a:xfrm>
            <a:off x="793790" y="3162181"/>
            <a:ext cx="6244709" cy="3606165"/>
          </a:xfrm>
          <a:prstGeom prst="roundRect">
            <a:avLst>
              <a:gd name="adj" fmla="val 944"/>
            </a:avLst>
          </a:prstGeom>
          <a:solidFill>
            <a:srgbClr val="EFEEEB"/>
          </a:solidFill>
          <a:ln/>
        </p:spPr>
      </p:sp>
      <p:sp>
        <p:nvSpPr>
          <p:cNvPr id="5" name="Shape 3"/>
          <p:cNvSpPr/>
          <p:nvPr/>
        </p:nvSpPr>
        <p:spPr>
          <a:xfrm>
            <a:off x="782479" y="3162181"/>
            <a:ext cx="6267331" cy="3606165"/>
          </a:xfrm>
          <a:prstGeom prst="roundRect">
            <a:avLst>
              <a:gd name="adj" fmla="val 944"/>
            </a:avLst>
          </a:prstGeom>
          <a:solidFill>
            <a:srgbClr val="EFEEEB"/>
          </a:solidFill>
          <a:ln/>
        </p:spPr>
      </p:sp>
      <p:sp>
        <p:nvSpPr>
          <p:cNvPr id="6" name="Text 4"/>
          <p:cNvSpPr/>
          <p:nvPr/>
        </p:nvSpPr>
        <p:spPr>
          <a:xfrm>
            <a:off x="1009293" y="3332202"/>
            <a:ext cx="5813703" cy="3266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fixtures/├── cart-test-data.json│   ├── products[]│   ├── shipping_methods[]│   └── test_tokens{}└── login-test-data.json    ├── test_accounts[]    ├── test_tokens{}    └── error_scenarios{}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599521" y="2481739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最佳實踐</a:t>
            </a:r>
            <a:endParaRPr lang="en-US" sz="2650" dirty="0"/>
          </a:p>
        </p:txBody>
      </p:sp>
      <p:sp>
        <p:nvSpPr>
          <p:cNvPr id="8" name="Shape 6"/>
          <p:cNvSpPr/>
          <p:nvPr/>
        </p:nvSpPr>
        <p:spPr>
          <a:xfrm>
            <a:off x="7599521" y="3286958"/>
            <a:ext cx="113348" cy="113348"/>
          </a:xfrm>
          <a:prstGeom prst="roundRect">
            <a:avLst>
              <a:gd name="adj" fmla="val 403360"/>
            </a:avLst>
          </a:prstGeom>
          <a:solidFill>
            <a:srgbClr val="1B5F39"/>
          </a:solidFill>
          <a:ln/>
        </p:spPr>
      </p:sp>
      <p:sp>
        <p:nvSpPr>
          <p:cNvPr id="9" name="Text 7"/>
          <p:cNvSpPr/>
          <p:nvPr/>
        </p:nvSpPr>
        <p:spPr>
          <a:xfrm>
            <a:off x="7939683" y="3162181"/>
            <a:ext cx="590454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使用 JSON 檔案統一管理測試資料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7599521" y="4103489"/>
            <a:ext cx="113348" cy="113348"/>
          </a:xfrm>
          <a:prstGeom prst="roundRect">
            <a:avLst>
              <a:gd name="adj" fmla="val 403360"/>
            </a:avLst>
          </a:prstGeom>
          <a:solidFill>
            <a:srgbClr val="1B5F39"/>
          </a:solidFill>
          <a:ln/>
        </p:spPr>
      </p:sp>
      <p:sp>
        <p:nvSpPr>
          <p:cNvPr id="11" name="Text 9"/>
          <p:cNvSpPr/>
          <p:nvPr/>
        </p:nvSpPr>
        <p:spPr>
          <a:xfrm>
            <a:off x="7939683" y="3978712"/>
            <a:ext cx="590454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敏感資訊透過環境變數注入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599521" y="4920020"/>
            <a:ext cx="113348" cy="113348"/>
          </a:xfrm>
          <a:prstGeom prst="roundRect">
            <a:avLst>
              <a:gd name="adj" fmla="val 403360"/>
            </a:avLst>
          </a:prstGeom>
          <a:solidFill>
            <a:srgbClr val="1B5F39"/>
          </a:solidFill>
          <a:ln/>
        </p:spPr>
      </p:sp>
      <p:sp>
        <p:nvSpPr>
          <p:cNvPr id="13" name="Text 11"/>
          <p:cNvSpPr/>
          <p:nvPr/>
        </p:nvSpPr>
        <p:spPr>
          <a:xfrm>
            <a:off x="7939683" y="4795242"/>
            <a:ext cx="590454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區分正常案例與錯誤案例資料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7599521" y="5736550"/>
            <a:ext cx="113348" cy="113348"/>
          </a:xfrm>
          <a:prstGeom prst="roundRect">
            <a:avLst>
              <a:gd name="adj" fmla="val 403360"/>
            </a:avLst>
          </a:prstGeom>
          <a:solidFill>
            <a:srgbClr val="1B5F39"/>
          </a:solidFill>
          <a:ln/>
        </p:spPr>
      </p:sp>
      <p:sp>
        <p:nvSpPr>
          <p:cNvPr id="15" name="Text 13"/>
          <p:cNvSpPr/>
          <p:nvPr/>
        </p:nvSpPr>
        <p:spPr>
          <a:xfrm>
            <a:off x="7939683" y="5611773"/>
            <a:ext cx="590454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定期更新測試用 Token 與帳號</a:t>
            </a:r>
            <a:endParaRPr lang="en-US" sz="1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72383"/>
            <a:ext cx="3969425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1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測試執行與報告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793790" y="2700814"/>
            <a:ext cx="13042821" cy="22860"/>
          </a:xfrm>
          <a:prstGeom prst="roundRect">
            <a:avLst>
              <a:gd name="adj" fmla="val 104186"/>
            </a:avLst>
          </a:prstGeom>
          <a:solidFill>
            <a:srgbClr val="D6D3CC"/>
          </a:solidFill>
          <a:ln/>
        </p:spPr>
      </p:sp>
      <p:sp>
        <p:nvSpPr>
          <p:cNvPr id="4" name="Shape 2"/>
          <p:cNvSpPr/>
          <p:nvPr/>
        </p:nvSpPr>
        <p:spPr>
          <a:xfrm>
            <a:off x="793790" y="1786057"/>
            <a:ext cx="3111937" cy="914757"/>
          </a:xfrm>
          <a:prstGeom prst="roundRect">
            <a:avLst>
              <a:gd name="adj" fmla="val 2604"/>
            </a:avLst>
          </a:prstGeom>
          <a:solidFill>
            <a:srgbClr val="F0EDE6"/>
          </a:solidFill>
          <a:ln/>
        </p:spPr>
      </p:sp>
      <p:sp>
        <p:nvSpPr>
          <p:cNvPr id="5" name="Text 3"/>
          <p:cNvSpPr/>
          <p:nvPr/>
        </p:nvSpPr>
        <p:spPr>
          <a:xfrm>
            <a:off x="1357432" y="1944767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執行所有測試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952500" y="2288024"/>
            <a:ext cx="2794516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npx playwright test tests/api/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104084" y="2723674"/>
            <a:ext cx="3111937" cy="914757"/>
          </a:xfrm>
          <a:prstGeom prst="rect">
            <a:avLst/>
          </a:prstGeom>
          <a:solidFill>
            <a:srgbClr val="F0EDE6"/>
          </a:solidFill>
          <a:ln/>
        </p:spPr>
      </p:sp>
      <p:sp>
        <p:nvSpPr>
          <p:cNvPr id="8" name="Text 6"/>
          <p:cNvSpPr/>
          <p:nvPr/>
        </p:nvSpPr>
        <p:spPr>
          <a:xfrm>
            <a:off x="4667726" y="2882384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單一案例執行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4262795" y="3225641"/>
            <a:ext cx="2794516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npx playwright test TC-001.spec.ts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414379" y="1786057"/>
            <a:ext cx="3111937" cy="914757"/>
          </a:xfrm>
          <a:prstGeom prst="roundRect">
            <a:avLst>
              <a:gd name="adj" fmla="val 2604"/>
            </a:avLst>
          </a:prstGeom>
          <a:solidFill>
            <a:srgbClr val="F0EDE6"/>
          </a:solidFill>
          <a:ln/>
        </p:spPr>
      </p:sp>
      <p:sp>
        <p:nvSpPr>
          <p:cNvPr id="11" name="Text 9"/>
          <p:cNvSpPr/>
          <p:nvPr/>
        </p:nvSpPr>
        <p:spPr>
          <a:xfrm>
            <a:off x="7978021" y="1944767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產生 HTML 報告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7573089" y="2288024"/>
            <a:ext cx="2794516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npx playwright test --reporter=html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10724674" y="2723674"/>
            <a:ext cx="3111937" cy="914757"/>
          </a:xfrm>
          <a:prstGeom prst="rect">
            <a:avLst/>
          </a:prstGeom>
          <a:solidFill>
            <a:srgbClr val="F0EDE6"/>
          </a:solidFill>
          <a:ln/>
        </p:spPr>
      </p:sp>
      <p:sp>
        <p:nvSpPr>
          <p:cNvPr id="14" name="Text 12"/>
          <p:cNvSpPr/>
          <p:nvPr/>
        </p:nvSpPr>
        <p:spPr>
          <a:xfrm>
            <a:off x="11288316" y="2882384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Debug 模式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10883384" y="3225641"/>
            <a:ext cx="2794516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npx playwright test --debug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93790" y="3853696"/>
            <a:ext cx="2381607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測試覆蓋率目標</a:t>
            </a:r>
            <a:endParaRPr lang="en-US" sz="1850" dirty="0"/>
          </a:p>
        </p:txBody>
      </p:sp>
      <p:sp>
        <p:nvSpPr>
          <p:cNvPr id="17" name="Text 15"/>
          <p:cNvSpPr/>
          <p:nvPr/>
        </p:nvSpPr>
        <p:spPr>
          <a:xfrm>
            <a:off x="1924883" y="5421392"/>
            <a:ext cx="1952863" cy="396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100"/>
              </a:lnSpc>
              <a:buNone/>
            </a:pPr>
            <a:r>
              <a:rPr lang="en-US" sz="31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100%</a:t>
            </a:r>
            <a:endParaRPr lang="en-US" sz="31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0571" y="4429125"/>
            <a:ext cx="2381607" cy="2381607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909048" y="7009090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API 端點覆蓋率</a:t>
            </a:r>
            <a:endParaRPr lang="en-US" sz="1550" dirty="0"/>
          </a:p>
        </p:txBody>
      </p:sp>
      <p:sp>
        <p:nvSpPr>
          <p:cNvPr id="20" name="Text 17"/>
          <p:cNvSpPr/>
          <p:nvPr/>
        </p:nvSpPr>
        <p:spPr>
          <a:xfrm>
            <a:off x="6338649" y="5421392"/>
            <a:ext cx="1952863" cy="396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100"/>
              </a:lnSpc>
              <a:buNone/>
            </a:pPr>
            <a:r>
              <a:rPr lang="en-US" sz="31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100%</a:t>
            </a:r>
            <a:endParaRPr lang="en-US" sz="3100" dirty="0"/>
          </a:p>
        </p:txBody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4337" y="4429125"/>
            <a:ext cx="2381607" cy="2381607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6322814" y="7009090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正常流程測試</a:t>
            </a:r>
            <a:endParaRPr lang="en-US" sz="1550" dirty="0"/>
          </a:p>
        </p:txBody>
      </p:sp>
      <p:sp>
        <p:nvSpPr>
          <p:cNvPr id="23" name="Text 19"/>
          <p:cNvSpPr/>
          <p:nvPr/>
        </p:nvSpPr>
        <p:spPr>
          <a:xfrm>
            <a:off x="10752296" y="5421392"/>
            <a:ext cx="1952863" cy="396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100"/>
              </a:lnSpc>
              <a:buNone/>
            </a:pPr>
            <a:r>
              <a:rPr lang="en-US" sz="31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80%</a:t>
            </a:r>
            <a:endParaRPr lang="en-US" sz="3100" dirty="0"/>
          </a:p>
        </p:txBody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37984" y="4429125"/>
            <a:ext cx="2381607" cy="2381607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0736461" y="7009090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錯誤處理測試</a:t>
            </a:r>
            <a:endParaRPr lang="en-US" sz="15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124426"/>
            <a:ext cx="5103614" cy="637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000"/>
              </a:lnSpc>
              <a:buNone/>
            </a:pPr>
            <a:r>
              <a:rPr lang="en-US" sz="40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安全性測試要點</a:t>
            </a:r>
            <a:endParaRPr lang="en-US" sz="4000" dirty="0"/>
          </a:p>
        </p:txBody>
      </p:sp>
      <p:sp>
        <p:nvSpPr>
          <p:cNvPr id="4" name="Shape 1"/>
          <p:cNvSpPr/>
          <p:nvPr/>
        </p:nvSpPr>
        <p:spPr>
          <a:xfrm>
            <a:off x="6280190" y="2068473"/>
            <a:ext cx="3676174" cy="2416254"/>
          </a:xfrm>
          <a:prstGeom prst="roundRect">
            <a:avLst>
              <a:gd name="adj" fmla="val 4541"/>
            </a:avLst>
          </a:prstGeom>
          <a:solidFill>
            <a:srgbClr val="FCFBF8"/>
          </a:solidFill>
          <a:ln w="22860">
            <a:solidFill>
              <a:srgbClr val="D6D3CC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257330" y="2068473"/>
            <a:ext cx="91440" cy="2416254"/>
          </a:xfrm>
          <a:prstGeom prst="roundRect">
            <a:avLst>
              <a:gd name="adj" fmla="val 33488"/>
            </a:avLst>
          </a:prstGeom>
          <a:solidFill>
            <a:srgbClr val="1B5F39"/>
          </a:solidFill>
          <a:ln/>
        </p:spPr>
      </p:sp>
      <p:sp>
        <p:nvSpPr>
          <p:cNvPr id="6" name="Text 3"/>
          <p:cNvSpPr/>
          <p:nvPr/>
        </p:nvSpPr>
        <p:spPr>
          <a:xfrm>
            <a:off x="6575703" y="2295406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Token 管理安全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6575703" y="2736652"/>
            <a:ext cx="3153728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使用環境變數儲存敏感 Token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575703" y="3134797"/>
            <a:ext cx="3153728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定期更新與輪換測試用 Token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575703" y="3532942"/>
            <a:ext cx="3153728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實作 Token 自動刷新機制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575703" y="3931087"/>
            <a:ext cx="3153728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避免 Token 硬編碼在程式碼中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10160437" y="2068473"/>
            <a:ext cx="3676174" cy="2416254"/>
          </a:xfrm>
          <a:prstGeom prst="roundRect">
            <a:avLst>
              <a:gd name="adj" fmla="val 4541"/>
            </a:avLst>
          </a:prstGeom>
          <a:solidFill>
            <a:srgbClr val="FCFBF8"/>
          </a:solidFill>
          <a:ln w="22860">
            <a:solidFill>
              <a:srgbClr val="D6D3C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0137577" y="2068473"/>
            <a:ext cx="91440" cy="2416254"/>
          </a:xfrm>
          <a:prstGeom prst="roundRect">
            <a:avLst>
              <a:gd name="adj" fmla="val 33488"/>
            </a:avLst>
          </a:prstGeom>
          <a:solidFill>
            <a:srgbClr val="1B5F39"/>
          </a:solidFill>
          <a:ln/>
        </p:spPr>
      </p:sp>
      <p:sp>
        <p:nvSpPr>
          <p:cNvPr id="13" name="Text 10"/>
          <p:cNvSpPr/>
          <p:nvPr/>
        </p:nvSpPr>
        <p:spPr>
          <a:xfrm>
            <a:off x="10455950" y="2295406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OTP 安全機制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10455950" y="2736652"/>
            <a:ext cx="3153728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驗證碼 5 分鐘有效期限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0455950" y="3134797"/>
            <a:ext cx="3153728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單次使用後立即失效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0455950" y="3532942"/>
            <a:ext cx="3153728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連續錯誤 5 次自動鎖定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0455950" y="3931087"/>
            <a:ext cx="3153728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60 秒內限制重複發送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6280190" y="4688800"/>
            <a:ext cx="3676174" cy="2416254"/>
          </a:xfrm>
          <a:prstGeom prst="roundRect">
            <a:avLst>
              <a:gd name="adj" fmla="val 4541"/>
            </a:avLst>
          </a:prstGeom>
          <a:solidFill>
            <a:srgbClr val="FCFBF8"/>
          </a:solidFill>
          <a:ln w="22860">
            <a:solidFill>
              <a:srgbClr val="D6D3CC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257330" y="4688800"/>
            <a:ext cx="91440" cy="2416254"/>
          </a:xfrm>
          <a:prstGeom prst="roundRect">
            <a:avLst>
              <a:gd name="adj" fmla="val 33488"/>
            </a:avLst>
          </a:prstGeom>
          <a:solidFill>
            <a:srgbClr val="1B5F39"/>
          </a:solidFill>
          <a:ln/>
        </p:spPr>
      </p:sp>
      <p:sp>
        <p:nvSpPr>
          <p:cNvPr id="20" name="Text 17"/>
          <p:cNvSpPr/>
          <p:nvPr/>
        </p:nvSpPr>
        <p:spPr>
          <a:xfrm>
            <a:off x="6575703" y="4915733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JWT 防護措施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6575703" y="5356979"/>
            <a:ext cx="3153728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Token 有效期限 5 分鐘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6575703" y="5755124"/>
            <a:ext cx="3153728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防止重放攻擊(jti 欄位)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6575703" y="6153269"/>
            <a:ext cx="3153728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數位簽章驗證完整性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6575703" y="6551414"/>
            <a:ext cx="3153728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使用後立即銷毀 Token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87003"/>
            <a:ext cx="4252913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150"/>
              </a:lnSpc>
              <a:buNone/>
            </a:pPr>
            <a:r>
              <a:rPr lang="en-US" sz="33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CI/CD 整合建議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793790" y="1658779"/>
            <a:ext cx="680442" cy="1020723"/>
          </a:xfrm>
          <a:prstGeom prst="roundRect">
            <a:avLst>
              <a:gd name="adj" fmla="val 360022"/>
            </a:avLst>
          </a:prstGeom>
          <a:solidFill>
            <a:srgbClr val="F0EDE6"/>
          </a:solidFill>
          <a:ln/>
        </p:spPr>
      </p:sp>
      <p:sp>
        <p:nvSpPr>
          <p:cNvPr id="4" name="Text 2"/>
          <p:cNvSpPr/>
          <p:nvPr/>
        </p:nvSpPr>
        <p:spPr>
          <a:xfrm>
            <a:off x="1006435" y="2009656"/>
            <a:ext cx="255151" cy="318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20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644253" y="1828800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整合到 Pipeline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644253" y="2196584"/>
            <a:ext cx="12192357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將 API 測試納入持續整合流程,每次部署前自動執行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93790" y="2849523"/>
            <a:ext cx="680442" cy="1020723"/>
          </a:xfrm>
          <a:prstGeom prst="roundRect">
            <a:avLst>
              <a:gd name="adj" fmla="val 360022"/>
            </a:avLst>
          </a:prstGeom>
          <a:solidFill>
            <a:srgbClr val="F0EDE6"/>
          </a:solidFill>
          <a:ln/>
        </p:spPr>
      </p:sp>
      <p:sp>
        <p:nvSpPr>
          <p:cNvPr id="8" name="Text 6"/>
          <p:cNvSpPr/>
          <p:nvPr/>
        </p:nvSpPr>
        <p:spPr>
          <a:xfrm>
            <a:off x="1006435" y="3200400"/>
            <a:ext cx="255151" cy="318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20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644253" y="3019544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定期排程執行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1644253" y="3387328"/>
            <a:ext cx="12192357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設定每日或每次程式碼提交時自動觸發測試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93790" y="4040267"/>
            <a:ext cx="680442" cy="1020723"/>
          </a:xfrm>
          <a:prstGeom prst="roundRect">
            <a:avLst>
              <a:gd name="adj" fmla="val 360022"/>
            </a:avLst>
          </a:prstGeom>
          <a:solidFill>
            <a:srgbClr val="F0EDE6"/>
          </a:solidFill>
          <a:ln/>
        </p:spPr>
      </p:sp>
      <p:sp>
        <p:nvSpPr>
          <p:cNvPr id="12" name="Text 10"/>
          <p:cNvSpPr/>
          <p:nvPr/>
        </p:nvSpPr>
        <p:spPr>
          <a:xfrm>
            <a:off x="1006435" y="4391144"/>
            <a:ext cx="255151" cy="318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20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644253" y="4210288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自動報告產生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1644253" y="4578072"/>
            <a:ext cx="12192357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測試完成後自動產生 HTML 報告並上傳到檔案伺服器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93790" y="5231011"/>
            <a:ext cx="680442" cy="1020723"/>
          </a:xfrm>
          <a:prstGeom prst="roundRect">
            <a:avLst>
              <a:gd name="adj" fmla="val 360022"/>
            </a:avLst>
          </a:prstGeom>
          <a:solidFill>
            <a:srgbClr val="F0EDE6"/>
          </a:solidFill>
          <a:ln/>
        </p:spPr>
      </p:sp>
      <p:sp>
        <p:nvSpPr>
          <p:cNvPr id="16" name="Text 14"/>
          <p:cNvSpPr/>
          <p:nvPr/>
        </p:nvSpPr>
        <p:spPr>
          <a:xfrm>
            <a:off x="1006435" y="5581888"/>
            <a:ext cx="255151" cy="318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20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4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644253" y="5401032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失敗通知機制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1644253" y="5768816"/>
            <a:ext cx="12192357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測試失敗時透過 Slack、Email 或 Teams 通知團隊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3790" y="6421755"/>
            <a:ext cx="680442" cy="1020723"/>
          </a:xfrm>
          <a:prstGeom prst="roundRect">
            <a:avLst>
              <a:gd name="adj" fmla="val 360022"/>
            </a:avLst>
          </a:prstGeom>
          <a:solidFill>
            <a:srgbClr val="F0EDE6"/>
          </a:solidFill>
          <a:ln/>
        </p:spPr>
      </p:sp>
      <p:sp>
        <p:nvSpPr>
          <p:cNvPr id="20" name="Text 18"/>
          <p:cNvSpPr/>
          <p:nvPr/>
        </p:nvSpPr>
        <p:spPr>
          <a:xfrm>
            <a:off x="1006435" y="6772632"/>
            <a:ext cx="255151" cy="318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20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5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644253" y="6591776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效能監控整合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1644253" y="6959560"/>
            <a:ext cx="12192357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記錄 API 回應時間,設定閾值警告機制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1038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常見問題排查指南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486144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購物車問題</a:t>
            </a:r>
            <a:endParaRPr lang="en-US" sz="2650" dirty="0"/>
          </a:p>
        </p:txBody>
      </p:sp>
      <p:sp>
        <p:nvSpPr>
          <p:cNvPr id="4" name="Shape 2"/>
          <p:cNvSpPr/>
          <p:nvPr/>
        </p:nvSpPr>
        <p:spPr>
          <a:xfrm>
            <a:off x="793790" y="3166586"/>
            <a:ext cx="6244709" cy="1685330"/>
          </a:xfrm>
          <a:prstGeom prst="roundRect">
            <a:avLst>
              <a:gd name="adj" fmla="val 2019"/>
            </a:avLst>
          </a:prstGeom>
          <a:solidFill>
            <a:srgbClr val="FCFBF8"/>
          </a:solidFill>
          <a:ln w="30480">
            <a:solidFill>
              <a:srgbClr val="D6D3CC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8181" y="3060978"/>
            <a:ext cx="272177" cy="272177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1930" y="4685348"/>
            <a:ext cx="272177" cy="27217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64431" y="353722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Q:Token 一直回傳 401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1164431" y="4118372"/>
            <a:ext cx="550342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確認 Token 未過期、格式完整且與環境匹配</a:t>
            </a:r>
            <a:endParaRPr lang="en-US" sz="1750" dirty="0"/>
          </a:p>
        </p:txBody>
      </p:sp>
      <p:sp>
        <p:nvSpPr>
          <p:cNvPr id="9" name="Shape 5"/>
          <p:cNvSpPr/>
          <p:nvPr/>
        </p:nvSpPr>
        <p:spPr>
          <a:xfrm>
            <a:off x="793790" y="5078730"/>
            <a:ext cx="6244709" cy="1685330"/>
          </a:xfrm>
          <a:prstGeom prst="roundRect">
            <a:avLst>
              <a:gd name="adj" fmla="val 2019"/>
            </a:avLst>
          </a:prstGeom>
          <a:solidFill>
            <a:srgbClr val="FCFBF8"/>
          </a:solidFill>
          <a:ln w="30480">
            <a:solidFill>
              <a:srgbClr val="D6D3CC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181" y="4973122"/>
            <a:ext cx="272177" cy="272177"/>
          </a:xfrm>
          <a:prstGeom prst="rect">
            <a:avLst/>
          </a:prstGeom>
        </p:spPr>
      </p:pic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1930" y="6597491"/>
            <a:ext cx="272177" cy="272177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164431" y="544937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Q:金額計算錯誤</a:t>
            </a:r>
            <a:endParaRPr lang="en-US" sz="2200" dirty="0"/>
          </a:p>
        </p:txBody>
      </p:sp>
      <p:sp>
        <p:nvSpPr>
          <p:cNvPr id="13" name="Text 7"/>
          <p:cNvSpPr/>
          <p:nvPr/>
        </p:nvSpPr>
        <p:spPr>
          <a:xfrm>
            <a:off x="1164431" y="6030516"/>
            <a:ext cx="550342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檢查 SKU、數量、優惠券與配送方式是否正確</a:t>
            </a:r>
            <a:endParaRPr lang="en-US" sz="1750" dirty="0"/>
          </a:p>
        </p:txBody>
      </p:sp>
      <p:sp>
        <p:nvSpPr>
          <p:cNvPr id="14" name="Text 8"/>
          <p:cNvSpPr/>
          <p:nvPr/>
        </p:nvSpPr>
        <p:spPr>
          <a:xfrm>
            <a:off x="7599521" y="2486144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登入問題</a:t>
            </a:r>
            <a:endParaRPr lang="en-US" sz="2650" dirty="0"/>
          </a:p>
        </p:txBody>
      </p:sp>
      <p:sp>
        <p:nvSpPr>
          <p:cNvPr id="15" name="Shape 9"/>
          <p:cNvSpPr/>
          <p:nvPr/>
        </p:nvSpPr>
        <p:spPr>
          <a:xfrm>
            <a:off x="7599521" y="3166586"/>
            <a:ext cx="6244709" cy="1685330"/>
          </a:xfrm>
          <a:prstGeom prst="roundRect">
            <a:avLst>
              <a:gd name="adj" fmla="val 2019"/>
            </a:avLst>
          </a:prstGeom>
          <a:solidFill>
            <a:srgbClr val="FCFBF8"/>
          </a:solidFill>
          <a:ln w="30480">
            <a:solidFill>
              <a:srgbClr val="D6D3CC"/>
            </a:solidFill>
            <a:prstDash val="solid"/>
          </a:ln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913" y="3060978"/>
            <a:ext cx="272177" cy="272177"/>
          </a:xfrm>
          <a:prstGeom prst="rect">
            <a:avLst/>
          </a:prstGeom>
        </p:spPr>
      </p:pic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677662" y="4685348"/>
            <a:ext cx="272177" cy="272177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7970163" y="353722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Q:OTP 收不到</a:t>
            </a:r>
            <a:endParaRPr lang="en-US" sz="2200" dirty="0"/>
          </a:p>
        </p:txBody>
      </p:sp>
      <p:sp>
        <p:nvSpPr>
          <p:cNvPr id="19" name="Text 11"/>
          <p:cNvSpPr/>
          <p:nvPr/>
        </p:nvSpPr>
        <p:spPr>
          <a:xfrm>
            <a:off x="7970163" y="4118372"/>
            <a:ext cx="550342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確認手機號碼含國碼,檢查是否觸發 rate limit</a:t>
            </a:r>
            <a:endParaRPr lang="en-US" sz="1750" dirty="0"/>
          </a:p>
        </p:txBody>
      </p:sp>
      <p:sp>
        <p:nvSpPr>
          <p:cNvPr id="20" name="Shape 12"/>
          <p:cNvSpPr/>
          <p:nvPr/>
        </p:nvSpPr>
        <p:spPr>
          <a:xfrm>
            <a:off x="7599521" y="5078730"/>
            <a:ext cx="6244709" cy="1685330"/>
          </a:xfrm>
          <a:prstGeom prst="roundRect">
            <a:avLst>
              <a:gd name="adj" fmla="val 2019"/>
            </a:avLst>
          </a:prstGeom>
          <a:solidFill>
            <a:srgbClr val="FCFBF8"/>
          </a:solidFill>
          <a:ln w="30480">
            <a:solidFill>
              <a:srgbClr val="D6D3CC"/>
            </a:solidFill>
            <a:prstDash val="solid"/>
          </a:ln>
        </p:spPr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3913" y="4973122"/>
            <a:ext cx="272177" cy="272177"/>
          </a:xfrm>
          <a:prstGeom prst="rect">
            <a:avLst/>
          </a:prstGeom>
        </p:spPr>
      </p:pic>
      <p:pic>
        <p:nvPicPr>
          <p:cNvPr id="2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677662" y="6597491"/>
            <a:ext cx="272177" cy="272177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7970163" y="544937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Q:JWT 登入失敗</a:t>
            </a:r>
            <a:endParaRPr lang="en-US" sz="2200" dirty="0"/>
          </a:p>
        </p:txBody>
      </p:sp>
      <p:sp>
        <p:nvSpPr>
          <p:cNvPr id="24" name="Text 14"/>
          <p:cNvSpPr/>
          <p:nvPr/>
        </p:nvSpPr>
        <p:spPr>
          <a:xfrm>
            <a:off x="7970163" y="6030516"/>
            <a:ext cx="550342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Token 可能已過期或被使用過,需重新取得</a:t>
            </a:r>
            <a:endParaRPr lang="en-US" sz="17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5110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最佳實踐總結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2197418" y="263425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測試隔離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124676"/>
            <a:ext cx="423886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每個測試獨立執行,避免依賴關係</a:t>
            </a:r>
            <a:endParaRPr lang="en-US" sz="17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67845" y="3518416"/>
            <a:ext cx="318968" cy="31896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597628" y="263425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資料管理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9597628" y="3124676"/>
            <a:ext cx="423898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使用 Fixtures 統一管理測試資料</a:t>
            </a:r>
            <a:endParaRPr lang="en-US" sz="17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743230" y="3518416"/>
            <a:ext cx="318968" cy="31896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0051256" y="426922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安全防護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10051256" y="4759643"/>
            <a:ext cx="378535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Token 與敏感資訊透過環境變數管理</a:t>
            </a:r>
            <a:endParaRPr lang="en-US" sz="17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331041" y="4536400"/>
            <a:ext cx="318968" cy="318968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9597628" y="590430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效能監控</a:t>
            </a:r>
            <a:endParaRPr lang="en-US" sz="2200" dirty="0"/>
          </a:p>
        </p:txBody>
      </p:sp>
      <p:sp>
        <p:nvSpPr>
          <p:cNvPr id="16" name="Text 8"/>
          <p:cNvSpPr/>
          <p:nvPr/>
        </p:nvSpPr>
        <p:spPr>
          <a:xfrm>
            <a:off x="9597628" y="6394728"/>
            <a:ext cx="423898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記錄 API 回應時間,設定警告閾值</a:t>
            </a:r>
            <a:endParaRPr lang="en-US" sz="1750" dirty="0"/>
          </a:p>
        </p:txBody>
      </p:sp>
      <p:pic>
        <p:nvPicPr>
          <p:cNvPr id="17" name="Image 6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pic>
        <p:nvPicPr>
          <p:cNvPr id="18" name="Image 7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743230" y="5554385"/>
            <a:ext cx="318968" cy="318968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2197418" y="590430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文件維護</a:t>
            </a:r>
            <a:endParaRPr lang="en-US" sz="2200" dirty="0"/>
          </a:p>
        </p:txBody>
      </p:sp>
      <p:sp>
        <p:nvSpPr>
          <p:cNvPr id="20" name="Text 10"/>
          <p:cNvSpPr/>
          <p:nvPr/>
        </p:nvSpPr>
        <p:spPr>
          <a:xfrm>
            <a:off x="793790" y="6394728"/>
            <a:ext cx="423886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保持測試文件與 API 規格同步更新</a:t>
            </a:r>
            <a:endParaRPr lang="en-US" sz="1750" dirty="0"/>
          </a:p>
        </p:txBody>
      </p:sp>
      <p:pic>
        <p:nvPicPr>
          <p:cNvPr id="21" name="Image 8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pic>
        <p:nvPicPr>
          <p:cNvPr id="22" name="Image 9" descr="preencoded.png">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567845" y="5554385"/>
            <a:ext cx="318968" cy="318968"/>
          </a:xfrm>
          <a:prstGeom prst="rect">
            <a:avLst/>
          </a:prstGeom>
        </p:spPr>
      </p:pic>
      <p:sp>
        <p:nvSpPr>
          <p:cNvPr id="23" name="Text 11"/>
          <p:cNvSpPr/>
          <p:nvPr/>
        </p:nvSpPr>
        <p:spPr>
          <a:xfrm>
            <a:off x="1743789" y="426922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錯誤處理</a:t>
            </a:r>
            <a:endParaRPr lang="en-US" sz="2200" dirty="0"/>
          </a:p>
        </p:txBody>
      </p:sp>
      <p:sp>
        <p:nvSpPr>
          <p:cNvPr id="24" name="Text 12"/>
          <p:cNvSpPr/>
          <p:nvPr/>
        </p:nvSpPr>
        <p:spPr>
          <a:xfrm>
            <a:off x="793790" y="4759643"/>
            <a:ext cx="37852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涵蓋各種異常場景與邊界條件測試</a:t>
            </a:r>
            <a:endParaRPr lang="en-US" sz="1750" dirty="0"/>
          </a:p>
        </p:txBody>
      </p:sp>
      <p:pic>
        <p:nvPicPr>
          <p:cNvPr id="25" name="Image 10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pic>
        <p:nvPicPr>
          <p:cNvPr id="26" name="Image 11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980033" y="4536400"/>
            <a:ext cx="318968" cy="318968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87003"/>
            <a:ext cx="4252913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150"/>
              </a:lnSpc>
              <a:buNone/>
            </a:pPr>
            <a:r>
              <a:rPr lang="en-US" sz="33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下一步行動建議</a:t>
            </a:r>
            <a:endParaRPr lang="en-US" sz="33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1658779"/>
            <a:ext cx="510302" cy="1143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74113" y="1828800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建立測試環境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1474113" y="2196584"/>
            <a:ext cx="12362498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設定 Postman 或 Playwright 環境,準備測試用 Token 與帳號</a:t>
            </a:r>
            <a:endParaRPr lang="en-US" sz="13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941" y="2849523"/>
            <a:ext cx="510302" cy="11430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729264" y="3019544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執行手動測試</a:t>
            </a:r>
            <a:endParaRPr lang="en-US" sz="1650" dirty="0"/>
          </a:p>
        </p:txBody>
      </p:sp>
      <p:sp>
        <p:nvSpPr>
          <p:cNvPr id="8" name="Text 4"/>
          <p:cNvSpPr/>
          <p:nvPr/>
        </p:nvSpPr>
        <p:spPr>
          <a:xfrm>
            <a:off x="1729264" y="3387328"/>
            <a:ext cx="12107347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依照文件逐步執行 API 測試,驗證所有端點功能正常</a:t>
            </a:r>
            <a:endParaRPr lang="en-US" sz="13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4092" y="4040267"/>
            <a:ext cx="510302" cy="11430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984415" y="4210288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開發自動化案例</a:t>
            </a:r>
            <a:endParaRPr lang="en-US" sz="1650" dirty="0"/>
          </a:p>
        </p:txBody>
      </p:sp>
      <p:sp>
        <p:nvSpPr>
          <p:cNvPr id="11" name="Text 6"/>
          <p:cNvSpPr/>
          <p:nvPr/>
        </p:nvSpPr>
        <p:spPr>
          <a:xfrm>
            <a:off x="1984415" y="4578072"/>
            <a:ext cx="11852196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撰寫 Playwright 測試腳本,實現測試自動化執行</a:t>
            </a:r>
            <a:endParaRPr lang="en-US" sz="13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9243" y="5231011"/>
            <a:ext cx="510302" cy="11430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2239566" y="5401032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整合 CI/CD</a:t>
            </a:r>
            <a:endParaRPr lang="en-US" sz="1650" dirty="0"/>
          </a:p>
        </p:txBody>
      </p:sp>
      <p:sp>
        <p:nvSpPr>
          <p:cNvPr id="14" name="Text 8"/>
          <p:cNvSpPr/>
          <p:nvPr/>
        </p:nvSpPr>
        <p:spPr>
          <a:xfrm>
            <a:off x="2239566" y="5768816"/>
            <a:ext cx="11597045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將測試納入持續整合流程,建立自動化測試與通知機制</a:t>
            </a:r>
            <a:endParaRPr lang="en-US" sz="13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04092" y="6421755"/>
            <a:ext cx="510302" cy="114300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984415" y="6591776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持續優化</a:t>
            </a:r>
            <a:endParaRPr lang="en-US" sz="1650" dirty="0"/>
          </a:p>
        </p:txBody>
      </p:sp>
      <p:sp>
        <p:nvSpPr>
          <p:cNvPr id="17" name="Text 10"/>
          <p:cNvSpPr/>
          <p:nvPr/>
        </p:nvSpPr>
        <p:spPr>
          <a:xfrm>
            <a:off x="1984415" y="6959560"/>
            <a:ext cx="11852196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定期檢視測試覆蓋率,擴充測試案例並優化執行效率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2025-10-29T01:22:55Z</dcterms:created>
  <dcterms:modified xsi:type="dcterms:W3CDTF">2025-10-29T01:22:55Z</dcterms:modified>
</cp:coreProperties>
</file>